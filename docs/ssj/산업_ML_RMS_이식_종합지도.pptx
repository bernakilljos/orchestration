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산업 ML → RMS 이식 종합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7899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  <a:latin typeface="맑은 고딕"/>
              </a:rPr>
              <a:t>Industry ML Transfer to Risk Monitoring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FFC107"/>
                </a:solidFill>
                <a:latin typeface="맑은 고딕"/>
              </a:rPr>
              <a:t>16 산업 · 14 AI 기술 카테고리 · 40+ 접목 아이디어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아이티센 코어 ESG 사업부  · 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이 문서에 담긴 것 (누락 없이)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28016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2801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371600"/>
            <a:ext cx="9601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141A2E"/>
                </a:solidFill>
                <a:latin typeface="맑은 고딕"/>
              </a:rPr>
              <a:t>전체 프레임 · Bible × 산업 × 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28016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2801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PART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65960"/>
            <a:ext cx="9601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141A2E"/>
                </a:solidFill>
                <a:latin typeface="맑은 고딕"/>
              </a:rPr>
              <a:t>16 산업별 ML → RMS 매핑 (자율주행·해양·항공·위성·게임·의료·반도체·농업·물류·통신·광고·스포츠·바이오·방위·에너지·Physical AI)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128016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2801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PART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560320"/>
            <a:ext cx="9601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141A2E"/>
                </a:solidFill>
                <a:latin typeface="맑은 고딕"/>
              </a:rPr>
              <a:t>14 AI 기술 카테고리 (두뇌·기억·에이전트·이상탐지·시계열·그래프·비전·프라이버시·최적화·시뮬·감사·학습·생성·크로스도메인)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128016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12801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PART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154680"/>
            <a:ext cx="9601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141A2E"/>
                </a:solidFill>
                <a:latin typeface="맑은 고딕"/>
              </a:rPr>
              <a:t>종합 Killer 19개 · X (안 어울림) 리스트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49040"/>
            <a:ext cx="128016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49040"/>
            <a:ext cx="12801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PART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749040"/>
            <a:ext cx="9601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141A2E"/>
                </a:solidFill>
                <a:latin typeface="맑은 고딕"/>
              </a:rPr>
              <a:t>Phase 로드맵 (0~24개월)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43400"/>
            <a:ext cx="128016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12801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PART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343400"/>
            <a:ext cx="9601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141A2E"/>
                </a:solidFill>
                <a:latin typeface="맑은 고딕"/>
              </a:rPr>
              <a:t>KPMG 대응 전략 · 시장 분리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37760"/>
            <a:ext cx="128016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2801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PART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937760"/>
            <a:ext cx="9601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141A2E"/>
                </a:solidFill>
                <a:latin typeface="맑은 고딕"/>
              </a:rPr>
              <a:t>AI ISMS-P Copilot (사용자 개인 강점)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32120"/>
            <a:ext cx="128016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32120"/>
            <a:ext cx="12801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PART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532120"/>
            <a:ext cx="96012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141A2E"/>
                </a:solidFill>
                <a:latin typeface="맑은 고딕"/>
              </a:rPr>
              <a:t>Bible 13 organs 매핑 · 다음 액션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8 로 마무리 · 총 40+ 슬라이드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PART 1 · 전체 프레임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Bible 13 organs × 산업 ML × RMS 접목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B4E"/>
                </a:solidFill>
                <a:latin typeface="맑은 고딕"/>
              </a:rPr>
              <a:t>🧠 Bible 13 organs (AI 진화 지도)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뇌 Brain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추론·판단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69164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69164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기억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장기 이력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169164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69164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생성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19" y="169164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답 만듦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9456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연결 Connectivity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19456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관계망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19456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219456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지각 Perception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19456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보고 듣기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219456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219456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추론 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19" y="219456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생각 시간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9748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69748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에너지 Energy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69748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GPU 비용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269748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269748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신뢰 Trust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269748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증명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59" y="269748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269748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행위 Agency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19" y="269748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자율 실행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20040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20040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체화 Embodiment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20040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물리 세계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320040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320040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시뮬 Simulation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320040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미래 예측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59" y="320040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59" y="320040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AI 문명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19" y="320040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AI 협업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703320"/>
            <a:ext cx="1874519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703320"/>
            <a:ext cx="8229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1A2B4E"/>
                </a:solidFill>
                <a:latin typeface="맑은 고딕"/>
              </a:rPr>
              <a:t>진화 Evolution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3703320"/>
            <a:ext cx="105156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맑은 고딕"/>
              </a:rPr>
              <a:t>자기학습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1280160"/>
            <a:ext cx="53035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B4E"/>
                </a:solidFill>
                <a:latin typeface="맑은 고딕"/>
              </a:rPr>
              <a:t>🌍 산업 ML → RMS 접목 원리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1691640"/>
            <a:ext cx="53035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1691640"/>
            <a:ext cx="5303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① 다른 산업의 ML 은 이미 성숙 · 우리는 이식만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2194560"/>
            <a:ext cx="53035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2194560"/>
            <a:ext cx="5303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② 산업 기술의 mechanism 을 RMS 데이터에 매핑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2697480"/>
            <a:ext cx="53035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2697480"/>
            <a:ext cx="5303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③ 물리 센서 X · 논리·행동·거래 데이터 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3200400"/>
            <a:ext cx="53035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3200400"/>
            <a:ext cx="5303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④ Bible 13 organs 중 미사용 organ 채우기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3703320"/>
            <a:ext cx="53035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3703320"/>
            <a:ext cx="5303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⑤ 5살 톤 · 비유 · O/X 명확 · 접목 essay 금지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4206240"/>
            <a:ext cx="53035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4206240"/>
            <a:ext cx="5303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⑥ 한 산업만 X · 여러 산업 breadth · spark 오면 depth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577840"/>
            <a:ext cx="11430000" cy="82296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577840"/>
            <a:ext cx="11430000" cy="8229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결론 · Bible × 산업 = 씨앗 무한 생성. RMS 는 지각·행위·신뢰 3 organ 만 사용 → 10 organ 미개척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1 · 3/40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🚗  자율주행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Autonomous Driving  ·  기술 10개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457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457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457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Edge Case Detection
  ↳ 훈련 안 한 이상한 상황 감지 (야생동물 튀어나옴)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7373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737360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373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처음 보는 결재 패턴 자동 flag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94560"/>
            <a:ext cx="41148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945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GAN Synthetic Data
  ↳ 가짜 훈련 데이터 만드는 화가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1945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194560"/>
            <a:ext cx="60350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1945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사례 소수 → 대량 가짜 부정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5176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517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Sensor Fusion
  ↳ 눈+귀+코 다 써서 판단 (LiDAR+Camera+RADAR)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6517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6517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2651760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26517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ERP+이메일+CCTV 합쳐서 판단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Facial Expression AI
  ↳ 운전자 졸음·피로 얼굴로 감지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1089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1089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108960"/>
            <a:ext cx="60350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31089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임원 회의 스트레스·압박 감지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56616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5661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V2X (차량 통신)
  ↳ 차끼리 위험 정보 실시간 공유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5661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5661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3566160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35661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회사 간 부정 정보 공유 (컨소시엄)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23360"/>
            <a:ext cx="41148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0233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Path Planning
  ↳ 목적지까지 경로 계획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0233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40233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4023360"/>
            <a:ext cx="60350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40233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감사 조사 경로 계획 각도로 가능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48056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4805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LiDAR (3D 스캔)
  ↳ 레이저로 3D 지도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44805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44805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4480560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0" y="44805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RMS 는 물리 스캔 안 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937760"/>
            <a:ext cx="41148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9377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HD Map
  ↳ cm 단위 도로 지도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49377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49377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4937760"/>
            <a:ext cx="60350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0" y="49377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지도 필요 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394960"/>
            <a:ext cx="4114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3949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Occupancy Network
  ↳ 3D 공간 점유 예측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53949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0" y="53949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0" y="5394960"/>
            <a:ext cx="6035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0" y="53949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물리 공간 개념 없음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852160"/>
            <a:ext cx="41148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852160"/>
            <a:ext cx="41148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End-to-End Driving
  ↳ 카메라 → 바로 핸들 조작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0" y="58521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0" y="58521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0" y="5852160"/>
            <a:ext cx="603504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0" y="5852160"/>
            <a:ext cx="60350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RMS 는 별도 아키텍처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5  ·  X (안 어울림): 4  ·  검토: 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1/16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🚢  해양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Maritime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AIS-LLM 궤적 분석
  ↳ 배 위치·정상 항로 학습 · dark zone·loitering·jump point 감지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 궤적 dark zone (승인 우회)·loitering (반복 결재)·jump point (금액 급증)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Kalman Filter
  ↳ 센서 노이즈 낀 배 위치·속도 실시간 최적 추정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실시간 위험도 curve 유지 (매 순간 업데이트)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SAR 위성 이미지 융합
  ↳ 레이더 위성으로 배 감지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다차원 데이터 융합 (외부 시그널)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Windward Behavioral Risk
  ↳ 선박 행동 리스크 2026 상용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UEBA 다음 단계 (행동 프로필)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배 물리 시스템 (LNG 탱크)
  ↳ 실제 선박 기계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물리 세계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2/16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✈️  항공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Aviation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Predictive Maintenance (RUL)
  ↳ 부품 15~30일 전 고장 예측 (진동·온도)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시도 30일 전 예측 · KPMG 도 없음 · killer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Flight Data Recorder (블랙박스)
  ↳ 모든 센서·조종사 대화 통합 기록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결재+이메일+통화 통합 블랙박스 (v14 실장)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SMS 근본원인 분석
  ↳ 사고 5-Whys 자동 · 사람·프로세스·기술·환경 분류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발생 시 근본원인 자동 (재발 방지)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AOG 경제 손실 예방
  ↳ $10K~$150K/h 손실 예방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손실 예방 · 경제 근거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항공기 물리 부품
  ↳ 엔진·날개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물리 세계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3/16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🛰️  위성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Satellite Telemetry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Explainable Telemetry Anomaly
  ↳ 94% precision · 판단 근거 자동 설명 (ESA 벤치마크)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RFP § 3.2.2 하이라이팅 요구 정확 대응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GCN/TCN 시계열
  ↳ 그래프 CNN + Temporal CNN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 시계열 실시간 이상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Auto-Encoder Reconstruction
  ↳ 정상 압축·복원 오차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 이상 감지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Adversarial Auto-Encoder
  ↳ 생성 대립 이상탐지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데이터 강화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위성 관제 물리 시스템
  ↳ 궤도 제어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물리 세계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4/16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🎮  게임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Gaming Anti-Cheat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LSTM+Transformer sequence
  ↳ 6개월 게임 sequence 통째 학습 (매치 전체 span)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6개월 결재 sequence Transformer 학습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Behavioral Anomaly
  ↳ 움직임·조준·반응시간 통계 이상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 시간·금액·거래처 통계 이상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AI 치트 vs AI 안티-치트 진화
  ↳ 서로 학습 대결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AI 부정 vs AI RMS 진화 프레임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HITL 모드
  ↳ AI 감지 후 관리자 최종 결정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감사인 최종 결정 · RFP § HITL 요구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게임 그래픽 렌더링
  ↳ 3D 렌더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그래픽 관련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5/16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🏥  의료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Medical Radiology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Few-shot pathology detection
  ↳ 적은 소수 데이터로 rare 질환 학습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소수 부정 사례로도 학습 · 데이터 부족 해결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Contrastive Learning
  ↳ 정상 vs 이상 임베딩 대조 (자폐 생쥐 논문)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정상 결재 임베딩 vs 부정 결재 대조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Interpretable Generative Anomaly
  ↳ 판단 근거 자동 설명 이미지 생성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판단 근거 자동 시각화 · Explainable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FDA/EMA Explainable Governance
  ↳ 규제 대응 표준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감사인·규제기관 receptive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CT/MRI 촬영
  ↳ 물리 영상 획득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촬영 관련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6/16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💾  반도체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Semiconductor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Synthetic Defect Generation
  ↳ 실제 결함 부족 → GAN 으로 합성 결함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사례 대량 합성 학습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Two-layer AI (hardware+data)
  ↳ 제조 층 + 데이터 층 분리 감시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ERP 층 + RMS 층 분리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False Positive -60% 필터링
  ↳ 알림 폭발 해결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RMS 알림 폭발 해결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95% Accuracy classification
  ↳ 결함 유형 자동 분류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유형 자동 분류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웨이퍼 검사
  ↳ 물리 스캔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물리 세계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7/16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🌾  농업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Precision Agriculture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UAV+IoT+위성 multi-source fusion
  ↳ 드론·센서·위성 다층 데이터 융합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ERP+이메일+CCTV+전화 다센서 융합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정밀 조기 감지 (질병 3주 전)
  ↳ 농작물 병해 조기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조기 신호 감지 (몇 주 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Spectral Imaging
  ↳ 농작물 스펙트럼 분석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다차원 데이터 (참고)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농약 살포
  ↳ 물리 액션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농약 살포 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UAV 물리 조종
  ↳ 드론 하드웨어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드론 조종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3  ·  X (안 어울림): 2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8/16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📦  물류·공급망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Logistics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Self-healing Supply Chain
  ↳ 이상 감지 후 자동 시정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이상 감지 후 자동 시정 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Predictive → Prescriptive
  ↳ detection → 자동 처방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탐지에서 자동 처방으로 패러다임 이동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Time-series 재해 -20~30% 단축
  ↳ 예측 기반 복구 시간 감소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사건 복구 시간 급감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멀티모달 리스크 신호
  ↳ 여러 신호 통합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여러 데이터 소스 통합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트럭 GPS
  ↳ 물리 위치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물리 세계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9/16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📡  통신 5G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Telecom 5G/6G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Federated Reinforcement Learning
  ↳ 여러 회사 데이터 안 옮기고 공동 학습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여러 증권사 공동 학습 (경쟁 유지)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Neuromorphic SNN 초저지연
  ↳ 밀리초 대응 (뉴로모픽 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실시간 대응 (밀리초)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Transformer traffic anomaly
  ↳ 네트워크 트래픽 Transformer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결재·이체 트래픽 감시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Agentic Network 자율 관제
  ↳ 자율 네트워크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자율 RMS 관제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5G 안테나 하드웨어
  ↳ 물리 안테나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물리 세계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10/16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📢  광고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AdTech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18-signal real-time feature engine
  ↳ 결재당 18+ 지표 병렬 스코어링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결재당 18+ 지표 병렬 스코어링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Adversarial AI Fraud 방어
  ↳ AI 로 진화하는 사기 대응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AI 로 진화하는 부정 대응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Stacking Ensemble + 9 ML
  ↳ 여러 모델 조합 정확도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여러 모델 조합 정확도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Agentic AI Chatbot 실시간 대응
  ↳ 자율 대응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실시간 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광고 CTR 예측
  ↳ 광고 도메인 특화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광고 관련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11/16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⚽  스포츠 VAR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Sports Officiating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3D 카메라 트래킹 (Sony Hawk-Eye)
  ↳ 3D 공간 물체 추적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사무실 CCTV 3D 재구성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Vision Foundation Model (SoccerMaster)
  ↳ 행동 파운데이션 모델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행동 파운데이션 모델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반자동 판정 (AI + 사람)
  ↳ AI 계산 후 사람 검토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HITL 표준 · RFP 요구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실시간 3D 재구성
  ↳ 다각도 카메라 융합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다센서 융합 참고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볼 궤적 물리
  ↳ 물리 궤적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물리 계산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12/16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💊  바이오·제약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Pharmacovigilance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Pharmacovigilance Signal Detection
  ↳ 소셜·문헌에서 부작용 사전 추출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소셜·내부 대화에서 부정 신호 사전 추출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15일 → 5일 자동화
  ↳ 케이스 처리 시간 급감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신고서·감사 대응 시간 급감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FDA/EMA Explainable+Inspection-ready
  ↳ 규제 대응 표준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감사인 조사 대응 표준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WHO VigiBase 3500만 케이스
  ↳ 대량 데이터 활용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K-DART 등 공개 데이터 활용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약물 시험
  ↳ 물리 실험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약물 관련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13/16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🛸  방위 드론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Defense Drone Swarm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Multi-sensor swarm counter
  ↳ RF+radar+EO+acoustic 다센서 융합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다센서 부정 스웜 감지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Behavior baseline + trajectory anomaly
  ↳ 정상 프로필 대비 실시간 이탈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정상 프로필 대비 실시간 이탈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AI swarm coordination
  ↳ 여러 드론 자율 협업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여러 RMS 에이전트 자율 협업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Autonomous intercept
  ↳ 자율 차단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자율 대응 (Computer Use 관점)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무기 통제
  ↳ 물리 무기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무기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14/16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⚡  에너지 스마트그리드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Smart Grid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GAN-LSTM Electricity Theft
  ↳ 전기 도용 감지 (GAN+LSTM)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자금 도용 (같은 원리)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Spatio-Temporal Graph
  ↳ 공간·시간 그래프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자금 이동 그래프 감시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Smart Meter Anomaly
  ↳ 스마트미터 이상탐지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결재·계좌 이상탐지 참고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Neural Structured Prediction
  ↳ 구조화 예측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구조 데이터 예측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발전소 물리
  ↳ 물리 설비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설비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15/16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🤖  Physical AI → RMS 이식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Physical AI / 산업안전  ·  기술 5개  ·  O/X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기술 (5살 설명)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280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접목 시 효과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183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PPE Detection + Near-miss capture
  ↳ 안전장구 감지·아슬아슬한 순간 캡처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183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현장 부정 준비 행동 감지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565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Motion Capture AI
  ↳ 자세·행동 자동 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9565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사무실 이상 행동 (문서 훔침)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Voxel/Cority/Protex 상용
  ↳ 기존 CCTV 재활용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7947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v14 Robot Blackbox 실장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329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Ergonomic Risk Assessment
  ↳ 자세 위험 자동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46329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직원 스트레스 자세 지표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71160"/>
            <a:ext cx="41148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실제 로봇 하드웨어
  ↳ 물리 로봇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5471160"/>
            <a:ext cx="603504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물리 로봇 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 (접목 가능): 4  ·  X (안 어울림): 1  ·  검토: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2 · 산업 16/16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🧠 AI 두뇌 (Reasoning)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AI 가 판단·추론하는 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359228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359228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359228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359228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39388"/>
            <a:ext cx="25603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39388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Claude Opus 5 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639388"/>
            <a:ext cx="365760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639388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1M context 기본+최대 · thinking on-by-default · effort ladder (2026-07-24)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639388"/>
            <a:ext cx="109728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39388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⭐⭐⭐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639388"/>
            <a:ext cx="39319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639388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복잡 판정 default · Fable 5 대비 절반 비용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998617"/>
            <a:ext cx="25603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998617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자율 수학 발견 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1998617"/>
            <a:ext cx="365760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1998617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OpenAI reasoning 이 Erdős 추측 반증 (1946년 open · Fields Medalist 인정)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998617"/>
            <a:ext cx="109728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998617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998617"/>
            <a:ext cx="39319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998617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agent 스스로 새 규정·룰 발견 가능성 시사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357845"/>
            <a:ext cx="25603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357845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Gemini 2.5 Pro Deep Think 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357845"/>
            <a:ext cx="365760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2357845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GPQA Diamond 82.4% · MMLU-Pro 89.8%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357845"/>
            <a:ext cx="109728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357845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357845"/>
            <a:ext cx="39319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2357845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검증 fallback 후보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717074"/>
            <a:ext cx="25603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717074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LLM (GPT·Claude·Gemini)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717074"/>
            <a:ext cx="365760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2717074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큰 언어 모델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717074"/>
            <a:ext cx="109728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2717074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2717074"/>
            <a:ext cx="39319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2717074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이미 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076302"/>
            <a:ext cx="25603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076302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SLM (Phi·Gemma·Qwen)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076302"/>
            <a:ext cx="365760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3076302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작은 온프레미스 LLM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3076302"/>
            <a:ext cx="109728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076302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3076302"/>
            <a:ext cx="39319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3076302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RFP 대응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435531"/>
            <a:ext cx="25603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435531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Test-Time Compute (o1·o3·R1)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3435531"/>
            <a:ext cx="365760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3435531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어려운 문제 오래 생각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3435531"/>
            <a:ext cx="109728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3435531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3435531"/>
            <a:ext cx="39319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3435531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고위험 결재만 deep · 비용 -90%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794759"/>
            <a:ext cx="25603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794759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Chain-of-Thought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794759"/>
            <a:ext cx="365760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3794759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단계별 추론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3794759"/>
            <a:ext cx="109728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3794759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3794759"/>
            <a:ext cx="39319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3794759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판단 근거 명시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153988"/>
            <a:ext cx="25603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153988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Tree-of-Thought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4153988"/>
            <a:ext cx="365760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17520" y="4153988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여러 경로 병렬 추론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20" y="4153988"/>
            <a:ext cx="109728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20" y="4153988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4153988"/>
            <a:ext cx="39319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0" y="4153988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여러 시나리오 병렬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513217"/>
            <a:ext cx="25603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4513217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Multi-Agent Debate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17520" y="4513217"/>
            <a:ext cx="365760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17520" y="4513217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여러 AI 합의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75120" y="4513217"/>
            <a:ext cx="109728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75120" y="4513217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4513217"/>
            <a:ext cx="39319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72400" y="4513217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환각 방지 · False positive 급감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872445"/>
            <a:ext cx="25603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4872445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Constitutional AI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872445"/>
            <a:ext cx="365760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17520" y="4872445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AI 자기 규정 검열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75120" y="4872445"/>
            <a:ext cx="109728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75120" y="4872445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2400" y="4872445"/>
            <a:ext cx="39319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0" y="4872445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K-SOX 규정 내장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5231674"/>
            <a:ext cx="25603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5231674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MoE (Mixture of Experts)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5231674"/>
            <a:ext cx="365760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17520" y="5231674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전문가 활성화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75120" y="5231674"/>
            <a:ext cx="109728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675120" y="5231674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5231674"/>
            <a:ext cx="39319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72400" y="5231674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도메인별 sLLM 전환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5590902"/>
            <a:ext cx="25603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5590902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Mamba (State Space)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017520" y="5590902"/>
            <a:ext cx="365760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017520" y="5590902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긴 시퀀스 · Transformer 대안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675120" y="5590902"/>
            <a:ext cx="109728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675120" y="5590902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772400" y="5590902"/>
            <a:ext cx="3931920" cy="35922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72400" y="5590902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성능 대비 필요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5950131"/>
            <a:ext cx="25603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7200" y="5950131"/>
            <a:ext cx="25603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World Model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017520" y="5950131"/>
            <a:ext cx="365760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017520" y="5950131"/>
            <a:ext cx="365760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세상 모델링 (Physical Intelligence)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675120" y="5950131"/>
            <a:ext cx="109728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75120" y="5950131"/>
            <a:ext cx="109728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772400" y="5950131"/>
            <a:ext cx="3931920" cy="359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72400" y="5950131"/>
            <a:ext cx="3931920" cy="3592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실험 단계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11  ·  X: 1  ·  검토: 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1/14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💾 AI 기억·검색 (Memory·Retrieval)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AI 가 이력·문서 기억·검색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457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457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457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Mem0g (graph-enhanced) 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737360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7373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mem0 진화 · temporal +29.6점 · time-sensitive 58% vs OpenAI 21%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7373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7373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⭐⭐⭐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737360"/>
            <a:ext cx="3931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7373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 이력 시계열 정확도 2.7배 (2026-06 신규)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mem0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194560"/>
            <a:ext cx="3657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1945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LLM 장기 기억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1945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1945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194560"/>
            <a:ext cx="3931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1945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6개월 결재 이력 자동 로드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517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517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MemGraphRAG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651760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26517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mem0 + Graph · KDD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6517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6517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651760"/>
            <a:ext cx="3931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26517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관계망 통합 기억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Zep GraphRAG 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108960"/>
            <a:ext cx="3657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1089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graph 순회 + vector 하이브리드 · sub-second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1089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1089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1089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Microsoft GraphRAG 대안 · 2026-07 등장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5661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5661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Vector DB (Milvus·Weaviate·Qdrant)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566160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35661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벡터 저장·검색 · 온프레미스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35661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5661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3566160"/>
            <a:ext cx="3931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35661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필수 인프라 · RFP 대응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Corrective RAG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4023360"/>
            <a:ext cx="3657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40233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자기 검증 RAG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0233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40233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4023360"/>
            <a:ext cx="3931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40233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환각 자동 정정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4805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4805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Adaptive RAG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4480560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44805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상황별 RAG 전략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44805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44805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4480560"/>
            <a:ext cx="3931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44805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쿼리별 최적 검색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937760"/>
            <a:ext cx="25603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9377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Self-RAG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4937760"/>
            <a:ext cx="3657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17520" y="49377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스스로 검색 여부 판단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20" y="49377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20" y="49377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4937760"/>
            <a:ext cx="3931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0" y="49377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필요 시만 검색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3949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3949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GraphRAG (Microsoft)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17520" y="5394960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17520" y="53949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관계망 기반 검색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75120" y="539496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75120" y="53949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5394960"/>
            <a:ext cx="3931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72400" y="53949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관계망 감지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852160"/>
            <a:ext cx="25603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58521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HyDE (가상 답 생성)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5852160"/>
            <a:ext cx="3657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17520" y="5852160"/>
            <a:ext cx="36576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가상 답 생성 후 검색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75120" y="5852160"/>
            <a:ext cx="109728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75120" y="5852160"/>
            <a:ext cx="10972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2400" y="5852160"/>
            <a:ext cx="39319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0" y="58521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특수 케이스만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9  ·  X: 0  ·  검토: 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2/14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🤖 AI 에이전트·오케스트레이션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AI 자율 실행·협업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4191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4191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4191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4191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99260"/>
            <a:ext cx="25603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992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ChatGPT Work 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699260"/>
            <a:ext cx="365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6992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GPT-5.6 기반 multi-hour agentic (2026-08)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699260"/>
            <a:ext cx="109728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992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699260"/>
            <a:ext cx="39319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6992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장시간 자율 감사 프로젝트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18360"/>
            <a:ext cx="25603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1183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Managed Agents (Anthropic) 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118360"/>
            <a:ext cx="365760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1183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session thread streams + webhooks · effort 지정 (2026-07)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118360"/>
            <a:ext cx="109728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1183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118360"/>
            <a:ext cx="39319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1183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우리 kit 이미 사용 · route.py 확장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537460"/>
            <a:ext cx="25603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5374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Sol/Terra/Luna tier (OpenAI) 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537460"/>
            <a:ext cx="365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25374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durable capability tiers (2026-08 재편)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537460"/>
            <a:ext cx="109728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5374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537460"/>
            <a:ext cx="39319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25374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라우팅 매트릭스 반영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956560"/>
            <a:ext cx="25603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9565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LangChain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2956560"/>
            <a:ext cx="365760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29565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LLM 체인 프레임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956560"/>
            <a:ext cx="109728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29565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2956560"/>
            <a:ext cx="39319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29565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기본 인프라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375660"/>
            <a:ext cx="25603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3756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LangGraph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375660"/>
            <a:ext cx="365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33756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그래프 기반 에이전트 조율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3375660"/>
            <a:ext cx="109728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3756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3375660"/>
            <a:ext cx="39319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33756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Multi-Agent 필수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794760"/>
            <a:ext cx="25603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7947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AutoGen (Microsoft)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3794760"/>
            <a:ext cx="365760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37947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Multi-Agent 대화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3794760"/>
            <a:ext cx="109728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37947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3794760"/>
            <a:ext cx="39319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37947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협업 프레임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213860"/>
            <a:ext cx="25603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2138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CrewAI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4213860"/>
            <a:ext cx="365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42138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역할별 에이전트 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4213860"/>
            <a:ext cx="109728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42138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4213860"/>
            <a:ext cx="39319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42138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역할 분업 (감사·조사·대응)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632960"/>
            <a:ext cx="25603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6329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Computer Use (Claude)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4632960"/>
            <a:ext cx="365760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17520" y="46329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AI 가 마우스·키보드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20" y="4632960"/>
            <a:ext cx="109728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20" y="46329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4632960"/>
            <a:ext cx="39319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0" y="46329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자동 대응 실행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052060"/>
            <a:ext cx="25603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0520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Browser-Use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17520" y="5052060"/>
            <a:ext cx="365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17520" y="50520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웹 자율 조작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75120" y="5052060"/>
            <a:ext cx="109728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75120" y="50520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5052060"/>
            <a:ext cx="39319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72400" y="50520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감사 시스템 자동 조작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471160"/>
            <a:ext cx="25603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54711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Devin (Cognition)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5471160"/>
            <a:ext cx="365760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17520" y="54711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자율 개발자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75120" y="5471160"/>
            <a:ext cx="109728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75120" y="54711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E73C3C"/>
                </a:solidFill>
                <a:latin typeface="맑은 고딕"/>
              </a:rPr>
              <a:t>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2400" y="5471160"/>
            <a:ext cx="393192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0" y="54711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RMS 아닌 개발팀 도구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5890260"/>
            <a:ext cx="25603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5890260"/>
            <a:ext cx="25603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ReAct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5890260"/>
            <a:ext cx="36576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17520" y="5890260"/>
            <a:ext cx="365760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Reasoning + Acting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675120" y="5890260"/>
            <a:ext cx="109728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675120" y="5890260"/>
            <a:ext cx="109728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5890260"/>
            <a:ext cx="393192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72400" y="5890260"/>
            <a:ext cx="3931920" cy="4191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추론 + 실행 통합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10  ·  X: 1  ·  검토: 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3/14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🔍 이상탐지 (Anomaly Detection)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정상 vs 이상 자동 감지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5588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5588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5588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5588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38960"/>
            <a:ext cx="25603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389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Autoencoder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38960"/>
            <a:ext cx="36576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8389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압축·복원 오차로 이상 감지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838960"/>
            <a:ext cx="109728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8389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838960"/>
            <a:ext cx="39319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8389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 이상탐지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97760"/>
            <a:ext cx="25603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977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Isolation Forest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397760"/>
            <a:ext cx="365760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3977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이상치 격리 나무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397760"/>
            <a:ext cx="109728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3977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397760"/>
            <a:ext cx="39319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3977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고전 안정 알고리즘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56560"/>
            <a:ext cx="25603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9565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LOF (Local Outlier Factor)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956560"/>
            <a:ext cx="36576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29565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근접도 기반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956560"/>
            <a:ext cx="109728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9565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956560"/>
            <a:ext cx="39319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29565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지역 이상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15360"/>
            <a:ext cx="25603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153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One-Class SVM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515360"/>
            <a:ext cx="365760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5153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정상만 학습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515360"/>
            <a:ext cx="109728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5153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515360"/>
            <a:ext cx="39319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5153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데이터 없어도 학습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74160"/>
            <a:ext cx="25603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0741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Contrastive Learning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074160"/>
            <a:ext cx="36576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0741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정상 vs 이상 대조 · 자폐 생쥐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074160"/>
            <a:ext cx="109728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0741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074160"/>
            <a:ext cx="39319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0741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임베딩 대조 학습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632960"/>
            <a:ext cx="25603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6329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GAN-based Anomaly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4632960"/>
            <a:ext cx="365760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46329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생성 오차로 이상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632960"/>
            <a:ext cx="109728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46329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4632960"/>
            <a:ext cx="39319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46329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복잡 패턴 감지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191760"/>
            <a:ext cx="25603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1917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Diffusion-based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5191760"/>
            <a:ext cx="36576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51917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노이즈 복원 오차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5191760"/>
            <a:ext cx="109728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51917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5191760"/>
            <a:ext cx="39319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51917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성능 대비 비용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750560"/>
            <a:ext cx="25603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7505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Deep SVDD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5750560"/>
            <a:ext cx="365760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17520" y="57505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딥러닝 SVDD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20" y="5750560"/>
            <a:ext cx="109728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20" y="57505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5750560"/>
            <a:ext cx="39319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0" y="57505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특수 케이스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6  ·  X: 0  ·  검토: 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4/14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⏱️ 시계열 (Time Series)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시간 흐름 데이터 이해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5588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5588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5588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5588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38960"/>
            <a:ext cx="25603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389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LSTM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38960"/>
            <a:ext cx="36576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8389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순차 신경망 (성숙)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838960"/>
            <a:ext cx="109728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8389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838960"/>
            <a:ext cx="39319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8389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 시계열 이해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97760"/>
            <a:ext cx="25603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977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Transformer sequence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397760"/>
            <a:ext cx="365760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3977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Attention 기반 시퀀스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397760"/>
            <a:ext cx="109728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3977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397760"/>
            <a:ext cx="39319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3977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6개월 sequence 통째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56560"/>
            <a:ext cx="25603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9565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TimesFM (Google 2024)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956560"/>
            <a:ext cx="36576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29565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시계열 파운데이션 모델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956560"/>
            <a:ext cx="109728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9565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956560"/>
            <a:ext cx="39319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29565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사전학습 활용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515360"/>
            <a:ext cx="25603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153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Chronos (Amazon)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515360"/>
            <a:ext cx="365760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5153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시계열 LLM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515360"/>
            <a:ext cx="109728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5153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515360"/>
            <a:ext cx="39319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5153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LLM 방식 시계열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74160"/>
            <a:ext cx="25603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0741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Prophet (Meta)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074160"/>
            <a:ext cx="36576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0741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트렌드 예측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074160"/>
            <a:ext cx="109728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0741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074160"/>
            <a:ext cx="39319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0741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간단한 트렌드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632960"/>
            <a:ext cx="25603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6329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N-BEATS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4632960"/>
            <a:ext cx="365760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46329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순수 딥러닝 forecast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632960"/>
            <a:ext cx="109728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46329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4632960"/>
            <a:ext cx="39319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46329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특정 케이스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191760"/>
            <a:ext cx="25603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1917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Kalman Filter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5191760"/>
            <a:ext cx="36576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51917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실시간 상태 추정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5191760"/>
            <a:ext cx="109728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51917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5191760"/>
            <a:ext cx="393192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51917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실시간 위험도 curve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750560"/>
            <a:ext cx="25603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750560"/>
            <a:ext cx="25603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Particle Filter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5750560"/>
            <a:ext cx="365760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17520" y="5750560"/>
            <a:ext cx="365760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비선형 상태 추정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20" y="5750560"/>
            <a:ext cx="109728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20" y="5750560"/>
            <a:ext cx="109728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5750560"/>
            <a:ext cx="3931920" cy="55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0" y="5750560"/>
            <a:ext cx="3931920" cy="558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복잡 시스템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6  ·  X: 0  ·  검토: 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5/14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🕸️ 그래프 (Graph 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관계망 데이터 이해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98617"/>
            <a:ext cx="25603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98617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GNN (Graph Neural Network)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998617"/>
            <a:ext cx="365760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998617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그래프 신경망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98617"/>
            <a:ext cx="109728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98617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998617"/>
            <a:ext cx="39319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998617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관계망 학습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17074"/>
            <a:ext cx="25603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17074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GAT (Graph Attention)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717074"/>
            <a:ext cx="365760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717074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그래프 attention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717074"/>
            <a:ext cx="109728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717074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717074"/>
            <a:ext cx="39319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717074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중요 관계 자동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35531"/>
            <a:ext cx="25603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435531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Node2Vec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35531"/>
            <a:ext cx="365760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435531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노드 임베딩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435531"/>
            <a:ext cx="109728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435531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435531"/>
            <a:ext cx="39319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435531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그래프 → 벡터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53988"/>
            <a:ext cx="25603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153988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GraphSAGE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153988"/>
            <a:ext cx="365760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4153988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그래프 sampling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4153988"/>
            <a:ext cx="109728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153988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153988"/>
            <a:ext cx="39319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4153988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대규모 그래프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72445"/>
            <a:ext cx="25603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872445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Graph Transformer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872445"/>
            <a:ext cx="365760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872445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Transformer + Graph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872445"/>
            <a:ext cx="109728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872445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872445"/>
            <a:ext cx="39319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872445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복합 관계망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590902"/>
            <a:ext cx="25603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590902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Entity Resolution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5590902"/>
            <a:ext cx="365760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5590902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개체 자동 매칭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5590902"/>
            <a:ext cx="109728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590902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5590902"/>
            <a:ext cx="39319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5590902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특수관계자 자동 감지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6  ·  X: 0  ·  검토: 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6/14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👁️ 컴퓨터비전 (Vision)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이미지·영상 이해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62865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62865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62865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62865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08810"/>
            <a:ext cx="25603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0881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908810"/>
            <a:ext cx="36576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90881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이미지 신경망 (기본)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08810"/>
            <a:ext cx="109728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0881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908810"/>
            <a:ext cx="39319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90881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이미지 감사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37460"/>
            <a:ext cx="25603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3746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YOLO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537460"/>
            <a:ext cx="365760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53746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실시간 물체 탐지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537460"/>
            <a:ext cx="109728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53746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537460"/>
            <a:ext cx="39319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53746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Physical AI · CCTV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66110"/>
            <a:ext cx="25603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6611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Vision Transformer (ViT)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166110"/>
            <a:ext cx="36576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16611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이미지 Transformer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166110"/>
            <a:ext cx="109728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16611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166110"/>
            <a:ext cx="39319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16611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고해상도 이미지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94760"/>
            <a:ext cx="25603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9476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SAM (Segment Anything)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794760"/>
            <a:ext cx="365760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79476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세그멘테이션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794760"/>
            <a:ext cx="109728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79476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94760"/>
            <a:ext cx="39319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9476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문서·이미지 분할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23410"/>
            <a:ext cx="25603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42341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DeepLabCut·SLEAP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423410"/>
            <a:ext cx="36576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42341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자세 추정 (동물 논문)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423410"/>
            <a:ext cx="109728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42341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423410"/>
            <a:ext cx="39319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42341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행동 자세 분석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52060"/>
            <a:ext cx="25603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05206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CLIP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5052060"/>
            <a:ext cx="365760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505206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이미지·텍스트 매칭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5052060"/>
            <a:ext cx="109728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05206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5052060"/>
            <a:ext cx="39319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505206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문서 이해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680710"/>
            <a:ext cx="25603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68071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VLM (Vision-Language)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5680710"/>
            <a:ext cx="36576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568071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이미지 이해 + 언어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5680710"/>
            <a:ext cx="109728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568071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5680710"/>
            <a:ext cx="39319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568071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이미지+텍스트 통합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7  ·  X: 0  ·  검토: 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7/14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🔐 프라이버시·암호 (Privacy·Crypto)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데이터 보호 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838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838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838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838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18360"/>
            <a:ext cx="256032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18360"/>
            <a:ext cx="25603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Homomorphic Encryption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118360"/>
            <a:ext cx="36576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118360"/>
            <a:ext cx="36576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암호 상태 계산 (Microsoft SEAL·OpenFHE)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1183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1183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118360"/>
            <a:ext cx="393192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118360"/>
            <a:ext cx="39319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감사인·규제 대응 · 데이터 안 열고 계산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56560"/>
            <a:ext cx="256032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56560"/>
            <a:ext cx="25603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Differential 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956560"/>
            <a:ext cx="36576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956560"/>
            <a:ext cx="36576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통계에 노이즈 추가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9565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9565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956560"/>
            <a:ext cx="393192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956560"/>
            <a:ext cx="39319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개인정보 보호 통계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94760"/>
            <a:ext cx="256032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94760"/>
            <a:ext cx="25603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Federated Learning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794760"/>
            <a:ext cx="36576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794760"/>
            <a:ext cx="36576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데이터 안 옮기고 공동 학습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7947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7947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794760"/>
            <a:ext cx="393192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794760"/>
            <a:ext cx="39319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여러 증권사 공동 학습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632960"/>
            <a:ext cx="256032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632960"/>
            <a:ext cx="25603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Zero-Knowledge Proof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632960"/>
            <a:ext cx="365760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4632960"/>
            <a:ext cx="36576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내용 안 보여주고 증명 (zk-SNARK)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4632960"/>
            <a:ext cx="109728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6329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632960"/>
            <a:ext cx="3931920" cy="838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4632960"/>
            <a:ext cx="39319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감사 근거 증명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471160"/>
            <a:ext cx="256032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471160"/>
            <a:ext cx="25603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Secure Multi-Party (MPC)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5471160"/>
            <a:ext cx="365760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5471160"/>
            <a:ext cx="365760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여러 파티 공동 계산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5471160"/>
            <a:ext cx="109728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5471160"/>
            <a:ext cx="109728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5471160"/>
            <a:ext cx="3931920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5471160"/>
            <a:ext cx="3931920" cy="838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Federated 로 충분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4  ·  X: 0  ·  검토: 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8/14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🎯 최적화 (Optimization)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최적해 자동 찾기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98617"/>
            <a:ext cx="25603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98617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QUBO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998617"/>
            <a:ext cx="365760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998617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이진 최적화 (양자영감)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98617"/>
            <a:ext cx="109728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98617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998617"/>
            <a:ext cx="39319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998617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최적 조사 대상 선정 (v14 S16)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17074"/>
            <a:ext cx="25603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17074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Simulated Annealing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717074"/>
            <a:ext cx="365760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717074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담금질 최적화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717074"/>
            <a:ext cx="109728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717074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717074"/>
            <a:ext cx="39319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717074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QUBO 백엔드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35531"/>
            <a:ext cx="25603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435531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Genetic Algorithm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35531"/>
            <a:ext cx="365760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435531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유전 알고리즘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435531"/>
            <a:ext cx="109728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435531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435531"/>
            <a:ext cx="39319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435531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탐색 문제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53988"/>
            <a:ext cx="25603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153988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Bayesian Optimization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153988"/>
            <a:ext cx="365760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4153988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확률적 탐색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4153988"/>
            <a:ext cx="109728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153988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153988"/>
            <a:ext cx="39319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4153988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하이퍼파라미터 튜닝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72445"/>
            <a:ext cx="25603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872445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Reinforcement Learning (RL)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872445"/>
            <a:ext cx="365760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872445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강화학습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872445"/>
            <a:ext cx="109728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872445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872445"/>
            <a:ext cx="39319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872445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자율 학습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590902"/>
            <a:ext cx="25603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590902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PPO·DPO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5590902"/>
            <a:ext cx="365760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5590902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RL 알고리즘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5590902"/>
            <a:ext cx="109728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590902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5590902"/>
            <a:ext cx="39319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5590902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특수 케이스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5  ·  X: 0  ·  검토: 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9/14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🌐 시뮬레이션 (Simulation)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미래·What-if 예측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0584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100584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100584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100584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Digital Twin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28600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28600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시스템 컴퓨터 쌍둥이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286000"/>
            <a:ext cx="10972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286000"/>
            <a:ext cx="3931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8600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v14 Risk Twin 실장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25603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Monte Carlo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291840"/>
            <a:ext cx="365760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29184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확률 시뮬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291840"/>
            <a:ext cx="109728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29184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291840"/>
            <a:ext cx="39319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29184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위험 확률 계산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976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9768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Agent-Based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429768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429768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개체 상호작용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297680"/>
            <a:ext cx="10972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29768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297680"/>
            <a:ext cx="3931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29768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조직 시뮬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03520"/>
            <a:ext cx="25603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0352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Physics-Informed NN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5303520"/>
            <a:ext cx="365760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530352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물리 규칙 학습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5303520"/>
            <a:ext cx="109728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530352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5303520"/>
            <a:ext cx="39319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530352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특수 케이스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3  ·  X: 0  ·  검토: 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10/14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📋 감사·컴플라이언스 특화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감사·규제 대응 특화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62865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62865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62865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62865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08810"/>
            <a:ext cx="25603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0881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Process Mining (Celonis)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908810"/>
            <a:ext cx="36576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90881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ERP 로그 → 실제 프로세스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08810"/>
            <a:ext cx="109728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0881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908810"/>
            <a:ext cx="39319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90881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규정 프로세스 vs 실제 이탈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37460"/>
            <a:ext cx="25603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3746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Business Rules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537460"/>
            <a:ext cx="365760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53746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룰 실행 엔진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537460"/>
            <a:ext cx="109728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53746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537460"/>
            <a:ext cx="39319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53746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규정 자동 실행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166110"/>
            <a:ext cx="25603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6611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Explainable AI (SHAP·LIME)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166110"/>
            <a:ext cx="36576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16611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AI 판단 설명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166110"/>
            <a:ext cx="109728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16611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166110"/>
            <a:ext cx="39319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16611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RFP 필수 요구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94760"/>
            <a:ext cx="25603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9476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Model Governance (Fiddler·Arize)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794760"/>
            <a:ext cx="365760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79476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AI 모델 감시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794760"/>
            <a:ext cx="109728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79476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794760"/>
            <a:ext cx="39319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9476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우리 AI 자체 감시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23410"/>
            <a:ext cx="25603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42341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Data Lineage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423410"/>
            <a:ext cx="36576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42341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데이터 계보 추적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423410"/>
            <a:ext cx="109728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42341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423410"/>
            <a:ext cx="39319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42341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K-SOX audit trail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52060"/>
            <a:ext cx="25603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05206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CBR (Case-Based Reasoning)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5052060"/>
            <a:ext cx="365760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505206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과거 사례 매칭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5052060"/>
            <a:ext cx="109728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05206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5052060"/>
            <a:ext cx="3931920" cy="62865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505206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유사 부정 사례 자동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680710"/>
            <a:ext cx="25603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680710"/>
            <a:ext cx="25603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Benford's Law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5680710"/>
            <a:ext cx="36576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5680710"/>
            <a:ext cx="365760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자연 숫자 분포 이상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5680710"/>
            <a:ext cx="109728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5680710"/>
            <a:ext cx="109728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5680710"/>
            <a:ext cx="393192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5680710"/>
            <a:ext cx="3931920" cy="62865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회계 조작 감지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7  ·  X: 0  ·  검토: 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11/14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🔄 학습 패러다임 (Learning Paradigms)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학습 전략·기법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50292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7830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Fine-tuning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7830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78308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사전학습 모델 재학습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78308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78308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78308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78308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도메인 특화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86000"/>
            <a:ext cx="25603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28600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LoRA·QLoRA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286000"/>
            <a:ext cx="3657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28600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저비용 fine-tuning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286000"/>
            <a:ext cx="10972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28600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286000"/>
            <a:ext cx="3931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28600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온프레미스 저비용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8892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8892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Quantization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7889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278892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모델 압축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78892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78892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7889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278892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저사양 배포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91840"/>
            <a:ext cx="25603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29184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Distillation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291840"/>
            <a:ext cx="3657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29184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큰 모델 → 작은 모델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291840"/>
            <a:ext cx="10972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29184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3291840"/>
            <a:ext cx="3931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29184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SLM 만들기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79476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79476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Transfer Learning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79476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379476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다른 도메인 지식 활용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379476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379476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379476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379476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산업 이식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297680"/>
            <a:ext cx="25603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29768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Few-shot / Zero-shot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4297680"/>
            <a:ext cx="3657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429768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소수 데이터로 학습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297680"/>
            <a:ext cx="10972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429768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4297680"/>
            <a:ext cx="3931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429768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사례 극소량 학습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80060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80060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Active Learning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480060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480060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애매한 것만 사람에 질문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75120" y="480060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480060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0" y="480060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0" y="480060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사람 개입 최소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303520"/>
            <a:ext cx="25603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30352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Semi-Supervised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5303520"/>
            <a:ext cx="3657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17520" y="530352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라벨 일부만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20" y="5303520"/>
            <a:ext cx="109728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20" y="530352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5303520"/>
            <a:ext cx="3931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0" y="530352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부분 라벨 활용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80644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806440"/>
            <a:ext cx="25603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Meta-Learning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17520" y="580644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017520" y="5806440"/>
            <a:ext cx="365760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학습법 학습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75120" y="5806440"/>
            <a:ext cx="1097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75120" y="5806440"/>
            <a:ext cx="10972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맑은 고딕"/>
              </a:rPr>
              <a:t>검토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580644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772400" y="580644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장기 R&amp;D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8  ·  X: 0  ·  검토: 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12/14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🎨 데이터 생성 (Data Generation)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가짜 데이터 자동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0584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100584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100584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100584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8600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GAN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28600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28600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대립 생성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286000"/>
            <a:ext cx="10972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286000"/>
            <a:ext cx="3931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28600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Synthetic 부정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25603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Diffusion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291840"/>
            <a:ext cx="365760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29184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노이즈 → 진짜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291840"/>
            <a:ext cx="109728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29184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291840"/>
            <a:ext cx="39319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29184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고품질 생성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976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9768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VAE (Variational Autoencoder)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4297680"/>
            <a:ext cx="3657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429768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잠재 공간 생성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297680"/>
            <a:ext cx="10972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29768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297680"/>
            <a:ext cx="3931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29768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부드러운 생성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03520"/>
            <a:ext cx="25603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03520"/>
            <a:ext cx="25603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Synthetic Data (SDV·Gretel)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5303520"/>
            <a:ext cx="365760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5303520"/>
            <a:ext cx="365760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개인정보 없는 가짜 데이터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5303520"/>
            <a:ext cx="109728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5303520"/>
            <a:ext cx="10972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5303520"/>
            <a:ext cx="3931920" cy="1005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5303520"/>
            <a:ext cx="39319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데이터 부족 해결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4  ·  X: 0  ·  검토: 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13/14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🌍 크로스도메인 (Cross-Industry)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다른 산업에서 이식된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80160"/>
            <a:ext cx="365760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280160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뭐 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280160"/>
            <a:ext cx="109728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280160"/>
            <a:ext cx="3931920" cy="718457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80160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RMS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98617"/>
            <a:ext cx="25603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98617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Predictive Maintenance (RUL)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998617"/>
            <a:ext cx="365760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998617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항공·제조 원 · 부품 고장 예측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98617"/>
            <a:ext cx="109728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98617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 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998617"/>
            <a:ext cx="39319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998617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부정 30일 전 예측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17074"/>
            <a:ext cx="25603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717074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Sensor 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717074"/>
            <a:ext cx="365760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717074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자율주행 원 · 다센서 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717074"/>
            <a:ext cx="109728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717074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717074"/>
            <a:ext cx="39319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717074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ERP+이메일+CCTV 통합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35531"/>
            <a:ext cx="25603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435531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Edge Case Detection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35531"/>
            <a:ext cx="365760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435531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자율주행 원 · 훈련 밖 감지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435531"/>
            <a:ext cx="109728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435531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3435531"/>
            <a:ext cx="39319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435531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정상 훈련 밖 결재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53988"/>
            <a:ext cx="25603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153988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AIS-LLM 궤적 분석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153988"/>
            <a:ext cx="365760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4153988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해양 원 · Windward.ai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4153988"/>
            <a:ext cx="109728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153988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153988"/>
            <a:ext cx="39319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4153988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 궤적 이상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872445"/>
            <a:ext cx="25603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872445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Flight Data Recorder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872445"/>
            <a:ext cx="365760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4872445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항공 원 · 통합 기록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872445"/>
            <a:ext cx="109728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872445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872445"/>
            <a:ext cx="3931920" cy="718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4872445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v14 Robot Blackbox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590902"/>
            <a:ext cx="25603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590902"/>
            <a:ext cx="25603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Satellite Telemetry Anomaly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5590902"/>
            <a:ext cx="365760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17520" y="5590902"/>
            <a:ext cx="365760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41A2E"/>
                </a:solidFill>
                <a:latin typeface="맑은 고딕"/>
              </a:rPr>
              <a:t>위성 원 · ESA 벤치마크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5590902"/>
            <a:ext cx="109728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590902"/>
            <a:ext cx="109728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1FB25A"/>
                </a:solidFill>
                <a:latin typeface="맑은 고딕"/>
              </a:rPr>
              <a:t>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5590902"/>
            <a:ext cx="3931920" cy="718457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0" y="5590902"/>
            <a:ext cx="3931920" cy="718457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141A2E"/>
                </a:solidFill>
                <a:latin typeface="맑은 고딕"/>
              </a:rPr>
              <a:t>결재 텔레메트리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요약  ·  O: 6  ·  X: 0  ·  검토: 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3 · 카테고리 14/14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PART 4 · 종합 Killer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⭐ RMS 에 진짜 있으면 좋은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1. mem0 (기억)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2801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2. MemGraphRAG (관계망 기억)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2801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3. LangGraph (에이전트 조율)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4. Computer Use (자동 대응)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9659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5. Contrastive Learning (정상 vs 이상)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659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6. Transformer sequence (긴 이력 이해)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517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7. Kalman Filter (실시간 상태)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6517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6517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8. GNN + Entity Resolution (특수관계자·자금세탁)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6517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6517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9. Homomorphic Encryption (프라이버시)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10. Zero-Knowledge Proof (증명)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3375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3375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11. QUBO (최적 조사대상)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3375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3375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12. Digital Twin (시뮬)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233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13. Process Mining (실제 vs 규정 프로세스)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0233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0233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14. Explainable AI (SHAP·LIME) (RFP 필수)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0233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0233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15. LoRA·QLoRA (저비용 fine-tuning)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7091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16. Few-shot Learning (소수 부정 사례)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47091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47091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17. Active Learning (사람 개입 최소)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7091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7091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18. Synthetic Data (GAN) (부정 데이터 부족 해결)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94960"/>
            <a:ext cx="379476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1E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94960"/>
            <a:ext cx="3794760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1A2B4E"/>
                </a:solidFill>
                <a:latin typeface="맑은 고딕"/>
              </a:rPr>
              <a:t>19. Predictive Maintenance / RUL (사전 예측)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4 · Killer 19개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PART 4 · X (RMS 안 어울림)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왜 안 쓰나 이유 포함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114799" cy="386861"/>
          </a:xfrm>
          <a:prstGeom prst="rect">
            <a:avLst/>
          </a:prstGeom>
          <a:solidFill>
            <a:srgbClr val="E7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X 기술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7132320" cy="386861"/>
          </a:xfrm>
          <a:prstGeom prst="rect">
            <a:avLst/>
          </a:prstGeom>
          <a:solidFill>
            <a:srgbClr val="E7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이유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67021"/>
            <a:ext cx="4114799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67021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Devin (자율 개발자)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67021"/>
            <a:ext cx="71323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67021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RMS 아님 · 우리 개발팀 자체 도구엔 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53883"/>
            <a:ext cx="4114799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53883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World Model (Physical Intelligence·Genie)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053883"/>
            <a:ext cx="7132320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53883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아직 실험 단계 · 물리 세계 대상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40744"/>
            <a:ext cx="4114799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40744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Mamba (State Space Model)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440744"/>
            <a:ext cx="71323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440744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LSTM/Transformer 로 충분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27606"/>
            <a:ext cx="4114799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27606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MPC (Secure Multi-Party Computation)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827606"/>
            <a:ext cx="7132320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827606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Federated Learning 으로 충분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14467"/>
            <a:ext cx="4114799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214467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Physics-Informed NN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214467"/>
            <a:ext cx="71323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214467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물리 규칙 기반 · RMS 물리 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01329"/>
            <a:ext cx="4114799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01329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Diffusion Anomaly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601329"/>
            <a:ext cx="7132320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601329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Autoencoder 로 충분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88190"/>
            <a:ext cx="4114799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988190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LiDAR / 3D 스캔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988190"/>
            <a:ext cx="71323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988190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물리 센서 · RMS 물리 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75052"/>
            <a:ext cx="4114799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375052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HD 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375052"/>
            <a:ext cx="7132320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4375052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지도 기반 · RMS 관계없음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761913"/>
            <a:ext cx="4114799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761913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Occupancy Network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4761913"/>
            <a:ext cx="71323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4761913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3D 공간 점유 · 물리 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148775"/>
            <a:ext cx="4114799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148775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End-to-End Driving (Tesla FSD)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5148775"/>
            <a:ext cx="7132320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0" y="5148775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전용 아키텍처 · RMS 별도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535636"/>
            <a:ext cx="4114799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535636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실제 항공기·선박·발전소 물리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5535636"/>
            <a:ext cx="7132320" cy="3868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5535636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물리 세계 · RMS 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922498"/>
            <a:ext cx="4114799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922498"/>
            <a:ext cx="4114799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Speech Synthesis (TTS)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5922498"/>
            <a:ext cx="7132320" cy="386861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5922498"/>
            <a:ext cx="7132320" cy="38686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생성만 · 감지·판단 아님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4 · X 12개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PART 5 · Phase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0 → 24개월 실행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743200" cy="1280160"/>
          </a:xfrm>
          <a:prstGeom prst="rect">
            <a:avLst/>
          </a:prstGeom>
          <a:solidFill>
            <a:srgbClr val="1F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743200" cy="1280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Phase 1 · 0~3개월 · 즉시 차별화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86868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1FB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41A2E"/>
                </a:solidFill>
                <a:latin typeface="맑은 고딕"/>
              </a:rPr>
              <a:t>① mem0 붙이기 · 6개월 이력 축적 시작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② MemGraphRAG · Cen's TRM 확장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③ 위성 텔레메트리 이상탐지 (94% precision)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④ LangGraph 인프라 세팅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74320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2743200" cy="1280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Phase 2 · 3~6개월 · 카테고리 신설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651760"/>
            <a:ext cx="86868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41A2E"/>
                </a:solidFill>
                <a:latin typeface="맑은 고딕"/>
              </a:rPr>
              <a:t>⑤ Agent Behavior Analytics (Exabeam 방식)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⑥ AI-RPA / Computer Use (RPA 불요)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⑦ 해양 AIS-LLM 궤적 분석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⑧ Contrastive Learning (자폐 생쥐 방식)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2743200" cy="1280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2743200" cy="1280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Phase 3 · 6~12개월 · 예측 패러다임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023360"/>
            <a:ext cx="86868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02336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41A2E"/>
                </a:solidFill>
                <a:latin typeface="맑은 고딕"/>
              </a:rPr>
              <a:t>⑨ Predictive Maintenance (RUL) · 부정 30일 전 예측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⑩ Synthetic Fraud Data (GAN)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⑪ Physical AI (Voxel/Protex)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⑫ QUBO (양자영감 최적 조사대상)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⑬ Zero-Knowledge Proof PoC (유안타 크로스보더)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2743200" cy="128016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2743200" cy="12801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Phase 4 · 12개월+ · 최상위 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5394960"/>
            <a:ext cx="868680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1A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39496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41A2E"/>
                </a:solidFill>
                <a:latin typeface="맑은 고딕"/>
              </a:rPr>
              <a:t>⑭ 게임 방식 Transformer sequence (6개월 통째)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⑮ Federated Learning (증권사 컨소시엄)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⑯ Homomorphic Encryption (감사 데이터 극한 privacy)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⑰ 의료 Few-shot pathology 방식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⑱ 광고 Adversarial AI fraud 방어</a:t>
            </a:r>
          </a:p>
          <a:p>
            <a:r>
              <a:rPr sz="1100">
                <a:solidFill>
                  <a:srgbClr val="141A2E"/>
                </a:solidFill>
                <a:latin typeface="맑은 고딕"/>
              </a:rPr>
              <a:t>⑲ ZK Proof audit trail (규제 강제 오면 즉시)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5 · 로드맵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PART 6 · KPMG 대응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직접 대결 X · 시장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E73C3C"/>
                </a:solidFill>
                <a:latin typeface="맑은 고딕"/>
              </a:rPr>
              <a:t>나쁜 소식 · KPMG 5년 $2B · $12B 매출 목표 · 감사업무 완전 자동화 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FB25A"/>
                </a:solidFill>
                <a:latin typeface="맑은 고딕"/>
              </a:rPr>
              <a:t>좋은 소식 · KPMG = 감사법인 (서비스) · 우리 = 감사 대상 회사에 파는 SaaS (다른 시장)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286000" cy="42672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2860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286000"/>
            <a:ext cx="3200400" cy="42672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32004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KPMG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86000"/>
            <a:ext cx="5760720" cy="42672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286000"/>
            <a:ext cx="576072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우리 진입 지점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12720"/>
            <a:ext cx="2286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12720"/>
            <a:ext cx="22860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온프레미스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12720"/>
            <a:ext cx="32004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12720"/>
            <a:ext cx="32004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클라우드 중심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712720"/>
            <a:ext cx="576072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712720"/>
            <a:ext cx="576072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우리 kit exec_offline · RFP 요구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39440"/>
            <a:ext cx="228600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39440"/>
            <a:ext cx="22860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실시간·상시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139440"/>
            <a:ext cx="320040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3139440"/>
            <a:ext cx="32004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감사 기간만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139440"/>
            <a:ext cx="576072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139440"/>
            <a:ext cx="576072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24/7 상시 · Bible 행위 organ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60"/>
            <a:ext cx="2286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66160"/>
            <a:ext cx="22860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한국 규제 특화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566160"/>
            <a:ext cx="32004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3566160"/>
            <a:ext cx="32004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글로벌 표준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566160"/>
            <a:ext cx="576072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3566160"/>
            <a:ext cx="576072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K-SOX·자금부정공시·중대재해법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92880"/>
            <a:ext cx="228600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92880"/>
            <a:ext cx="22860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Physical AI 통합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992880"/>
            <a:ext cx="320040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3992880"/>
            <a:ext cx="32004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없음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992880"/>
            <a:ext cx="576072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992880"/>
            <a:ext cx="576072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v14 Robot Blackbox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19600"/>
            <a:ext cx="2286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419600"/>
            <a:ext cx="22860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감사인 협업 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419600"/>
            <a:ext cx="32004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0" y="4419600"/>
            <a:ext cx="32004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자기 내부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419600"/>
            <a:ext cx="576072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4419600"/>
            <a:ext cx="576072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회사 → 감사인 준비 도구 (B2B)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846320"/>
            <a:ext cx="228600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846320"/>
            <a:ext cx="22860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금융권 온프레미스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846320"/>
            <a:ext cx="320040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0" y="4846320"/>
            <a:ext cx="32004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클라우드만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4846320"/>
            <a:ext cx="576072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4846320"/>
            <a:ext cx="576072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증권사·은행 RFP 대응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273040"/>
            <a:ext cx="22860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273040"/>
            <a:ext cx="22860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한국어 OCR + HWP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5273040"/>
            <a:ext cx="320040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0" y="5273040"/>
            <a:ext cx="32004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지원 미미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5273040"/>
            <a:ext cx="5760720" cy="426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0" y="5273040"/>
            <a:ext cx="576072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국내 정부·공기업 필수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699760"/>
            <a:ext cx="228600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699760"/>
            <a:ext cx="22860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ISMS-P 통합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699760"/>
            <a:ext cx="320040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5699760"/>
            <a:ext cx="320040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5699760"/>
            <a:ext cx="5760720" cy="426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0" y="5699760"/>
            <a:ext cx="5760720" cy="426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사용자 개인 3년 강점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결론 · KPMG 대체 X · KPMG 감사 대비 SaaS · 시장 분리 + 파트너 관계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6 · KPMG 대응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PART 7 · AI ISMS-P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사용자 개인 강점 3년 도메인 × AI = 국내 유일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A2B4E"/>
                </a:solidFill>
                <a:latin typeface="맑은 고딕"/>
              </a:rPr>
              <a:t>🎯 핵심 인사이트 · K-SOX 감사 시장 열림 · ISMS-P 정보보호 인증 시장 열림 · 둘 다 매년 심사 · 매년 사람 손 · 매년 지침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828800"/>
            <a:ext cx="8046720" cy="457200"/>
          </a:xfrm>
          <a:prstGeom prst="rect">
            <a:avLst/>
          </a:prstGeom>
          <a:solidFill>
            <a:srgbClr val="1E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28800"/>
            <a:ext cx="8046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ISMS-P 인증 유지 회사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86000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286000"/>
            <a:ext cx="8046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4000+ (상장사·금융·공공 대부분)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32004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매년 심사 대응 비용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743200"/>
            <a:ext cx="80467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743200"/>
            <a:ext cx="8046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회사당 5천만 ~ 3억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지금 대응 방법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200400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200400"/>
            <a:ext cx="8046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사람 · Excel · 반복 노동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AI 자동화 시장 규모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657600"/>
            <a:ext cx="80467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657600"/>
            <a:ext cx="8046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2000억+ (국내 아직 없음)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1480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우리 kit 재활용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4114800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4114800"/>
            <a:ext cx="8046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plugins/ai_rag/ + plugins/exec_offline/ + approval-gate 즉시 활용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32004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720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MicroICM 재활용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4572000"/>
            <a:ext cx="80467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572000"/>
            <a:ext cx="8046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K-SOX 논리 유사 · 그대로 확장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0292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KPMG 못 하는 이유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5029200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5029200"/>
            <a:ext cx="8046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감사법인 = 정보보호 인증 없음 · 다른 시장 (KISA·개인정보위)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86400"/>
            <a:ext cx="32004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8640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141A2E"/>
                </a:solidFill>
                <a:latin typeface="맑은 고딕"/>
              </a:rPr>
              <a:t>사용자 유일 강점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5486400"/>
            <a:ext cx="80467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5486400"/>
            <a:ext cx="80467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141A2E"/>
                </a:solidFill>
                <a:latin typeface="맑은 고딕"/>
              </a:rPr>
              <a:t>ISMS-P 3년 실무 · 통제·감사·심사 뉘앙스 국내 몇 안 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1FB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이번 주 액션 · ① 오늘 밤 종이 1장 3줄 정리 · ② 내일 ISMS-P 심사원 1명에게 문자 · ③ 답 오면 시작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7 · ISMS-P Copilot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PART 8 · Bible 13 organs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맑은 고딕"/>
              </a:rPr>
              <a:t>지금 RMS 사용 organ · 미개척 organ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200400" cy="346165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Bible organ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280160"/>
            <a:ext cx="2286000" cy="346165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280160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지금 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5760720" cy="346165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280160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다음 액션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26325"/>
            <a:ext cx="32004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26325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뇌 (Reasoning)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626325"/>
            <a:ext cx="22860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626325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FF8C00"/>
                </a:solidFill>
                <a:latin typeface="맑은 고딕"/>
              </a:rPr>
              <a:t>부분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26325"/>
            <a:ext cx="576072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626325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Multi-Agent 붙이면 강화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72491"/>
            <a:ext cx="32004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972491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기억 (Memory)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1972491"/>
            <a:ext cx="22860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1972491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E73C3C"/>
                </a:solidFill>
                <a:latin typeface="맑은 고딕"/>
              </a:rPr>
              <a:t>미사용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972491"/>
            <a:ext cx="576072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1972491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mem0 넣으면 실현 (Phase 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318657"/>
            <a:ext cx="32004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318657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생성 (Generation)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318657"/>
            <a:ext cx="22860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2318657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FF8C00"/>
                </a:solidFill>
                <a:latin typeface="맑은 고딕"/>
              </a:rPr>
              <a:t>부분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318657"/>
            <a:ext cx="576072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2318657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감사 조서 자동 생성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64822"/>
            <a:ext cx="32004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64822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연결 (Connectivity)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2664822"/>
            <a:ext cx="22860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2664822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E73C3C"/>
                </a:solidFill>
                <a:latin typeface="맑은 고딕"/>
              </a:rPr>
              <a:t>미사용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664822"/>
            <a:ext cx="576072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2664822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MemGraphRAG + GNN (Phase 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010988"/>
            <a:ext cx="32004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010988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지각 (Perception)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3010988"/>
            <a:ext cx="22860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3010988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FB25A"/>
                </a:solidFill>
                <a:latin typeface="맑은 고딕"/>
              </a:rPr>
              <a:t>사용 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010988"/>
            <a:ext cx="576072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3010988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AI CCTV · 부서 IP 사용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357154"/>
            <a:ext cx="32004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357154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추론 (Reasoning)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3357154"/>
            <a:ext cx="22860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3357154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FF8C00"/>
                </a:solidFill>
                <a:latin typeface="맑은 고딕"/>
              </a:rPr>
              <a:t>부분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357154"/>
            <a:ext cx="576072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3357154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Test-Time Compute 붙이면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703319"/>
            <a:ext cx="32004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703319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에너지 (Energy)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3703319"/>
            <a:ext cx="22860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3703319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E73C3C"/>
                </a:solidFill>
                <a:latin typeface="맑은 고딕"/>
              </a:rPr>
              <a:t>미사용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703319"/>
            <a:ext cx="576072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3703319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SLM + vLLM (Phase 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049485"/>
            <a:ext cx="32004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049485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신뢰 (Trust)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4049485"/>
            <a:ext cx="22860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4049485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FB25A"/>
                </a:solidFill>
                <a:latin typeface="맑은 고딕"/>
              </a:rPr>
              <a:t>사용 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4049485"/>
            <a:ext cx="576072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0" y="4049485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Evidence Ledger · Audit Trail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395651"/>
            <a:ext cx="32004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395651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행위 (Agency)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0" y="4395651"/>
            <a:ext cx="22860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0" y="4395651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FB25A"/>
                </a:solidFill>
                <a:latin typeface="맑은 고딕"/>
              </a:rPr>
              <a:t>사용 중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4395651"/>
            <a:ext cx="576072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4395651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Agentic AI · Computer Use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741817"/>
            <a:ext cx="32004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741817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체화 (Embodiment)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0" y="4741817"/>
            <a:ext cx="22860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0" y="4741817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FF8C00"/>
                </a:solidFill>
                <a:latin typeface="맑은 고딕"/>
              </a:rPr>
              <a:t>부분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4741817"/>
            <a:ext cx="576072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0" y="4741817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Physical AI Safety RMS (Phase 3)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5087982"/>
            <a:ext cx="32004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087982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시뮬 (Simulation)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0" y="5087982"/>
            <a:ext cx="22860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0" y="5087982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E73C3C"/>
                </a:solidFill>
                <a:latin typeface="맑은 고딕"/>
              </a:rPr>
              <a:t>미사용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0" y="5087982"/>
            <a:ext cx="576072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0" y="5087982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Digital Twin · Risk Twin (Phase 3)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434148"/>
            <a:ext cx="32004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434148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AI 문명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0" y="5434148"/>
            <a:ext cx="228600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0" y="5434148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E73C3C"/>
                </a:solidFill>
                <a:latin typeface="맑은 고딕"/>
              </a:rPr>
              <a:t>미사용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5434148"/>
            <a:ext cx="5760720" cy="346165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0" y="5434148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Federated Learning (Phase 4)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780314"/>
            <a:ext cx="32004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5780314"/>
            <a:ext cx="32004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진화 (Evolution)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0" y="5780314"/>
            <a:ext cx="228600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0" y="5780314"/>
            <a:ext cx="228600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E73C3C"/>
                </a:solidFill>
                <a:latin typeface="맑은 고딕"/>
              </a:rPr>
              <a:t>미사용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5780314"/>
            <a:ext cx="5760720" cy="3461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0" y="5780314"/>
            <a:ext cx="5760720" cy="34616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141A2E"/>
                </a:solidFill>
                <a:latin typeface="맑은 고딕"/>
              </a:rPr>
              <a:t>Self-Improving AutoCheck (Phase 4)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현재 사용: 3 organ (지각·신뢰·행위) · 미개척: 6 organ · 부분: 4 organ · Phase 1~4 로 다 채움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PART 8 · Bible 매핑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다음 액션 (사용자 선택)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899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  <a:latin typeface="맑은 고딕"/>
              </a:rPr>
              <a:t>이 40+ 슬라이드 중 spark 되는 것 짚어주세요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64008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640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1A2B4E"/>
                </a:solidFill>
                <a:latin typeface="맑은 고딕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377440"/>
            <a:ext cx="23774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377440"/>
            <a:ext cx="2377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산업 하나 심층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377440"/>
            <a:ext cx="7680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377440"/>
            <a:ext cx="76809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16 산업 중 하나 spark → 3배 depth (구현 코드·아키텍처·비용)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64008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640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1A2B4E"/>
                </a:solidFill>
                <a:latin typeface="맑은 고딕"/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971800"/>
            <a:ext cx="23774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2377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기술 카테고리 심층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971800"/>
            <a:ext cx="7680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971800"/>
            <a:ext cx="76809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14 카테고리 중 하나 spark → mechanism 상세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64008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640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1A2B4E"/>
                </a:solidFill>
                <a:latin typeface="맑은 고딕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566160"/>
            <a:ext cx="23774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566160"/>
            <a:ext cx="2377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Phase 1 실행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3566160"/>
            <a:ext cx="7680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566160"/>
            <a:ext cx="76809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mem0 · MemGraphRAG · LangGraph 즉시 시작 (3개월)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64008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160520"/>
            <a:ext cx="640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1A2B4E"/>
                </a:solidFill>
                <a:latin typeface="맑은 고딕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4160520"/>
            <a:ext cx="23774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4160520"/>
            <a:ext cx="2377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AI ISMS-P Copilot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160520"/>
            <a:ext cx="7680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160520"/>
            <a:ext cx="76809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사용자 개인 강점 · 이번 주 검증 (문자 3명)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754880"/>
            <a:ext cx="64008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640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1A2B4E"/>
                </a:solidFill>
                <a:latin typeface="맑은 고딕"/>
              </a:rPr>
              <a:t>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4754880"/>
            <a:ext cx="23774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754880"/>
            <a:ext cx="2377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유안타 RFP 응답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4754880"/>
            <a:ext cx="7680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4754880"/>
            <a:ext cx="76809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K-SOX + ISMS-P + Physical AI 종합 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349240"/>
            <a:ext cx="64008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349240"/>
            <a:ext cx="640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1A2B4E"/>
                </a:solidFill>
                <a:latin typeface="맑은 고딕"/>
              </a:rPr>
              <a:t>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5349240"/>
            <a:ext cx="23774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5349240"/>
            <a:ext cx="237744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A2B4E"/>
                </a:solidFill>
                <a:latin typeface="맑은 고딕"/>
              </a:rPr>
              <a:t>새 산업 스캔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5349240"/>
            <a:ext cx="7680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0" y="5349240"/>
            <a:ext cx="768096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141A2E"/>
                </a:solidFill>
                <a:latin typeface="맑은 고딕"/>
              </a:rPr>
              <a:t>부동산·헬스케어·법률·게임 등 새 도메인 요청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126480"/>
            <a:ext cx="107899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아이티센 코어 ESG 사업부  ·  2026-07-01  ·  MicroRisk-X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