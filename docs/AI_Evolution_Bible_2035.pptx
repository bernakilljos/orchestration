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사례: IBM NorthPole는 추론 작업에서 기존 GPU 대비 전력 효율을 크게 끌어올린 신경모방 칩으로 발표됐고, Cortical Labs는 배양한 인간 뇌세포로 신호를 학습시키는 'CL1'을 상용 단위로 내놓았습니다. 둘 다 '더 큰 칩'이 아니라 '뇌를 닮은 칩'으로 방향을 튼 사례입니다.
Gartner·Hype Cycle: Hype Cycle 상 Neuromorphic은 '기대 정점'을 지나 실증 단계 진입 중이며, Wetware·BCI는 아직 '혁신 태동기'로 5~10년 관점의 베팅입니다.
Q&amp;A:
Q. GPU는 곧 사라지나요?
A. 아닙니다. 대규모 '학습'은 당분간 GPU가 주력입니다. 바뀌는 건 '추론'을 더 싸고 효율적인 칩으로 옮기는 흐름입니다.
Q. Wetware가 무섭게 들려요.
A. 현재는 단순 신호 학습 수준입니다. '진짜 의식'과는 거리가 멀고, 윤리·안전 규제가 함께 논의되고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사례: Mem0는 YC를 거치며 '에이전트에게 장기기억을 붙이는 표준 계층'으로 빠르게 채택됐고, LangChain·Vector DB 생태계는 기업 문서를 AI가 기억처럼 다루게 하는 RAG 파이프라인을 사실상 기본기로 만들었습니다.
Gartner·Hype Cycle: RAG·Vector DB는 이미 '생산성 안정기' 초입, mem0류 장기기억은 '기대 정점' 부근, Wetware 메모리는 장기 관망 대상입니다.
Q&amp;A:
Q. RAG와 Long-term Memory 차이는?
A. RAG는 매번 외부에서 찾아오는 것, 장기기억은 AI가 스스로 안에 새겨두고 다음에 알아서 떠올리는 것입니다.
Q. 기억하면 개인정보가 걱정돼요.
A. 그래서 신뢰(Trust) 가족의 PET·접근통제와 함께 설계해야 합니다. 기억은 항상 보안과 한 쌍입니다.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사례: Inception의 Mercury 계열은 텍스트를 디퓨전 방식으로 생성해 속도·비용을 크게 낮췄고, 오픈소스 LLaDA-8B는 'LLM도 디퓨전으로 만들 수 있다'를 공개 검증했습니다. 한 글자씩 쓰던 패러다임에 처음으로 균열이 생긴 사례입니다.
Gartner·Hype Cycle: Transformer·LLM은 '생산성 안정기', Diffusion LLM은 막 떠오른 '혁신 트리거', Large Action Model은 에이전트와 함께 급상승 중입니다.
Q&amp;A:
Q. Transformer가 그렇게 중요한가요?
A. 네. 지금 거의 모든 생성 AI의 공통 뼈대입니다. 디퓨전·하이브리드도 이 위에서 발전합니다.
Q. Large Action Model이 뭔가요?
A. '요약해줘'에 글로 답하는 게 LLM이라면, 직접 버튼을 누르고 양식을 채워 '처리 완료'까지 하는 게 LAM입니다.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사례: Lightmatter의 Passage는 칩 위에 빛 통로를 깔아 대역폭을 끌어올렸고, Ayar Labs는 GPU에 광 입출력을 직접 붙이는 TeraPHY로 '전기 → 빛' 전환을 상용 경로에 올렸습니다.
Gartner·Hype Cycle: NVLink·InfiniBand는 '안정기', Silicon Photonics는 '기대 정점' 직전의 급상승, Edge AI는 실전 확산 단계입니다.
Q&amp;A:
Q. 왜 GPU만 늘리면 안 되나요?
A. 길이 막히면 차를 늘려도 정체만 심해집니다. 통신이 안 풀리면 GPU 추가는 낭비가 됩니다.
Q. Edge AI는 왜 연결 가족인가요?
A. '어디서 처리하느냐'가 연결 구조를 바꾸기 때문입니다. 현장 처리는 통신 병목 자체를 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사례: Fei-Fei Li가 세운 World Labs는 한 장의 이미지에서 걸어다닐 수 있는 3D 세계를 만드는 'Marble'을 공개하며 거액의 투자를 받았습니다. '본다'를 넘어 '공간을 구성한다'로 지각이 진화한 대표 사례입니다.
Gartner·Hype Cycle: OCR·Object Detection은 '안정기', VLM은 빠른 확산, Spatial AI·World Model·VLA는 '기대 정점'을 향해 급상승 중입니다.
Q&amp;A:
Q. VLM과 VLA 차이는?
A. VLM은 '보고 설명'까지, VLA는 '보고 설명하고 직접 행동'까지입니다. VLA가 로봇의 핵심입니다.
Q. World Model이 왜 중요한가요?
A. 규칙을 일일이 안 가르쳐도, 세상이 어떻게 움직이는지 알면 처음 보는 상황에도 대처할 수 있기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사례: OpenAI o-series·DeepSeek R1은 '답 전에 추론'으로 난도 높은 문제 정확도를 끌어올렸고, 양자 쪽에서는 Allstate가 D-Wave 기반 최적화를 실제 운영에 적용하며 QUBO형 조합 최적화의 양자 우위 검증이 시작됐습니다.
Gartner·Hype Cycle: Reasoning Model은 가파른 상승 후 안정화 진입, NISQ 양자는 '기대 정점'에서 옥석 가리기, Causal·Neuro-Symbolic은 장기 유망주입니다.
Q&amp;A:
Q. 양자가 AI를 다 대체하나요?
A. 아닙니다. 양자는 '조합 최적화' 같은 특정 문제에 강할 뿐, 글 생성·예측은 여전히 기존 AI 몫입니다.
Q. Reasoning Model은 항상 더 좋나요?
A. 어려운 문제엔 유리하지만 느리고 비쌉니다. 쉬운 질문엔 일반 모델이 더 효율적입니다.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사례: Microsoft는 폐쇄됐던 Three Mile Island 원전 재가동 계약으로 전력을 확보했고, Google은 Kairos, Meta는 Oklo 등과 소형 원전 공급 계약을 맺으며 '전기 직접 조달'을 빅테크 전략의 한 축으로 올렸습니다.
Gartner·Hype Cycle: SMR은 정책·인허가 변수로 '기대와 현실' 사이, 전력 효율 칩은 실전 확산, 핵융합은 장기 관점의 베팅입니다.
Q&amp;A:
Q. 원전은 위험하지 않나요?
A. SMR은 소형·모듈형으로 안전설계를 강화한 방식입니다. 다만 인허가·주민 수용성이 실제 변수입니다.
Q. 핵융합은 언제 되나요?
A. 실험적 진전은 있지만 상용 전력망 투입은 2030년대 후반 이후로 보는 시각이 많습니다.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사례: Adobe 주도의 C2PA는 콘텐츠에 '출처 메타데이터'를 암호로 봉인하는 표준으로 확산 중이고, NIST는 양자내성 암호 표준(FIPS 203/204/205)을 확정해 기관·기업의 PQC 전환을 촉발했습니다.
Gartner·Hype Cycle: Zero Trust·Confidential Computing은 실전 확산, C2PA·PQC는 규제·표준에 힘입어 빠르게 상승, 동형암호·ZKP는 성능 과제로 장기 관망입니다.
Q&amp;A:
Q. 워터마크로 충분하지 않나요?
A. 워터마크는 잘리거나 지워집니다. C2PA는 암호 서명이라 변조하면 검증에서 바로 드러납니다.
Q. PQC를 지금 준비해야 하나요?
A. 네. '지금 훔쳐 두고 나중에 양자로 푼다'는 위협이 있어, 민감 데이터는 미리 전환하는 게 안전합니다.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사례: Anthropic의 Claude Code는 사람처럼 코드베이스를 돌아다니며 작업을 끝내는 에이전트로 빠르게 자리 잡았고, MCP는 '에이전트-도구' 연결 표준으로 업계가 함께 채택하는 흐름을 만들었습니다.
Gartner·Hype Cycle: Tool Calling·Workflow는 실전 확산, Multi-Agent·Autonomous Agent는 '기대 정점' 한복판, A2A·AI Society는 표준 형성 초기입니다.
Q&amp;A:
Q. RPA랑 에이전트가 같은 건가요?
A. 아닙니다. RPA는 정해진 규칙을 반복하고, 에이전트는 상황을 판단해 다음 행동을 스스로 정합니다. 둘은 함께 쓰일 수 있습니다.
Q. 자율 에이전트는 위험하지 않나요?
A. 그래서 권한 제한·감사 로그·사람 승인 단계(Human-in-the-loop)를 함께 설계합니다. 신뢰 가족과 한 쌍입니다.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사례: Figure·Apptronik은 공장 작업을 수행하는 휴머노이드를 실증 라인에 투입했고, Tesla Optimus·LG CLOiD는 가정·산업용 로봇을 동시에 겨냥하며 'Robot Foundation Model + 휴머노이드' 경쟁을 본격화했습니다.
Gartner·Hype Cycle: Physical AI·Humanoid는 '기대 정점'에 가까운 과열 구간, ROS2·Fleet Management는 실전 도구로 안정화 중입니다.
Q&amp;A:
Q. 휴머노이드가 정말 필요한가요?
A. 사람용으로 만들어진 환경(계단·문·도구)을 그대로 쓰려면 인간형이 유리합니다. 그래서 범용 로봇은 휴머노이드로 수렴하는 흐름입니다.
Q. Robot Blackbox가 뭔가요?
A. 자동차 블랙박스처럼, 로봇이 사고를 낸 직전·직후를 자동 기록해 '무슨 일이 있었는지'를 증거로 남기는 장치입니다.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사례: NVIDIA Omniverse·Cosmos는 로봇·자율주행을 가상 세계에서 훈련시키는 표준 플랫폼으로 자리 잡았고, 자율주행 업계는 실제 도로 주행보다 시뮬레이션 주행거리를 훨씬 크게 쌓는 방식으로 안전을 검증합니다.
Gartner·Hype Cycle: Physics Simulation·Synthetic Data는 실전 확산, Digital Twin은 산업별 확장 중, Risk Twin은 신규 응용으로 부상 초기입니다.
Q&amp;A:
Q. 가짜 데이터로 배워도 되나요?
A. 현실 데이터가 부족하거나 위험한 상황(사고 장면 등)은 합성 데이터가 오히려 안전하고 풍부한 학습 자료가 됩니다.
Q. Digital Twin과 Risk Twin 차이는?
A. Digital Twin은 설비를 그대로 복제한 것, Risk Twin은 거기에 '위험 시나리오'를 입혀 사고를 미리 실험하는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사례: Salesforce Agentforce·Microsoft Copilot·ServiceNow는 'AI 직원'을 기업 시스템에 정식 배치하는 플랫폼으로 경쟁하며, 사람 조직 옆에 'AI 조직'을 함께 운영하는 그림을 현실로 끌어왔습니다.
Gartner·Hype Cycle: AI Workforce는 빠른 상승, AI Organization·OS는 형성 초기, AI Economy·City는 장기 비전 단계입니다.
Q&amp;A:
Q. AI가 직원을 대체하나요?
A. 대체보다 '증강'이 현실적입니다. 반복·대량 처리는 AI가, 판단·책임은 사람이 맡는 분업으로 갑니다.
Q. AI OS가 그냥 소프트웨어인가요?
A. 여러 에이전트의 권한·기억·맥락·통신을 한곳에서 관리한다는 점에서 '에이전트들의 운영체제'에 가깝습니다.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사례: Google의 AI co-scientist, Sakana AI의 자동 연구 에이전트는 가설 수립부터 실험 설계까지 AI가 주도하는 'AI Scientist'를 실험적으로 선보였고, AutoML은 이미 모델 설계·튜닝을 자동화하며 산업에 자리 잡았습니다.
Gartner·Hype Cycle: AutoML은 안정기, Self-Improving·AI Scientist는 '혁신 태동~기대 정점' 구간, Recursive 자기개선은 안전·정렬 논의가 핵심인 장기 주제입니다.
Q&amp;A:
Q. AI가 사람을 추월하나요?
A. 특정 영역(코딩·최적화·연구 보조)에서는 이미 빠릅니다. 다만 '무엇을 할지'를 정하는 가치판단은 사람의 몫으로 남습니다.
Q. 자기개선을 어떻게 통제하나요?
A. 변경 이력·감사 로그·사람 승인과 정렬(Alignment) 연구로 '왜·어떻게 바뀌었는지'를 항상 검증 가능하게 만드는 것이 핵심입니다.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slideLayout" Target="../slideLayouts/slideLayout1.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A"/>
        </a:solidFill>
      </p:bgPr>
    </p:bg>
    <p:spTree>
      <p:nvGrpSpPr>
        <p:cNvPr id="1" name=""/>
        <p:cNvGrpSpPr/>
        <p:nvPr/>
      </p:nvGrpSpPr>
      <p:grpSpPr>
        <a:xfrm>
          <a:off x="0" y="0"/>
          <a:ext cx="0" cy="0"/>
          <a:chOff x="0" y="0"/>
          <a:chExt cx="0" cy="0"/>
        </a:xfrm>
      </p:grpSpPr>
      <p:pic>
        <p:nvPicPr>
          <p:cNvPr id="2" name="Image 0" descr="assets/hero.png">    </p:cNvPr>
          <p:cNvPicPr>
            <a:picLocks noChangeAspect="1"/>
          </p:cNvPicPr>
          <p:nvPr/>
        </p:nvPicPr>
        <p:blipFill>
          <a:blip r:embed="rId1"/>
          <a:stretch>
            <a:fillRect/>
          </a:stretch>
        </p:blipFill>
        <p:spPr>
          <a:xfrm>
            <a:off x="7145870" y="274320"/>
            <a:ext cx="4588625" cy="6309360"/>
          </a:xfrm>
          <a:prstGeom prst="rect">
            <a:avLst/>
          </a:prstGeom>
        </p:spPr>
      </p:pic>
      <p:sp>
        <p:nvSpPr>
          <p:cNvPr id="3" name="Text 0"/>
          <p:cNvSpPr/>
          <p:nvPr/>
        </p:nvSpPr>
        <p:spPr>
          <a:xfrm>
            <a:off x="685800" y="1234440"/>
            <a:ext cx="5852160" cy="365760"/>
          </a:xfrm>
          <a:prstGeom prst="rect">
            <a:avLst/>
          </a:prstGeom>
          <a:noFill/>
          <a:ln/>
        </p:spPr>
        <p:txBody>
          <a:bodyPr wrap="square" lIns="0" tIns="0" rIns="0" bIns="0" rtlCol="0" anchor="ctr"/>
          <a:lstStyle/>
          <a:p>
            <a:pPr indent="0" marL="0">
              <a:buNone/>
            </a:pPr>
            <a:r>
              <a:rPr lang="en-US" sz="1300" b="1" spc="300" kern="0" dirty="0">
                <a:solidFill>
                  <a:srgbClr val="8493AE"/>
                </a:solidFill>
                <a:latin typeface="Consolas" pitchFamily="34" charset="0"/>
                <a:ea typeface="Consolas" pitchFamily="34" charset="-122"/>
                <a:cs typeface="Consolas" pitchFamily="34" charset="-120"/>
              </a:rPr>
              <a:t>AI EVOLUTION BIBLE · 2035</a:t>
            </a:r>
            <a:endParaRPr lang="en-US" sz="1300" dirty="0"/>
          </a:p>
        </p:txBody>
      </p:sp>
      <p:sp>
        <p:nvSpPr>
          <p:cNvPr id="4" name="Text 1"/>
          <p:cNvSpPr/>
          <p:nvPr/>
        </p:nvSpPr>
        <p:spPr>
          <a:xfrm>
            <a:off x="658368" y="1783080"/>
            <a:ext cx="6400800" cy="914400"/>
          </a:xfrm>
          <a:prstGeom prst="rect">
            <a:avLst/>
          </a:prstGeom>
          <a:noFill/>
          <a:ln/>
        </p:spPr>
        <p:txBody>
          <a:bodyPr wrap="square" lIns="0" tIns="0" rIns="0" bIns="0" rtlCol="0" anchor="ctr"/>
          <a:lstStyle/>
          <a:p>
            <a:pPr algn="l" indent="0" marL="0">
              <a:buNone/>
            </a:pPr>
            <a:r>
              <a:rPr lang="en-US" sz="4800" b="1" dirty="0">
                <a:solidFill>
                  <a:srgbClr val="EAF0FF"/>
                </a:solidFill>
                <a:latin typeface="Malgun Gothic" pitchFamily="34" charset="0"/>
                <a:ea typeface="Malgun Gothic" pitchFamily="34" charset="-122"/>
                <a:cs typeface="Malgun Gothic" pitchFamily="34" charset="-120"/>
              </a:rPr>
              <a:t>AI는 </a:t>
            </a:r>
            <a:pPr algn="l" indent="0" marL="0">
              <a:buNone/>
            </a:pPr>
            <a:r>
              <a:rPr lang="en-US" sz="4800" b="1" dirty="0">
                <a:solidFill>
                  <a:srgbClr val="2DD4BF"/>
                </a:solidFill>
                <a:latin typeface="Malgun Gothic" pitchFamily="34" charset="0"/>
                <a:ea typeface="Malgun Gothic" pitchFamily="34" charset="-122"/>
                <a:cs typeface="Malgun Gothic" pitchFamily="34" charset="-120"/>
              </a:rPr>
              <a:t>몸을 얻는다</a:t>
            </a:r>
            <a:pPr algn="l" indent="0" marL="0">
              <a:buNone/>
            </a:pPr>
            <a:r>
              <a:rPr lang="en-US" sz="4800" b="1" dirty="0">
                <a:solidFill>
                  <a:srgbClr val="EAF0FF"/>
                </a:solidFill>
                <a:latin typeface="Malgun Gothic" pitchFamily="34" charset="0"/>
                <a:ea typeface="Malgun Gothic" pitchFamily="34" charset="-122"/>
                <a:cs typeface="Malgun Gothic" pitchFamily="34" charset="-120"/>
              </a:rPr>
              <a:t>.</a:t>
            </a:r>
            <a:endParaRPr lang="en-US" sz="4800" dirty="0"/>
          </a:p>
        </p:txBody>
      </p:sp>
      <p:sp>
        <p:nvSpPr>
          <p:cNvPr id="5" name="Text 2"/>
          <p:cNvSpPr/>
          <p:nvPr/>
        </p:nvSpPr>
        <p:spPr>
          <a:xfrm>
            <a:off x="658368" y="2697480"/>
            <a:ext cx="6400800" cy="914400"/>
          </a:xfrm>
          <a:prstGeom prst="rect">
            <a:avLst/>
          </a:prstGeom>
          <a:noFill/>
          <a:ln/>
        </p:spPr>
        <p:txBody>
          <a:bodyPr wrap="square" lIns="0" tIns="0" rIns="0" bIns="0" rtlCol="0" anchor="ctr"/>
          <a:lstStyle/>
          <a:p>
            <a:pPr algn="l" indent="0" marL="0">
              <a:buNone/>
            </a:pPr>
            <a:r>
              <a:rPr lang="en-US" sz="4800" b="1" dirty="0">
                <a:solidFill>
                  <a:srgbClr val="EAF0FF"/>
                </a:solidFill>
                <a:latin typeface="Malgun Gothic" pitchFamily="34" charset="0"/>
                <a:ea typeface="Malgun Gothic" pitchFamily="34" charset="-122"/>
                <a:cs typeface="Malgun Gothic" pitchFamily="34" charset="-120"/>
              </a:rPr>
              <a:t>13가족 진화 지도</a:t>
            </a:r>
            <a:endParaRPr lang="en-US" sz="4800" dirty="0"/>
          </a:p>
        </p:txBody>
      </p:sp>
      <p:sp>
        <p:nvSpPr>
          <p:cNvPr id="6" name="Text 3"/>
          <p:cNvSpPr/>
          <p:nvPr/>
        </p:nvSpPr>
        <p:spPr>
          <a:xfrm>
            <a:off x="685800" y="3794760"/>
            <a:ext cx="5852160" cy="1188720"/>
          </a:xfrm>
          <a:prstGeom prst="rect">
            <a:avLst/>
          </a:prstGeom>
          <a:noFill/>
          <a:ln/>
        </p:spPr>
        <p:txBody>
          <a:bodyPr wrap="square" lIns="0" tIns="0" rIns="0" bIns="0" rtlCol="0" anchor="ctr"/>
          <a:lstStyle/>
          <a:p>
            <a:pPr indent="0" marL="0">
              <a:lnSpc>
                <a:spcPct val="125000"/>
              </a:lnSpc>
              <a:buNone/>
            </a:pPr>
            <a:r>
              <a:rPr lang="en-US" sz="1450" dirty="0">
                <a:solidFill>
                  <a:srgbClr val="B7C4DC"/>
                </a:solidFill>
                <a:latin typeface="Malgun Gothic" pitchFamily="34" charset="0"/>
                <a:ea typeface="Malgun Gothic" pitchFamily="34" charset="-122"/>
                <a:cs typeface="Malgun Gothic" pitchFamily="34" charset="-120"/>
              </a:rPr>
              <a:t>계산기에서 시작한 AI가 뇌·기억·감각·몸·신뢰를 차례로 얻어 하나의 유기체로 진화합니다. 사람 몸 위에 13개 기술 가족을 올려, 지금 어디까지 왔고 2035년 어디로 가는지 한눈에 봅니다.</a:t>
            </a:r>
            <a:endParaRPr lang="en-US" sz="1450" dirty="0"/>
          </a:p>
        </p:txBody>
      </p:sp>
      <p:sp>
        <p:nvSpPr>
          <p:cNvPr id="7" name="Shape 4"/>
          <p:cNvSpPr/>
          <p:nvPr/>
        </p:nvSpPr>
        <p:spPr>
          <a:xfrm>
            <a:off x="685800" y="5166360"/>
            <a:ext cx="1266444" cy="384048"/>
          </a:xfrm>
          <a:prstGeom prst="roundRect">
            <a:avLst>
              <a:gd name="adj" fmla="val 50000"/>
            </a:avLst>
          </a:prstGeom>
          <a:solidFill>
            <a:srgbClr val="121A2E"/>
          </a:solidFill>
          <a:ln w="12700">
            <a:solidFill>
              <a:srgbClr val="2A3756"/>
            </a:solidFill>
            <a:prstDash val="solid"/>
          </a:ln>
        </p:spPr>
      </p:sp>
      <p:sp>
        <p:nvSpPr>
          <p:cNvPr id="8" name="Text 5"/>
          <p:cNvSpPr/>
          <p:nvPr/>
        </p:nvSpPr>
        <p:spPr>
          <a:xfrm>
            <a:off x="685800" y="5166360"/>
            <a:ext cx="1266444" cy="384048"/>
          </a:xfrm>
          <a:prstGeom prst="rect">
            <a:avLst/>
          </a:prstGeom>
          <a:noFill/>
          <a:ln/>
        </p:spPr>
        <p:txBody>
          <a:bodyPr wrap="square" lIns="0" tIns="0" rIns="0" bIns="0" rtlCol="0" anchor="ctr"/>
          <a:lstStyle/>
          <a:p>
            <a:pPr algn="ctr" indent="0" marL="0">
              <a:buNone/>
            </a:pPr>
            <a:r>
              <a:rPr lang="en-US" sz="1050" dirty="0">
                <a:solidFill>
                  <a:srgbClr val="B7C4DC"/>
                </a:solidFill>
                <a:latin typeface="Consolas" pitchFamily="34" charset="0"/>
                <a:ea typeface="Consolas" pitchFamily="34" charset="-122"/>
                <a:cs typeface="Consolas" pitchFamily="34" charset="-120"/>
              </a:rPr>
              <a:t>13 FAMILIES</a:t>
            </a:r>
            <a:endParaRPr lang="en-US" sz="1050" dirty="0"/>
          </a:p>
        </p:txBody>
      </p:sp>
      <p:sp>
        <p:nvSpPr>
          <p:cNvPr id="9" name="Shape 6"/>
          <p:cNvSpPr/>
          <p:nvPr/>
        </p:nvSpPr>
        <p:spPr>
          <a:xfrm>
            <a:off x="2135124" y="5166360"/>
            <a:ext cx="1266444" cy="384048"/>
          </a:xfrm>
          <a:prstGeom prst="roundRect">
            <a:avLst>
              <a:gd name="adj" fmla="val 50000"/>
            </a:avLst>
          </a:prstGeom>
          <a:solidFill>
            <a:srgbClr val="121A2E"/>
          </a:solidFill>
          <a:ln w="12700">
            <a:solidFill>
              <a:srgbClr val="2A3756"/>
            </a:solidFill>
            <a:prstDash val="solid"/>
          </a:ln>
        </p:spPr>
      </p:sp>
      <p:sp>
        <p:nvSpPr>
          <p:cNvPr id="10" name="Text 7"/>
          <p:cNvSpPr/>
          <p:nvPr/>
        </p:nvSpPr>
        <p:spPr>
          <a:xfrm>
            <a:off x="2135124" y="5166360"/>
            <a:ext cx="1266444" cy="384048"/>
          </a:xfrm>
          <a:prstGeom prst="rect">
            <a:avLst/>
          </a:prstGeom>
          <a:noFill/>
          <a:ln/>
        </p:spPr>
        <p:txBody>
          <a:bodyPr wrap="square" lIns="0" tIns="0" rIns="0" bIns="0" rtlCol="0" anchor="ctr"/>
          <a:lstStyle/>
          <a:p>
            <a:pPr algn="ctr" indent="0" marL="0">
              <a:buNone/>
            </a:pPr>
            <a:r>
              <a:rPr lang="en-US" sz="1050" dirty="0">
                <a:solidFill>
                  <a:srgbClr val="B7C4DC"/>
                </a:solidFill>
                <a:latin typeface="Consolas" pitchFamily="34" charset="0"/>
                <a:ea typeface="Consolas" pitchFamily="34" charset="-122"/>
                <a:cs typeface="Consolas" pitchFamily="34" charset="-120"/>
              </a:rPr>
              <a:t>2026 – 2035</a:t>
            </a:r>
            <a:endParaRPr lang="en-US" sz="1050" dirty="0"/>
          </a:p>
        </p:txBody>
      </p:sp>
      <p:sp>
        <p:nvSpPr>
          <p:cNvPr id="11" name="Shape 8"/>
          <p:cNvSpPr/>
          <p:nvPr/>
        </p:nvSpPr>
        <p:spPr>
          <a:xfrm>
            <a:off x="3584448" y="5166360"/>
            <a:ext cx="1266444" cy="384048"/>
          </a:xfrm>
          <a:prstGeom prst="roundRect">
            <a:avLst>
              <a:gd name="adj" fmla="val 50000"/>
            </a:avLst>
          </a:prstGeom>
          <a:solidFill>
            <a:srgbClr val="121A2E"/>
          </a:solidFill>
          <a:ln w="12700">
            <a:solidFill>
              <a:srgbClr val="2A3756"/>
            </a:solidFill>
            <a:prstDash val="solid"/>
          </a:ln>
        </p:spPr>
      </p:sp>
      <p:sp>
        <p:nvSpPr>
          <p:cNvPr id="12" name="Text 9"/>
          <p:cNvSpPr/>
          <p:nvPr/>
        </p:nvSpPr>
        <p:spPr>
          <a:xfrm>
            <a:off x="3584448" y="5166360"/>
            <a:ext cx="1266444" cy="384048"/>
          </a:xfrm>
          <a:prstGeom prst="rect">
            <a:avLst/>
          </a:prstGeom>
          <a:noFill/>
          <a:ln/>
        </p:spPr>
        <p:txBody>
          <a:bodyPr wrap="square" lIns="0" tIns="0" rIns="0" bIns="0" rtlCol="0" anchor="ctr"/>
          <a:lstStyle/>
          <a:p>
            <a:pPr algn="ctr" indent="0" marL="0">
              <a:buNone/>
            </a:pPr>
            <a:r>
              <a:rPr lang="en-US" sz="1050" dirty="0">
                <a:solidFill>
                  <a:srgbClr val="B7C4DC"/>
                </a:solidFill>
                <a:latin typeface="Consolas" pitchFamily="34" charset="0"/>
                <a:ea typeface="Consolas" pitchFamily="34" charset="-122"/>
                <a:cs typeface="Consolas" pitchFamily="34" charset="-120"/>
              </a:rPr>
              <a:t>WHITE PAPER</a:t>
            </a:r>
            <a:endParaRPr lang="en-US" sz="1050" dirty="0"/>
          </a:p>
        </p:txBody>
      </p:sp>
      <p:sp>
        <p:nvSpPr>
          <p:cNvPr id="13" name="Shape 10"/>
          <p:cNvSpPr/>
          <p:nvPr/>
        </p:nvSpPr>
        <p:spPr>
          <a:xfrm>
            <a:off x="5033772" y="5166360"/>
            <a:ext cx="1874520" cy="384048"/>
          </a:xfrm>
          <a:prstGeom prst="roundRect">
            <a:avLst>
              <a:gd name="adj" fmla="val 50000"/>
            </a:avLst>
          </a:prstGeom>
          <a:solidFill>
            <a:srgbClr val="121A2E"/>
          </a:solidFill>
          <a:ln w="12700">
            <a:solidFill>
              <a:srgbClr val="2A3756"/>
            </a:solidFill>
            <a:prstDash val="solid"/>
          </a:ln>
        </p:spPr>
      </p:sp>
      <p:sp>
        <p:nvSpPr>
          <p:cNvPr id="14" name="Text 11"/>
          <p:cNvSpPr/>
          <p:nvPr/>
        </p:nvSpPr>
        <p:spPr>
          <a:xfrm>
            <a:off x="5033772" y="5166360"/>
            <a:ext cx="1874520" cy="384048"/>
          </a:xfrm>
          <a:prstGeom prst="rect">
            <a:avLst/>
          </a:prstGeom>
          <a:noFill/>
          <a:ln/>
        </p:spPr>
        <p:txBody>
          <a:bodyPr wrap="square" lIns="0" tIns="0" rIns="0" bIns="0" rtlCol="0" anchor="ctr"/>
          <a:lstStyle/>
          <a:p>
            <a:pPr algn="ctr" indent="0" marL="0">
              <a:buNone/>
            </a:pPr>
            <a:r>
              <a:rPr lang="en-US" sz="1050" dirty="0">
                <a:solidFill>
                  <a:srgbClr val="B7C4DC"/>
                </a:solidFill>
                <a:latin typeface="Consolas" pitchFamily="34" charset="0"/>
                <a:ea typeface="Consolas" pitchFamily="34" charset="-122"/>
                <a:cs typeface="Consolas" pitchFamily="34" charset="-120"/>
              </a:rPr>
              <a:t>13 ORGANS · 1 BODY</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1A"/>
        </a:solidFill>
      </p:bgPr>
    </p:bg>
    <p:spTree>
      <p:nvGrpSpPr>
        <p:cNvPr id="1" name=""/>
        <p:cNvGrpSpPr/>
        <p:nvPr/>
      </p:nvGrpSpPr>
      <p:grpSpPr>
        <a:xfrm>
          <a:off x="0" y="0"/>
          <a:ext cx="0" cy="0"/>
          <a:chOff x="0" y="0"/>
          <a:chExt cx="0" cy="0"/>
        </a:xfrm>
      </p:grpSpPr>
      <p:sp>
        <p:nvSpPr>
          <p:cNvPr id="2" name="Text 0"/>
          <p:cNvSpPr/>
          <p:nvPr/>
        </p:nvSpPr>
        <p:spPr>
          <a:xfrm>
            <a:off x="548640" y="457200"/>
            <a:ext cx="8229600" cy="548640"/>
          </a:xfrm>
          <a:prstGeom prst="rect">
            <a:avLst/>
          </a:prstGeom>
          <a:noFill/>
          <a:ln/>
        </p:spPr>
        <p:txBody>
          <a:bodyPr wrap="square" lIns="0" tIns="0" rIns="0" bIns="0" rtlCol="0" anchor="ctr"/>
          <a:lstStyle/>
          <a:p>
            <a:pPr indent="0" marL="0">
              <a:buNone/>
            </a:pPr>
            <a:r>
              <a:rPr lang="en-US" sz="3200" b="1" dirty="0">
                <a:solidFill>
                  <a:srgbClr val="EAF0FF"/>
                </a:solidFill>
                <a:latin typeface="Malgun Gothic" pitchFamily="34" charset="0"/>
                <a:ea typeface="Malgun Gothic" pitchFamily="34" charset="-122"/>
                <a:cs typeface="Malgun Gothic" pitchFamily="34" charset="-120"/>
              </a:rPr>
              <a:t>하나의 몸, 13개 기관</a:t>
            </a:r>
            <a:endParaRPr lang="en-US" sz="3200" dirty="0"/>
          </a:p>
        </p:txBody>
      </p:sp>
      <p:sp>
        <p:nvSpPr>
          <p:cNvPr id="3" name="Text 1"/>
          <p:cNvSpPr/>
          <p:nvPr/>
        </p:nvSpPr>
        <p:spPr>
          <a:xfrm>
            <a:off x="566928" y="1060704"/>
            <a:ext cx="10515600" cy="365760"/>
          </a:xfrm>
          <a:prstGeom prst="rect">
            <a:avLst/>
          </a:prstGeom>
          <a:noFill/>
          <a:ln/>
        </p:spPr>
        <p:txBody>
          <a:bodyPr wrap="square" lIns="0" tIns="0" rIns="0" bIns="0" rtlCol="0" anchor="ctr"/>
          <a:lstStyle/>
          <a:p>
            <a:pPr indent="0" marL="0">
              <a:buNone/>
            </a:pPr>
            <a:r>
              <a:rPr lang="en-US" sz="1350" dirty="0">
                <a:solidFill>
                  <a:srgbClr val="B7C4DC"/>
                </a:solidFill>
                <a:latin typeface="Malgun Gothic" pitchFamily="34" charset="0"/>
                <a:ea typeface="Malgun Gothic" pitchFamily="34" charset="-122"/>
                <a:cs typeface="Malgun Gothic" pitchFamily="34" charset="-120"/>
              </a:rPr>
              <a:t>기반(하드웨어)부터 가속(진화)까지 — 13개 기술 가족이 아래에서 위로 쌓여 하나의 유기체를 이룹니다.</a:t>
            </a:r>
            <a:endParaRPr lang="en-US" sz="1350" dirty="0"/>
          </a:p>
        </p:txBody>
      </p:sp>
      <p:sp>
        <p:nvSpPr>
          <p:cNvPr id="4" name="Shape 2"/>
          <p:cNvSpPr/>
          <p:nvPr/>
        </p:nvSpPr>
        <p:spPr>
          <a:xfrm>
            <a:off x="548640" y="1600200"/>
            <a:ext cx="11091672" cy="777240"/>
          </a:xfrm>
          <a:prstGeom prst="roundRect">
            <a:avLst>
              <a:gd name="adj" fmla="val 10588"/>
            </a:avLst>
          </a:prstGeom>
          <a:solidFill>
            <a:srgbClr val="121A2E"/>
          </a:solidFill>
          <a:ln w="12700">
            <a:solidFill>
              <a:srgbClr val="2A3756"/>
            </a:solidFill>
            <a:prstDash val="solid"/>
          </a:ln>
          <a:effectLst>
            <a:outerShdw sx="100000" sy="100000" kx="0" ky="0" algn="bl" rotWithShape="0" blurRad="114300" dist="38100" dir="5400000">
              <a:srgbClr val="000000">
                <a:alpha val="35000"/>
              </a:srgbClr>
            </a:outerShdw>
          </a:effectLst>
        </p:spPr>
      </p:sp>
      <p:sp>
        <p:nvSpPr>
          <p:cNvPr id="5" name="Text 3"/>
          <p:cNvSpPr/>
          <p:nvPr/>
        </p:nvSpPr>
        <p:spPr>
          <a:xfrm>
            <a:off x="777240" y="1600200"/>
            <a:ext cx="2286000" cy="777240"/>
          </a:xfrm>
          <a:prstGeom prst="rect">
            <a:avLst/>
          </a:prstGeom>
          <a:noFill/>
          <a:ln/>
        </p:spPr>
        <p:txBody>
          <a:bodyPr wrap="square" lIns="0" tIns="0" rIns="0" bIns="0" rtlCol="0" anchor="ctr"/>
          <a:lstStyle/>
          <a:p>
            <a:pPr indent="0" marL="0">
              <a:buNone/>
            </a:pPr>
            <a:r>
              <a:rPr lang="en-US" sz="1350" b="1" dirty="0">
                <a:solidFill>
                  <a:srgbClr val="B7C4DC"/>
                </a:solidFill>
                <a:latin typeface="Malgun Gothic" pitchFamily="34" charset="0"/>
                <a:ea typeface="Malgun Gothic" pitchFamily="34" charset="-122"/>
                <a:cs typeface="Malgun Gothic" pitchFamily="34" charset="-120"/>
              </a:rPr>
              <a:t>가속 · Acceleration</a:t>
            </a:r>
            <a:endParaRPr lang="en-US" sz="1350" dirty="0"/>
          </a:p>
        </p:txBody>
      </p:sp>
      <p:sp>
        <p:nvSpPr>
          <p:cNvPr id="6" name="Shape 4"/>
          <p:cNvSpPr/>
          <p:nvPr/>
        </p:nvSpPr>
        <p:spPr>
          <a:xfrm>
            <a:off x="3200400" y="1751076"/>
            <a:ext cx="475488" cy="475488"/>
          </a:xfrm>
          <a:prstGeom prst="ellipse">
            <a:avLst/>
          </a:prstGeom>
          <a:solidFill>
            <a:srgbClr val="18223A"/>
          </a:solidFill>
          <a:ln w="22225">
            <a:solidFill>
              <a:srgbClr val="A3E635"/>
            </a:solidFill>
            <a:prstDash val="solid"/>
          </a:ln>
        </p:spPr>
      </p:sp>
      <p:pic>
        <p:nvPicPr>
          <p:cNvPr id="7" name="Image 0" descr="assets/icon_evolution.png">    </p:cNvPr>
          <p:cNvPicPr>
            <a:picLocks noChangeAspect="1"/>
          </p:cNvPicPr>
          <p:nvPr/>
        </p:nvPicPr>
        <p:blipFill>
          <a:blip r:embed="rId1"/>
          <a:stretch>
            <a:fillRect/>
          </a:stretch>
        </p:blipFill>
        <p:spPr>
          <a:xfrm>
            <a:off x="3290743" y="1841419"/>
            <a:ext cx="294803" cy="294803"/>
          </a:xfrm>
          <a:prstGeom prst="rect">
            <a:avLst/>
          </a:prstGeom>
        </p:spPr>
      </p:pic>
      <p:sp>
        <p:nvSpPr>
          <p:cNvPr id="8" name="Text 5"/>
          <p:cNvSpPr/>
          <p:nvPr/>
        </p:nvSpPr>
        <p:spPr>
          <a:xfrm>
            <a:off x="3767328" y="1600200"/>
            <a:ext cx="1828800" cy="777240"/>
          </a:xfrm>
          <a:prstGeom prst="rect">
            <a:avLst/>
          </a:prstGeom>
          <a:noFill/>
          <a:ln/>
        </p:spPr>
        <p:txBody>
          <a:bodyPr wrap="square" lIns="0" tIns="0" rIns="0" bIns="0" rtlCol="0" anchor="ctr"/>
          <a:lstStyle/>
          <a:p>
            <a:pPr indent="0" marL="0">
              <a:buNone/>
            </a:pPr>
            <a:r>
              <a:rPr lang="en-US" sz="1400" b="1" dirty="0">
                <a:solidFill>
                  <a:srgbClr val="A3E635"/>
                </a:solidFill>
                <a:latin typeface="Consolas" pitchFamily="34" charset="0"/>
                <a:ea typeface="Consolas" pitchFamily="34" charset="-122"/>
                <a:cs typeface="Consolas" pitchFamily="34" charset="-120"/>
              </a:rPr>
              <a:t>13  </a:t>
            </a:r>
            <a:pPr indent="0" marL="0">
              <a:buNone/>
            </a:pPr>
            <a:r>
              <a:rPr lang="en-US" sz="1400" b="1" dirty="0">
                <a:solidFill>
                  <a:srgbClr val="EAF0FF"/>
                </a:solidFill>
                <a:latin typeface="Malgun Gothic" pitchFamily="34" charset="0"/>
                <a:ea typeface="Malgun Gothic" pitchFamily="34" charset="-122"/>
                <a:cs typeface="Malgun Gothic" pitchFamily="34" charset="-120"/>
              </a:rPr>
              <a:t>진화</a:t>
            </a:r>
            <a:endParaRPr lang="en-US" sz="1400" dirty="0"/>
          </a:p>
        </p:txBody>
      </p:sp>
      <p:sp>
        <p:nvSpPr>
          <p:cNvPr id="9" name="Shape 6"/>
          <p:cNvSpPr/>
          <p:nvPr/>
        </p:nvSpPr>
        <p:spPr>
          <a:xfrm>
            <a:off x="548640" y="2441448"/>
            <a:ext cx="11091672" cy="777240"/>
          </a:xfrm>
          <a:prstGeom prst="roundRect">
            <a:avLst>
              <a:gd name="adj" fmla="val 10588"/>
            </a:avLst>
          </a:prstGeom>
          <a:solidFill>
            <a:srgbClr val="121A2E"/>
          </a:solidFill>
          <a:ln w="12700">
            <a:solidFill>
              <a:srgbClr val="2A3756"/>
            </a:solidFill>
            <a:prstDash val="solid"/>
          </a:ln>
          <a:effectLst>
            <a:outerShdw sx="100000" sy="100000" kx="0" ky="0" algn="bl" rotWithShape="0" blurRad="114300" dist="38100" dir="5400000">
              <a:srgbClr val="000000">
                <a:alpha val="35000"/>
              </a:srgbClr>
            </a:outerShdw>
          </a:effectLst>
        </p:spPr>
      </p:sp>
      <p:sp>
        <p:nvSpPr>
          <p:cNvPr id="10" name="Text 7"/>
          <p:cNvSpPr/>
          <p:nvPr/>
        </p:nvSpPr>
        <p:spPr>
          <a:xfrm>
            <a:off x="777240" y="2441448"/>
            <a:ext cx="2286000" cy="777240"/>
          </a:xfrm>
          <a:prstGeom prst="rect">
            <a:avLst/>
          </a:prstGeom>
          <a:noFill/>
          <a:ln/>
        </p:spPr>
        <p:txBody>
          <a:bodyPr wrap="square" lIns="0" tIns="0" rIns="0" bIns="0" rtlCol="0" anchor="ctr"/>
          <a:lstStyle/>
          <a:p>
            <a:pPr indent="0" marL="0">
              <a:buNone/>
            </a:pPr>
            <a:r>
              <a:rPr lang="en-US" sz="1350" b="1" dirty="0">
                <a:solidFill>
                  <a:srgbClr val="B7C4DC"/>
                </a:solidFill>
                <a:latin typeface="Malgun Gothic" pitchFamily="34" charset="0"/>
                <a:ea typeface="Malgun Gothic" pitchFamily="34" charset="-122"/>
                <a:cs typeface="Malgun Gothic" pitchFamily="34" charset="-120"/>
              </a:rPr>
              <a:t>사회 · Society</a:t>
            </a:r>
            <a:endParaRPr lang="en-US" sz="1350" dirty="0"/>
          </a:p>
        </p:txBody>
      </p:sp>
      <p:sp>
        <p:nvSpPr>
          <p:cNvPr id="11" name="Shape 8"/>
          <p:cNvSpPr/>
          <p:nvPr/>
        </p:nvSpPr>
        <p:spPr>
          <a:xfrm>
            <a:off x="3200400" y="2592324"/>
            <a:ext cx="475488" cy="475488"/>
          </a:xfrm>
          <a:prstGeom prst="ellipse">
            <a:avLst/>
          </a:prstGeom>
          <a:solidFill>
            <a:srgbClr val="18223A"/>
          </a:solidFill>
          <a:ln w="22225">
            <a:solidFill>
              <a:srgbClr val="6366F1"/>
            </a:solidFill>
            <a:prstDash val="solid"/>
          </a:ln>
        </p:spPr>
      </p:sp>
      <p:pic>
        <p:nvPicPr>
          <p:cNvPr id="12" name="Image 1" descr="assets/icon_civilization.png">    </p:cNvPr>
          <p:cNvPicPr>
            <a:picLocks noChangeAspect="1"/>
          </p:cNvPicPr>
          <p:nvPr/>
        </p:nvPicPr>
        <p:blipFill>
          <a:blip r:embed="rId2"/>
          <a:stretch>
            <a:fillRect/>
          </a:stretch>
        </p:blipFill>
        <p:spPr>
          <a:xfrm>
            <a:off x="3290743" y="2682667"/>
            <a:ext cx="294803" cy="294803"/>
          </a:xfrm>
          <a:prstGeom prst="rect">
            <a:avLst/>
          </a:prstGeom>
        </p:spPr>
      </p:pic>
      <p:sp>
        <p:nvSpPr>
          <p:cNvPr id="13" name="Text 9"/>
          <p:cNvSpPr/>
          <p:nvPr/>
        </p:nvSpPr>
        <p:spPr>
          <a:xfrm>
            <a:off x="3767328" y="2441448"/>
            <a:ext cx="1828800" cy="777240"/>
          </a:xfrm>
          <a:prstGeom prst="rect">
            <a:avLst/>
          </a:prstGeom>
          <a:noFill/>
          <a:ln/>
        </p:spPr>
        <p:txBody>
          <a:bodyPr wrap="square" lIns="0" tIns="0" rIns="0" bIns="0" rtlCol="0" anchor="ctr"/>
          <a:lstStyle/>
          <a:p>
            <a:pPr indent="0" marL="0">
              <a:buNone/>
            </a:pPr>
            <a:r>
              <a:rPr lang="en-US" sz="1400" b="1" dirty="0">
                <a:solidFill>
                  <a:srgbClr val="6366F1"/>
                </a:solidFill>
                <a:latin typeface="Consolas" pitchFamily="34" charset="0"/>
                <a:ea typeface="Consolas" pitchFamily="34" charset="-122"/>
                <a:cs typeface="Consolas" pitchFamily="34" charset="-120"/>
              </a:rPr>
              <a:t>12  </a:t>
            </a:r>
            <a:pPr indent="0" marL="0">
              <a:buNone/>
            </a:pPr>
            <a:r>
              <a:rPr lang="en-US" sz="1400" b="1" dirty="0">
                <a:solidFill>
                  <a:srgbClr val="EAF0FF"/>
                </a:solidFill>
                <a:latin typeface="Malgun Gothic" pitchFamily="34" charset="0"/>
                <a:ea typeface="Malgun Gothic" pitchFamily="34" charset="-122"/>
                <a:cs typeface="Malgun Gothic" pitchFamily="34" charset="-120"/>
              </a:rPr>
              <a:t>AI 문명</a:t>
            </a:r>
            <a:endParaRPr lang="en-US" sz="1400" dirty="0"/>
          </a:p>
        </p:txBody>
      </p:sp>
      <p:sp>
        <p:nvSpPr>
          <p:cNvPr id="14" name="Shape 10"/>
          <p:cNvSpPr/>
          <p:nvPr/>
        </p:nvSpPr>
        <p:spPr>
          <a:xfrm>
            <a:off x="5532120" y="2592324"/>
            <a:ext cx="475488" cy="475488"/>
          </a:xfrm>
          <a:prstGeom prst="ellipse">
            <a:avLst/>
          </a:prstGeom>
          <a:solidFill>
            <a:srgbClr val="18223A"/>
          </a:solidFill>
          <a:ln w="22225">
            <a:solidFill>
              <a:srgbClr val="F43F8E"/>
            </a:solidFill>
            <a:prstDash val="solid"/>
          </a:ln>
        </p:spPr>
      </p:sp>
      <p:pic>
        <p:nvPicPr>
          <p:cNvPr id="15" name="Image 2" descr="assets/icon_trust.png">    </p:cNvPr>
          <p:cNvPicPr>
            <a:picLocks noChangeAspect="1"/>
          </p:cNvPicPr>
          <p:nvPr/>
        </p:nvPicPr>
        <p:blipFill>
          <a:blip r:embed="rId3"/>
          <a:stretch>
            <a:fillRect/>
          </a:stretch>
        </p:blipFill>
        <p:spPr>
          <a:xfrm>
            <a:off x="5622463" y="2682667"/>
            <a:ext cx="294803" cy="294803"/>
          </a:xfrm>
          <a:prstGeom prst="rect">
            <a:avLst/>
          </a:prstGeom>
        </p:spPr>
      </p:pic>
      <p:sp>
        <p:nvSpPr>
          <p:cNvPr id="16" name="Text 11"/>
          <p:cNvSpPr/>
          <p:nvPr/>
        </p:nvSpPr>
        <p:spPr>
          <a:xfrm>
            <a:off x="6099048" y="2441448"/>
            <a:ext cx="1828800" cy="777240"/>
          </a:xfrm>
          <a:prstGeom prst="rect">
            <a:avLst/>
          </a:prstGeom>
          <a:noFill/>
          <a:ln/>
        </p:spPr>
        <p:txBody>
          <a:bodyPr wrap="square" lIns="0" tIns="0" rIns="0" bIns="0" rtlCol="0" anchor="ctr"/>
          <a:lstStyle/>
          <a:p>
            <a:pPr indent="0" marL="0">
              <a:buNone/>
            </a:pPr>
            <a:r>
              <a:rPr lang="en-US" sz="1400" b="1" dirty="0">
                <a:solidFill>
                  <a:srgbClr val="F43F8E"/>
                </a:solidFill>
                <a:latin typeface="Consolas" pitchFamily="34" charset="0"/>
                <a:ea typeface="Consolas" pitchFamily="34" charset="-122"/>
                <a:cs typeface="Consolas" pitchFamily="34" charset="-120"/>
              </a:rPr>
              <a:t>08  </a:t>
            </a:r>
            <a:pPr indent="0" marL="0">
              <a:buNone/>
            </a:pPr>
            <a:r>
              <a:rPr lang="en-US" sz="1400" b="1" dirty="0">
                <a:solidFill>
                  <a:srgbClr val="EAF0FF"/>
                </a:solidFill>
                <a:latin typeface="Malgun Gothic" pitchFamily="34" charset="0"/>
                <a:ea typeface="Malgun Gothic" pitchFamily="34" charset="-122"/>
                <a:cs typeface="Malgun Gothic" pitchFamily="34" charset="-120"/>
              </a:rPr>
              <a:t>신뢰</a:t>
            </a:r>
            <a:endParaRPr lang="en-US" sz="1400" dirty="0"/>
          </a:p>
        </p:txBody>
      </p:sp>
      <p:sp>
        <p:nvSpPr>
          <p:cNvPr id="17" name="Shape 12"/>
          <p:cNvSpPr/>
          <p:nvPr/>
        </p:nvSpPr>
        <p:spPr>
          <a:xfrm>
            <a:off x="548640" y="3282696"/>
            <a:ext cx="11091672" cy="777240"/>
          </a:xfrm>
          <a:prstGeom prst="roundRect">
            <a:avLst>
              <a:gd name="adj" fmla="val 10588"/>
            </a:avLst>
          </a:prstGeom>
          <a:solidFill>
            <a:srgbClr val="121A2E"/>
          </a:solidFill>
          <a:ln w="12700">
            <a:solidFill>
              <a:srgbClr val="2A3756"/>
            </a:solidFill>
            <a:prstDash val="solid"/>
          </a:ln>
          <a:effectLst>
            <a:outerShdw sx="100000" sy="100000" kx="0" ky="0" algn="bl" rotWithShape="0" blurRad="114300" dist="38100" dir="5400000">
              <a:srgbClr val="000000">
                <a:alpha val="35000"/>
              </a:srgbClr>
            </a:outerShdw>
          </a:effectLst>
        </p:spPr>
      </p:sp>
      <p:sp>
        <p:nvSpPr>
          <p:cNvPr id="18" name="Text 13"/>
          <p:cNvSpPr/>
          <p:nvPr/>
        </p:nvSpPr>
        <p:spPr>
          <a:xfrm>
            <a:off x="777240" y="3282696"/>
            <a:ext cx="2286000" cy="777240"/>
          </a:xfrm>
          <a:prstGeom prst="rect">
            <a:avLst/>
          </a:prstGeom>
          <a:noFill/>
          <a:ln/>
        </p:spPr>
        <p:txBody>
          <a:bodyPr wrap="square" lIns="0" tIns="0" rIns="0" bIns="0" rtlCol="0" anchor="ctr"/>
          <a:lstStyle/>
          <a:p>
            <a:pPr indent="0" marL="0">
              <a:buNone/>
            </a:pPr>
            <a:r>
              <a:rPr lang="en-US" sz="1350" b="1" dirty="0">
                <a:solidFill>
                  <a:srgbClr val="B7C4DC"/>
                </a:solidFill>
                <a:latin typeface="Malgun Gothic" pitchFamily="34" charset="0"/>
                <a:ea typeface="Malgun Gothic" pitchFamily="34" charset="-122"/>
                <a:cs typeface="Malgun Gothic" pitchFamily="34" charset="-120"/>
              </a:rPr>
              <a:t>행위 · Action</a:t>
            </a:r>
            <a:endParaRPr lang="en-US" sz="1350" dirty="0"/>
          </a:p>
        </p:txBody>
      </p:sp>
      <p:sp>
        <p:nvSpPr>
          <p:cNvPr id="19" name="Shape 14"/>
          <p:cNvSpPr/>
          <p:nvPr/>
        </p:nvSpPr>
        <p:spPr>
          <a:xfrm>
            <a:off x="3200400" y="3433572"/>
            <a:ext cx="475488" cy="475488"/>
          </a:xfrm>
          <a:prstGeom prst="ellipse">
            <a:avLst/>
          </a:prstGeom>
          <a:solidFill>
            <a:srgbClr val="18223A"/>
          </a:solidFill>
          <a:ln w="22225">
            <a:solidFill>
              <a:srgbClr val="4DB8FF"/>
            </a:solidFill>
            <a:prstDash val="solid"/>
          </a:ln>
        </p:spPr>
      </p:sp>
      <p:pic>
        <p:nvPicPr>
          <p:cNvPr id="20" name="Image 3" descr="assets/icon_agency.png">    </p:cNvPr>
          <p:cNvPicPr>
            <a:picLocks noChangeAspect="1"/>
          </p:cNvPicPr>
          <p:nvPr/>
        </p:nvPicPr>
        <p:blipFill>
          <a:blip r:embed="rId4"/>
          <a:stretch>
            <a:fillRect/>
          </a:stretch>
        </p:blipFill>
        <p:spPr>
          <a:xfrm>
            <a:off x="3290743" y="3523915"/>
            <a:ext cx="294803" cy="294803"/>
          </a:xfrm>
          <a:prstGeom prst="rect">
            <a:avLst/>
          </a:prstGeom>
        </p:spPr>
      </p:pic>
      <p:sp>
        <p:nvSpPr>
          <p:cNvPr id="21" name="Text 15"/>
          <p:cNvSpPr/>
          <p:nvPr/>
        </p:nvSpPr>
        <p:spPr>
          <a:xfrm>
            <a:off x="3767328" y="3282696"/>
            <a:ext cx="1828800" cy="777240"/>
          </a:xfrm>
          <a:prstGeom prst="rect">
            <a:avLst/>
          </a:prstGeom>
          <a:noFill/>
          <a:ln/>
        </p:spPr>
        <p:txBody>
          <a:bodyPr wrap="square" lIns="0" tIns="0" rIns="0" bIns="0" rtlCol="0" anchor="ctr"/>
          <a:lstStyle/>
          <a:p>
            <a:pPr indent="0" marL="0">
              <a:buNone/>
            </a:pPr>
            <a:r>
              <a:rPr lang="en-US" sz="1400" b="1" dirty="0">
                <a:solidFill>
                  <a:srgbClr val="4DB8FF"/>
                </a:solidFill>
                <a:latin typeface="Consolas" pitchFamily="34" charset="0"/>
                <a:ea typeface="Consolas" pitchFamily="34" charset="-122"/>
                <a:cs typeface="Consolas" pitchFamily="34" charset="-120"/>
              </a:rPr>
              <a:t>09  </a:t>
            </a:r>
            <a:pPr indent="0" marL="0">
              <a:buNone/>
            </a:pPr>
            <a:r>
              <a:rPr lang="en-US" sz="1400" b="1" dirty="0">
                <a:solidFill>
                  <a:srgbClr val="EAF0FF"/>
                </a:solidFill>
                <a:latin typeface="Malgun Gothic" pitchFamily="34" charset="0"/>
                <a:ea typeface="Malgun Gothic" pitchFamily="34" charset="-122"/>
                <a:cs typeface="Malgun Gothic" pitchFamily="34" charset="-120"/>
              </a:rPr>
              <a:t>행위</a:t>
            </a:r>
            <a:endParaRPr lang="en-US" sz="1400" dirty="0"/>
          </a:p>
        </p:txBody>
      </p:sp>
      <p:sp>
        <p:nvSpPr>
          <p:cNvPr id="22" name="Shape 16"/>
          <p:cNvSpPr/>
          <p:nvPr/>
        </p:nvSpPr>
        <p:spPr>
          <a:xfrm>
            <a:off x="5532120" y="3433572"/>
            <a:ext cx="475488" cy="475488"/>
          </a:xfrm>
          <a:prstGeom prst="ellipse">
            <a:avLst/>
          </a:prstGeom>
          <a:solidFill>
            <a:srgbClr val="18223A"/>
          </a:solidFill>
          <a:ln w="22225">
            <a:solidFill>
              <a:srgbClr val="D24BFF"/>
            </a:solidFill>
            <a:prstDash val="solid"/>
          </a:ln>
        </p:spPr>
      </p:sp>
      <p:pic>
        <p:nvPicPr>
          <p:cNvPr id="23" name="Image 4" descr="assets/icon_embodiment.png">    </p:cNvPr>
          <p:cNvPicPr>
            <a:picLocks noChangeAspect="1"/>
          </p:cNvPicPr>
          <p:nvPr/>
        </p:nvPicPr>
        <p:blipFill>
          <a:blip r:embed="rId5"/>
          <a:stretch>
            <a:fillRect/>
          </a:stretch>
        </p:blipFill>
        <p:spPr>
          <a:xfrm>
            <a:off x="5622463" y="3523915"/>
            <a:ext cx="294803" cy="294803"/>
          </a:xfrm>
          <a:prstGeom prst="rect">
            <a:avLst/>
          </a:prstGeom>
        </p:spPr>
      </p:pic>
      <p:sp>
        <p:nvSpPr>
          <p:cNvPr id="24" name="Text 17"/>
          <p:cNvSpPr/>
          <p:nvPr/>
        </p:nvSpPr>
        <p:spPr>
          <a:xfrm>
            <a:off x="6099048" y="3282696"/>
            <a:ext cx="1828800" cy="777240"/>
          </a:xfrm>
          <a:prstGeom prst="rect">
            <a:avLst/>
          </a:prstGeom>
          <a:noFill/>
          <a:ln/>
        </p:spPr>
        <p:txBody>
          <a:bodyPr wrap="square" lIns="0" tIns="0" rIns="0" bIns="0" rtlCol="0" anchor="ctr"/>
          <a:lstStyle/>
          <a:p>
            <a:pPr indent="0" marL="0">
              <a:buNone/>
            </a:pPr>
            <a:r>
              <a:rPr lang="en-US" sz="1400" b="1" dirty="0">
                <a:solidFill>
                  <a:srgbClr val="D24BFF"/>
                </a:solidFill>
                <a:latin typeface="Consolas" pitchFamily="34" charset="0"/>
                <a:ea typeface="Consolas" pitchFamily="34" charset="-122"/>
                <a:cs typeface="Consolas" pitchFamily="34" charset="-120"/>
              </a:rPr>
              <a:t>10  </a:t>
            </a:r>
            <a:pPr indent="0" marL="0">
              <a:buNone/>
            </a:pPr>
            <a:r>
              <a:rPr lang="en-US" sz="1400" b="1" dirty="0">
                <a:solidFill>
                  <a:srgbClr val="EAF0FF"/>
                </a:solidFill>
                <a:latin typeface="Malgun Gothic" pitchFamily="34" charset="0"/>
                <a:ea typeface="Malgun Gothic" pitchFamily="34" charset="-122"/>
                <a:cs typeface="Malgun Gothic" pitchFamily="34" charset="-120"/>
              </a:rPr>
              <a:t>체화</a:t>
            </a:r>
            <a:endParaRPr lang="en-US" sz="1400" dirty="0"/>
          </a:p>
        </p:txBody>
      </p:sp>
      <p:sp>
        <p:nvSpPr>
          <p:cNvPr id="25" name="Shape 18"/>
          <p:cNvSpPr/>
          <p:nvPr/>
        </p:nvSpPr>
        <p:spPr>
          <a:xfrm>
            <a:off x="7863840" y="3433572"/>
            <a:ext cx="475488" cy="475488"/>
          </a:xfrm>
          <a:prstGeom prst="ellipse">
            <a:avLst/>
          </a:prstGeom>
          <a:solidFill>
            <a:srgbClr val="18223A"/>
          </a:solidFill>
          <a:ln w="22225">
            <a:solidFill>
              <a:srgbClr val="2DD4BF"/>
            </a:solidFill>
            <a:prstDash val="solid"/>
          </a:ln>
        </p:spPr>
      </p:sp>
      <p:pic>
        <p:nvPicPr>
          <p:cNvPr id="26" name="Image 5" descr="assets/icon_simulation.png">    </p:cNvPr>
          <p:cNvPicPr>
            <a:picLocks noChangeAspect="1"/>
          </p:cNvPicPr>
          <p:nvPr/>
        </p:nvPicPr>
        <p:blipFill>
          <a:blip r:embed="rId6"/>
          <a:stretch>
            <a:fillRect/>
          </a:stretch>
        </p:blipFill>
        <p:spPr>
          <a:xfrm>
            <a:off x="7954183" y="3523915"/>
            <a:ext cx="294803" cy="294803"/>
          </a:xfrm>
          <a:prstGeom prst="rect">
            <a:avLst/>
          </a:prstGeom>
        </p:spPr>
      </p:pic>
      <p:sp>
        <p:nvSpPr>
          <p:cNvPr id="27" name="Text 19"/>
          <p:cNvSpPr/>
          <p:nvPr/>
        </p:nvSpPr>
        <p:spPr>
          <a:xfrm>
            <a:off x="8430768" y="3282696"/>
            <a:ext cx="1828800" cy="777240"/>
          </a:xfrm>
          <a:prstGeom prst="rect">
            <a:avLst/>
          </a:prstGeom>
          <a:noFill/>
          <a:ln/>
        </p:spPr>
        <p:txBody>
          <a:bodyPr wrap="square" lIns="0" tIns="0" rIns="0" bIns="0" rtlCol="0" anchor="ctr"/>
          <a:lstStyle/>
          <a:p>
            <a:pPr indent="0" marL="0">
              <a:buNone/>
            </a:pPr>
            <a:r>
              <a:rPr lang="en-US" sz="1400" b="1" dirty="0">
                <a:solidFill>
                  <a:srgbClr val="2DD4BF"/>
                </a:solidFill>
                <a:latin typeface="Consolas" pitchFamily="34" charset="0"/>
                <a:ea typeface="Consolas" pitchFamily="34" charset="-122"/>
                <a:cs typeface="Consolas" pitchFamily="34" charset="-120"/>
              </a:rPr>
              <a:t>11  </a:t>
            </a:r>
            <a:pPr indent="0" marL="0">
              <a:buNone/>
            </a:pPr>
            <a:r>
              <a:rPr lang="en-US" sz="1400" b="1" dirty="0">
                <a:solidFill>
                  <a:srgbClr val="EAF0FF"/>
                </a:solidFill>
                <a:latin typeface="Malgun Gothic" pitchFamily="34" charset="0"/>
                <a:ea typeface="Malgun Gothic" pitchFamily="34" charset="-122"/>
                <a:cs typeface="Malgun Gothic" pitchFamily="34" charset="-120"/>
              </a:rPr>
              <a:t>시뮬레이션</a:t>
            </a:r>
            <a:endParaRPr lang="en-US" sz="1400" dirty="0"/>
          </a:p>
        </p:txBody>
      </p:sp>
      <p:sp>
        <p:nvSpPr>
          <p:cNvPr id="28" name="Shape 20"/>
          <p:cNvSpPr/>
          <p:nvPr/>
        </p:nvSpPr>
        <p:spPr>
          <a:xfrm>
            <a:off x="548640" y="4123944"/>
            <a:ext cx="11091672" cy="777240"/>
          </a:xfrm>
          <a:prstGeom prst="roundRect">
            <a:avLst>
              <a:gd name="adj" fmla="val 10588"/>
            </a:avLst>
          </a:prstGeom>
          <a:solidFill>
            <a:srgbClr val="121A2E"/>
          </a:solidFill>
          <a:ln w="12700">
            <a:solidFill>
              <a:srgbClr val="2A3756"/>
            </a:solidFill>
            <a:prstDash val="solid"/>
          </a:ln>
          <a:effectLst>
            <a:outerShdw sx="100000" sy="100000" kx="0" ky="0" algn="bl" rotWithShape="0" blurRad="114300" dist="38100" dir="5400000">
              <a:srgbClr val="000000">
                <a:alpha val="35000"/>
              </a:srgbClr>
            </a:outerShdw>
          </a:effectLst>
        </p:spPr>
      </p:sp>
      <p:sp>
        <p:nvSpPr>
          <p:cNvPr id="29" name="Text 21"/>
          <p:cNvSpPr/>
          <p:nvPr/>
        </p:nvSpPr>
        <p:spPr>
          <a:xfrm>
            <a:off x="777240" y="4123944"/>
            <a:ext cx="2286000" cy="777240"/>
          </a:xfrm>
          <a:prstGeom prst="rect">
            <a:avLst/>
          </a:prstGeom>
          <a:noFill/>
          <a:ln/>
        </p:spPr>
        <p:txBody>
          <a:bodyPr wrap="square" lIns="0" tIns="0" rIns="0" bIns="0" rtlCol="0" anchor="ctr"/>
          <a:lstStyle/>
          <a:p>
            <a:pPr indent="0" marL="0">
              <a:buNone/>
            </a:pPr>
            <a:r>
              <a:rPr lang="en-US" sz="1350" b="1" dirty="0">
                <a:solidFill>
                  <a:srgbClr val="B7C4DC"/>
                </a:solidFill>
                <a:latin typeface="Malgun Gothic" pitchFamily="34" charset="0"/>
                <a:ea typeface="Malgun Gothic" pitchFamily="34" charset="-122"/>
                <a:cs typeface="Malgun Gothic" pitchFamily="34" charset="-120"/>
              </a:rPr>
              <a:t>지능 · Intelligence</a:t>
            </a:r>
            <a:endParaRPr lang="en-US" sz="1350" dirty="0"/>
          </a:p>
        </p:txBody>
      </p:sp>
      <p:sp>
        <p:nvSpPr>
          <p:cNvPr id="30" name="Shape 22"/>
          <p:cNvSpPr/>
          <p:nvPr/>
        </p:nvSpPr>
        <p:spPr>
          <a:xfrm>
            <a:off x="3200400" y="4274820"/>
            <a:ext cx="475488" cy="475488"/>
          </a:xfrm>
          <a:prstGeom prst="ellipse">
            <a:avLst/>
          </a:prstGeom>
          <a:solidFill>
            <a:srgbClr val="18223A"/>
          </a:solidFill>
          <a:ln w="22225">
            <a:solidFill>
              <a:srgbClr val="FFC83D"/>
            </a:solidFill>
            <a:prstDash val="solid"/>
          </a:ln>
        </p:spPr>
      </p:sp>
      <p:pic>
        <p:nvPicPr>
          <p:cNvPr id="31" name="Image 6" descr="assets/icon_generation.png">    </p:cNvPr>
          <p:cNvPicPr>
            <a:picLocks noChangeAspect="1"/>
          </p:cNvPicPr>
          <p:nvPr/>
        </p:nvPicPr>
        <p:blipFill>
          <a:blip r:embed="rId7"/>
          <a:stretch>
            <a:fillRect/>
          </a:stretch>
        </p:blipFill>
        <p:spPr>
          <a:xfrm>
            <a:off x="3290743" y="4365163"/>
            <a:ext cx="294803" cy="294803"/>
          </a:xfrm>
          <a:prstGeom prst="rect">
            <a:avLst/>
          </a:prstGeom>
        </p:spPr>
      </p:pic>
      <p:sp>
        <p:nvSpPr>
          <p:cNvPr id="32" name="Text 23"/>
          <p:cNvSpPr/>
          <p:nvPr/>
        </p:nvSpPr>
        <p:spPr>
          <a:xfrm>
            <a:off x="3767328" y="4123944"/>
            <a:ext cx="1828800" cy="777240"/>
          </a:xfrm>
          <a:prstGeom prst="rect">
            <a:avLst/>
          </a:prstGeom>
          <a:noFill/>
          <a:ln/>
        </p:spPr>
        <p:txBody>
          <a:bodyPr wrap="square" lIns="0" tIns="0" rIns="0" bIns="0" rtlCol="0" anchor="ctr"/>
          <a:lstStyle/>
          <a:p>
            <a:pPr indent="0" marL="0">
              <a:buNone/>
            </a:pPr>
            <a:r>
              <a:rPr lang="en-US" sz="1400" b="1" dirty="0">
                <a:solidFill>
                  <a:srgbClr val="FFC83D"/>
                </a:solidFill>
                <a:latin typeface="Consolas" pitchFamily="34" charset="0"/>
                <a:ea typeface="Consolas" pitchFamily="34" charset="-122"/>
                <a:cs typeface="Consolas" pitchFamily="34" charset="-120"/>
              </a:rPr>
              <a:t>03  </a:t>
            </a:r>
            <a:pPr indent="0" marL="0">
              <a:buNone/>
            </a:pPr>
            <a:r>
              <a:rPr lang="en-US" sz="1400" b="1" dirty="0">
                <a:solidFill>
                  <a:srgbClr val="EAF0FF"/>
                </a:solidFill>
                <a:latin typeface="Malgun Gothic" pitchFamily="34" charset="0"/>
                <a:ea typeface="Malgun Gothic" pitchFamily="34" charset="-122"/>
                <a:cs typeface="Malgun Gothic" pitchFamily="34" charset="-120"/>
              </a:rPr>
              <a:t>생성</a:t>
            </a:r>
            <a:endParaRPr lang="en-US" sz="1400" dirty="0"/>
          </a:p>
        </p:txBody>
      </p:sp>
      <p:sp>
        <p:nvSpPr>
          <p:cNvPr id="33" name="Shape 24"/>
          <p:cNvSpPr/>
          <p:nvPr/>
        </p:nvSpPr>
        <p:spPr>
          <a:xfrm>
            <a:off x="5532120" y="4274820"/>
            <a:ext cx="475488" cy="475488"/>
          </a:xfrm>
          <a:prstGeom prst="ellipse">
            <a:avLst/>
          </a:prstGeom>
          <a:solidFill>
            <a:srgbClr val="18223A"/>
          </a:solidFill>
          <a:ln w="22225">
            <a:solidFill>
              <a:srgbClr val="16E0A3"/>
            </a:solidFill>
            <a:prstDash val="solid"/>
          </a:ln>
        </p:spPr>
      </p:sp>
      <p:pic>
        <p:nvPicPr>
          <p:cNvPr id="34" name="Image 7" descr="assets/icon_memory.png">    </p:cNvPr>
          <p:cNvPicPr>
            <a:picLocks noChangeAspect="1"/>
          </p:cNvPicPr>
          <p:nvPr/>
        </p:nvPicPr>
        <p:blipFill>
          <a:blip r:embed="rId8"/>
          <a:stretch>
            <a:fillRect/>
          </a:stretch>
        </p:blipFill>
        <p:spPr>
          <a:xfrm>
            <a:off x="5622463" y="4365163"/>
            <a:ext cx="294803" cy="294803"/>
          </a:xfrm>
          <a:prstGeom prst="rect">
            <a:avLst/>
          </a:prstGeom>
        </p:spPr>
      </p:pic>
      <p:sp>
        <p:nvSpPr>
          <p:cNvPr id="35" name="Text 25"/>
          <p:cNvSpPr/>
          <p:nvPr/>
        </p:nvSpPr>
        <p:spPr>
          <a:xfrm>
            <a:off x="6099048" y="4123944"/>
            <a:ext cx="1828800" cy="777240"/>
          </a:xfrm>
          <a:prstGeom prst="rect">
            <a:avLst/>
          </a:prstGeom>
          <a:noFill/>
          <a:ln/>
        </p:spPr>
        <p:txBody>
          <a:bodyPr wrap="square" lIns="0" tIns="0" rIns="0" bIns="0" rtlCol="0" anchor="ctr"/>
          <a:lstStyle/>
          <a:p>
            <a:pPr indent="0" marL="0">
              <a:buNone/>
            </a:pPr>
            <a:r>
              <a:rPr lang="en-US" sz="1400" b="1" dirty="0">
                <a:solidFill>
                  <a:srgbClr val="16E0A3"/>
                </a:solidFill>
                <a:latin typeface="Consolas" pitchFamily="34" charset="0"/>
                <a:ea typeface="Consolas" pitchFamily="34" charset="-122"/>
                <a:cs typeface="Consolas" pitchFamily="34" charset="-120"/>
              </a:rPr>
              <a:t>02  </a:t>
            </a:r>
            <a:pPr indent="0" marL="0">
              <a:buNone/>
            </a:pPr>
            <a:r>
              <a:rPr lang="en-US" sz="1400" b="1" dirty="0">
                <a:solidFill>
                  <a:srgbClr val="EAF0FF"/>
                </a:solidFill>
                <a:latin typeface="Malgun Gothic" pitchFamily="34" charset="0"/>
                <a:ea typeface="Malgun Gothic" pitchFamily="34" charset="-122"/>
                <a:cs typeface="Malgun Gothic" pitchFamily="34" charset="-120"/>
              </a:rPr>
              <a:t>기억</a:t>
            </a:r>
            <a:endParaRPr lang="en-US" sz="1400" dirty="0"/>
          </a:p>
        </p:txBody>
      </p:sp>
      <p:sp>
        <p:nvSpPr>
          <p:cNvPr id="36" name="Shape 26"/>
          <p:cNvSpPr/>
          <p:nvPr/>
        </p:nvSpPr>
        <p:spPr>
          <a:xfrm>
            <a:off x="7863840" y="4274820"/>
            <a:ext cx="475488" cy="475488"/>
          </a:xfrm>
          <a:prstGeom prst="ellipse">
            <a:avLst/>
          </a:prstGeom>
          <a:solidFill>
            <a:srgbClr val="18223A"/>
          </a:solidFill>
          <a:ln w="22225">
            <a:solidFill>
              <a:srgbClr val="A78BFA"/>
            </a:solidFill>
            <a:prstDash val="solid"/>
          </a:ln>
        </p:spPr>
      </p:sp>
      <p:pic>
        <p:nvPicPr>
          <p:cNvPr id="37" name="Image 8" descr="assets/icon_perception.png">    </p:cNvPr>
          <p:cNvPicPr>
            <a:picLocks noChangeAspect="1"/>
          </p:cNvPicPr>
          <p:nvPr/>
        </p:nvPicPr>
        <p:blipFill>
          <a:blip r:embed="rId9"/>
          <a:stretch>
            <a:fillRect/>
          </a:stretch>
        </p:blipFill>
        <p:spPr>
          <a:xfrm>
            <a:off x="7954183" y="4365163"/>
            <a:ext cx="294803" cy="294803"/>
          </a:xfrm>
          <a:prstGeom prst="rect">
            <a:avLst/>
          </a:prstGeom>
        </p:spPr>
      </p:pic>
      <p:sp>
        <p:nvSpPr>
          <p:cNvPr id="38" name="Text 27"/>
          <p:cNvSpPr/>
          <p:nvPr/>
        </p:nvSpPr>
        <p:spPr>
          <a:xfrm>
            <a:off x="8430768" y="4123944"/>
            <a:ext cx="1828800" cy="777240"/>
          </a:xfrm>
          <a:prstGeom prst="rect">
            <a:avLst/>
          </a:prstGeom>
          <a:noFill/>
          <a:ln/>
        </p:spPr>
        <p:txBody>
          <a:bodyPr wrap="square" lIns="0" tIns="0" rIns="0" bIns="0" rtlCol="0" anchor="ctr"/>
          <a:lstStyle/>
          <a:p>
            <a:pPr indent="0" marL="0">
              <a:buNone/>
            </a:pPr>
            <a:r>
              <a:rPr lang="en-US" sz="1400" b="1" dirty="0">
                <a:solidFill>
                  <a:srgbClr val="A78BFA"/>
                </a:solidFill>
                <a:latin typeface="Consolas" pitchFamily="34" charset="0"/>
                <a:ea typeface="Consolas" pitchFamily="34" charset="-122"/>
                <a:cs typeface="Consolas" pitchFamily="34" charset="-120"/>
              </a:rPr>
              <a:t>05  </a:t>
            </a:r>
            <a:pPr indent="0" marL="0">
              <a:buNone/>
            </a:pPr>
            <a:r>
              <a:rPr lang="en-US" sz="1400" b="1" dirty="0">
                <a:solidFill>
                  <a:srgbClr val="EAF0FF"/>
                </a:solidFill>
                <a:latin typeface="Malgun Gothic" pitchFamily="34" charset="0"/>
                <a:ea typeface="Malgun Gothic" pitchFamily="34" charset="-122"/>
                <a:cs typeface="Malgun Gothic" pitchFamily="34" charset="-120"/>
              </a:rPr>
              <a:t>지각</a:t>
            </a:r>
            <a:endParaRPr lang="en-US" sz="1400" dirty="0"/>
          </a:p>
        </p:txBody>
      </p:sp>
      <p:sp>
        <p:nvSpPr>
          <p:cNvPr id="39" name="Shape 28"/>
          <p:cNvSpPr/>
          <p:nvPr/>
        </p:nvSpPr>
        <p:spPr>
          <a:xfrm>
            <a:off x="548640" y="4965192"/>
            <a:ext cx="11091672" cy="777240"/>
          </a:xfrm>
          <a:prstGeom prst="roundRect">
            <a:avLst>
              <a:gd name="adj" fmla="val 10588"/>
            </a:avLst>
          </a:prstGeom>
          <a:solidFill>
            <a:srgbClr val="121A2E"/>
          </a:solidFill>
          <a:ln w="12700">
            <a:solidFill>
              <a:srgbClr val="2A3756"/>
            </a:solidFill>
            <a:prstDash val="solid"/>
          </a:ln>
          <a:effectLst>
            <a:outerShdw sx="100000" sy="100000" kx="0" ky="0" algn="bl" rotWithShape="0" blurRad="114300" dist="38100" dir="5400000">
              <a:srgbClr val="000000">
                <a:alpha val="35000"/>
              </a:srgbClr>
            </a:outerShdw>
          </a:effectLst>
        </p:spPr>
      </p:sp>
      <p:sp>
        <p:nvSpPr>
          <p:cNvPr id="40" name="Text 29"/>
          <p:cNvSpPr/>
          <p:nvPr/>
        </p:nvSpPr>
        <p:spPr>
          <a:xfrm>
            <a:off x="777240" y="4965192"/>
            <a:ext cx="2286000" cy="777240"/>
          </a:xfrm>
          <a:prstGeom prst="rect">
            <a:avLst/>
          </a:prstGeom>
          <a:noFill/>
          <a:ln/>
        </p:spPr>
        <p:txBody>
          <a:bodyPr wrap="square" lIns="0" tIns="0" rIns="0" bIns="0" rtlCol="0" anchor="ctr"/>
          <a:lstStyle/>
          <a:p>
            <a:pPr indent="0" marL="0">
              <a:buNone/>
            </a:pPr>
            <a:r>
              <a:rPr lang="en-US" sz="1350" b="1" dirty="0">
                <a:solidFill>
                  <a:srgbClr val="B7C4DC"/>
                </a:solidFill>
                <a:latin typeface="Malgun Gothic" pitchFamily="34" charset="0"/>
                <a:ea typeface="Malgun Gothic" pitchFamily="34" charset="-122"/>
                <a:cs typeface="Malgun Gothic" pitchFamily="34" charset="-120"/>
              </a:rPr>
              <a:t>연산 · Compute</a:t>
            </a:r>
            <a:endParaRPr lang="en-US" sz="1350" dirty="0"/>
          </a:p>
        </p:txBody>
      </p:sp>
      <p:sp>
        <p:nvSpPr>
          <p:cNvPr id="41" name="Shape 30"/>
          <p:cNvSpPr/>
          <p:nvPr/>
        </p:nvSpPr>
        <p:spPr>
          <a:xfrm>
            <a:off x="3200400" y="5116068"/>
            <a:ext cx="475488" cy="475488"/>
          </a:xfrm>
          <a:prstGeom prst="ellipse">
            <a:avLst/>
          </a:prstGeom>
          <a:solidFill>
            <a:srgbClr val="18223A"/>
          </a:solidFill>
          <a:ln w="22225">
            <a:solidFill>
              <a:srgbClr val="FB7A3C"/>
            </a:solidFill>
            <a:prstDash val="solid"/>
          </a:ln>
        </p:spPr>
      </p:sp>
      <p:pic>
        <p:nvPicPr>
          <p:cNvPr id="42" name="Image 9" descr="assets/icon_reasoning.png">    </p:cNvPr>
          <p:cNvPicPr>
            <a:picLocks noChangeAspect="1"/>
          </p:cNvPicPr>
          <p:nvPr/>
        </p:nvPicPr>
        <p:blipFill>
          <a:blip r:embed="rId10"/>
          <a:stretch>
            <a:fillRect/>
          </a:stretch>
        </p:blipFill>
        <p:spPr>
          <a:xfrm>
            <a:off x="3290743" y="5206411"/>
            <a:ext cx="294803" cy="294803"/>
          </a:xfrm>
          <a:prstGeom prst="rect">
            <a:avLst/>
          </a:prstGeom>
        </p:spPr>
      </p:pic>
      <p:sp>
        <p:nvSpPr>
          <p:cNvPr id="43" name="Text 31"/>
          <p:cNvSpPr/>
          <p:nvPr/>
        </p:nvSpPr>
        <p:spPr>
          <a:xfrm>
            <a:off x="3767328" y="4965192"/>
            <a:ext cx="1828800" cy="777240"/>
          </a:xfrm>
          <a:prstGeom prst="rect">
            <a:avLst/>
          </a:prstGeom>
          <a:noFill/>
          <a:ln/>
        </p:spPr>
        <p:txBody>
          <a:bodyPr wrap="square" lIns="0" tIns="0" rIns="0" bIns="0" rtlCol="0" anchor="ctr"/>
          <a:lstStyle/>
          <a:p>
            <a:pPr indent="0" marL="0">
              <a:buNone/>
            </a:pPr>
            <a:r>
              <a:rPr lang="en-US" sz="1400" b="1" dirty="0">
                <a:solidFill>
                  <a:srgbClr val="FB7A3C"/>
                </a:solidFill>
                <a:latin typeface="Consolas" pitchFamily="34" charset="0"/>
                <a:ea typeface="Consolas" pitchFamily="34" charset="-122"/>
                <a:cs typeface="Consolas" pitchFamily="34" charset="-120"/>
              </a:rPr>
              <a:t>06  </a:t>
            </a:r>
            <a:pPr indent="0" marL="0">
              <a:buNone/>
            </a:pPr>
            <a:r>
              <a:rPr lang="en-US" sz="1400" b="1" dirty="0">
                <a:solidFill>
                  <a:srgbClr val="EAF0FF"/>
                </a:solidFill>
                <a:latin typeface="Malgun Gothic" pitchFamily="34" charset="0"/>
                <a:ea typeface="Malgun Gothic" pitchFamily="34" charset="-122"/>
                <a:cs typeface="Malgun Gothic" pitchFamily="34" charset="-120"/>
              </a:rPr>
              <a:t>추론</a:t>
            </a:r>
            <a:endParaRPr lang="en-US" sz="1400" dirty="0"/>
          </a:p>
        </p:txBody>
      </p:sp>
      <p:sp>
        <p:nvSpPr>
          <p:cNvPr id="44" name="Shape 32"/>
          <p:cNvSpPr/>
          <p:nvPr/>
        </p:nvSpPr>
        <p:spPr>
          <a:xfrm>
            <a:off x="548640" y="5806440"/>
            <a:ext cx="11091672" cy="777240"/>
          </a:xfrm>
          <a:prstGeom prst="roundRect">
            <a:avLst>
              <a:gd name="adj" fmla="val 10588"/>
            </a:avLst>
          </a:prstGeom>
          <a:solidFill>
            <a:srgbClr val="121A2E"/>
          </a:solidFill>
          <a:ln w="12700">
            <a:solidFill>
              <a:srgbClr val="2A3756"/>
            </a:solidFill>
            <a:prstDash val="solid"/>
          </a:ln>
          <a:effectLst>
            <a:outerShdw sx="100000" sy="100000" kx="0" ky="0" algn="bl" rotWithShape="0" blurRad="114300" dist="38100" dir="5400000">
              <a:srgbClr val="000000">
                <a:alpha val="35000"/>
              </a:srgbClr>
            </a:outerShdw>
          </a:effectLst>
        </p:spPr>
      </p:sp>
      <p:sp>
        <p:nvSpPr>
          <p:cNvPr id="45" name="Text 33"/>
          <p:cNvSpPr/>
          <p:nvPr/>
        </p:nvSpPr>
        <p:spPr>
          <a:xfrm>
            <a:off x="777240" y="5806440"/>
            <a:ext cx="2286000" cy="777240"/>
          </a:xfrm>
          <a:prstGeom prst="rect">
            <a:avLst/>
          </a:prstGeom>
          <a:noFill/>
          <a:ln/>
        </p:spPr>
        <p:txBody>
          <a:bodyPr wrap="square" lIns="0" tIns="0" rIns="0" bIns="0" rtlCol="0" anchor="ctr"/>
          <a:lstStyle/>
          <a:p>
            <a:pPr indent="0" marL="0">
              <a:buNone/>
            </a:pPr>
            <a:r>
              <a:rPr lang="en-US" sz="1350" b="1" dirty="0">
                <a:solidFill>
                  <a:srgbClr val="B7C4DC"/>
                </a:solidFill>
                <a:latin typeface="Malgun Gothic" pitchFamily="34" charset="0"/>
                <a:ea typeface="Malgun Gothic" pitchFamily="34" charset="-122"/>
                <a:cs typeface="Malgun Gothic" pitchFamily="34" charset="-120"/>
              </a:rPr>
              <a:t>기반 · Hardware</a:t>
            </a:r>
            <a:endParaRPr lang="en-US" sz="1350" dirty="0"/>
          </a:p>
        </p:txBody>
      </p:sp>
      <p:sp>
        <p:nvSpPr>
          <p:cNvPr id="46" name="Shape 34"/>
          <p:cNvSpPr/>
          <p:nvPr/>
        </p:nvSpPr>
        <p:spPr>
          <a:xfrm>
            <a:off x="3200400" y="5957316"/>
            <a:ext cx="475488" cy="475488"/>
          </a:xfrm>
          <a:prstGeom prst="ellipse">
            <a:avLst/>
          </a:prstGeom>
          <a:solidFill>
            <a:srgbClr val="18223A"/>
          </a:solidFill>
          <a:ln w="22225">
            <a:solidFill>
              <a:srgbClr val="FF3B6B"/>
            </a:solidFill>
            <a:prstDash val="solid"/>
          </a:ln>
        </p:spPr>
      </p:sp>
      <p:pic>
        <p:nvPicPr>
          <p:cNvPr id="47" name="Image 10" descr="assets/icon_brain.png">    </p:cNvPr>
          <p:cNvPicPr>
            <a:picLocks noChangeAspect="1"/>
          </p:cNvPicPr>
          <p:nvPr/>
        </p:nvPicPr>
        <p:blipFill>
          <a:blip r:embed="rId11"/>
          <a:stretch>
            <a:fillRect/>
          </a:stretch>
        </p:blipFill>
        <p:spPr>
          <a:xfrm>
            <a:off x="3290743" y="6047659"/>
            <a:ext cx="294803" cy="294803"/>
          </a:xfrm>
          <a:prstGeom prst="rect">
            <a:avLst/>
          </a:prstGeom>
        </p:spPr>
      </p:pic>
      <p:sp>
        <p:nvSpPr>
          <p:cNvPr id="48" name="Text 35"/>
          <p:cNvSpPr/>
          <p:nvPr/>
        </p:nvSpPr>
        <p:spPr>
          <a:xfrm>
            <a:off x="3767328" y="5806440"/>
            <a:ext cx="1828800" cy="777240"/>
          </a:xfrm>
          <a:prstGeom prst="rect">
            <a:avLst/>
          </a:prstGeom>
          <a:noFill/>
          <a:ln/>
        </p:spPr>
        <p:txBody>
          <a:bodyPr wrap="square" lIns="0" tIns="0" rIns="0" bIns="0" rtlCol="0" anchor="ctr"/>
          <a:lstStyle/>
          <a:p>
            <a:pPr indent="0" marL="0">
              <a:buNone/>
            </a:pPr>
            <a:r>
              <a:rPr lang="en-US" sz="1400" b="1" dirty="0">
                <a:solidFill>
                  <a:srgbClr val="FF3B6B"/>
                </a:solidFill>
                <a:latin typeface="Consolas" pitchFamily="34" charset="0"/>
                <a:ea typeface="Consolas" pitchFamily="34" charset="-122"/>
                <a:cs typeface="Consolas" pitchFamily="34" charset="-120"/>
              </a:rPr>
              <a:t>01  </a:t>
            </a:r>
            <a:pPr indent="0" marL="0">
              <a:buNone/>
            </a:pPr>
            <a:r>
              <a:rPr lang="en-US" sz="1400" b="1" dirty="0">
                <a:solidFill>
                  <a:srgbClr val="EAF0FF"/>
                </a:solidFill>
                <a:latin typeface="Malgun Gothic" pitchFamily="34" charset="0"/>
                <a:ea typeface="Malgun Gothic" pitchFamily="34" charset="-122"/>
                <a:cs typeface="Malgun Gothic" pitchFamily="34" charset="-120"/>
              </a:rPr>
              <a:t>뇌</a:t>
            </a:r>
            <a:endParaRPr lang="en-US" sz="1400" dirty="0"/>
          </a:p>
        </p:txBody>
      </p:sp>
      <p:sp>
        <p:nvSpPr>
          <p:cNvPr id="49" name="Shape 36"/>
          <p:cNvSpPr/>
          <p:nvPr/>
        </p:nvSpPr>
        <p:spPr>
          <a:xfrm>
            <a:off x="5532120" y="5957316"/>
            <a:ext cx="475488" cy="475488"/>
          </a:xfrm>
          <a:prstGeom prst="ellipse">
            <a:avLst/>
          </a:prstGeom>
          <a:solidFill>
            <a:srgbClr val="18223A"/>
          </a:solidFill>
          <a:ln w="22225">
            <a:solidFill>
              <a:srgbClr val="FBBF24"/>
            </a:solidFill>
            <a:prstDash val="solid"/>
          </a:ln>
        </p:spPr>
      </p:sp>
      <p:pic>
        <p:nvPicPr>
          <p:cNvPr id="50" name="Image 11" descr="assets/icon_energy.png">    </p:cNvPr>
          <p:cNvPicPr>
            <a:picLocks noChangeAspect="1"/>
          </p:cNvPicPr>
          <p:nvPr/>
        </p:nvPicPr>
        <p:blipFill>
          <a:blip r:embed="rId12"/>
          <a:stretch>
            <a:fillRect/>
          </a:stretch>
        </p:blipFill>
        <p:spPr>
          <a:xfrm>
            <a:off x="5622463" y="6047659"/>
            <a:ext cx="294803" cy="294803"/>
          </a:xfrm>
          <a:prstGeom prst="rect">
            <a:avLst/>
          </a:prstGeom>
        </p:spPr>
      </p:pic>
      <p:sp>
        <p:nvSpPr>
          <p:cNvPr id="51" name="Text 37"/>
          <p:cNvSpPr/>
          <p:nvPr/>
        </p:nvSpPr>
        <p:spPr>
          <a:xfrm>
            <a:off x="6099048" y="5806440"/>
            <a:ext cx="1828800" cy="777240"/>
          </a:xfrm>
          <a:prstGeom prst="rect">
            <a:avLst/>
          </a:prstGeom>
          <a:noFill/>
          <a:ln/>
        </p:spPr>
        <p:txBody>
          <a:bodyPr wrap="square" lIns="0" tIns="0" rIns="0" bIns="0" rtlCol="0" anchor="ctr"/>
          <a:lstStyle/>
          <a:p>
            <a:pPr indent="0" marL="0">
              <a:buNone/>
            </a:pPr>
            <a:r>
              <a:rPr lang="en-US" sz="1400" b="1" dirty="0">
                <a:solidFill>
                  <a:srgbClr val="FBBF24"/>
                </a:solidFill>
                <a:latin typeface="Consolas" pitchFamily="34" charset="0"/>
                <a:ea typeface="Consolas" pitchFamily="34" charset="-122"/>
                <a:cs typeface="Consolas" pitchFamily="34" charset="-120"/>
              </a:rPr>
              <a:t>07  </a:t>
            </a:r>
            <a:pPr indent="0" marL="0">
              <a:buNone/>
            </a:pPr>
            <a:r>
              <a:rPr lang="en-US" sz="1400" b="1" dirty="0">
                <a:solidFill>
                  <a:srgbClr val="EAF0FF"/>
                </a:solidFill>
                <a:latin typeface="Malgun Gothic" pitchFamily="34" charset="0"/>
                <a:ea typeface="Malgun Gothic" pitchFamily="34" charset="-122"/>
                <a:cs typeface="Malgun Gothic" pitchFamily="34" charset="-120"/>
              </a:rPr>
              <a:t>에너지</a:t>
            </a:r>
            <a:endParaRPr lang="en-US" sz="1400" dirty="0"/>
          </a:p>
        </p:txBody>
      </p:sp>
      <p:sp>
        <p:nvSpPr>
          <p:cNvPr id="52" name="Shape 38"/>
          <p:cNvSpPr/>
          <p:nvPr/>
        </p:nvSpPr>
        <p:spPr>
          <a:xfrm>
            <a:off x="7863840" y="5957316"/>
            <a:ext cx="475488" cy="475488"/>
          </a:xfrm>
          <a:prstGeom prst="ellipse">
            <a:avLst/>
          </a:prstGeom>
          <a:solidFill>
            <a:srgbClr val="18223A"/>
          </a:solidFill>
          <a:ln w="22225">
            <a:solidFill>
              <a:srgbClr val="38BDF8"/>
            </a:solidFill>
            <a:prstDash val="solid"/>
          </a:ln>
        </p:spPr>
      </p:sp>
      <p:pic>
        <p:nvPicPr>
          <p:cNvPr id="53" name="Image 12" descr="assets/icon_connectivity.png">    </p:cNvPr>
          <p:cNvPicPr>
            <a:picLocks noChangeAspect="1"/>
          </p:cNvPicPr>
          <p:nvPr/>
        </p:nvPicPr>
        <p:blipFill>
          <a:blip r:embed="rId13"/>
          <a:stretch>
            <a:fillRect/>
          </a:stretch>
        </p:blipFill>
        <p:spPr>
          <a:xfrm>
            <a:off x="7954183" y="6047659"/>
            <a:ext cx="294803" cy="294803"/>
          </a:xfrm>
          <a:prstGeom prst="rect">
            <a:avLst/>
          </a:prstGeom>
        </p:spPr>
      </p:pic>
      <p:sp>
        <p:nvSpPr>
          <p:cNvPr id="54" name="Text 39"/>
          <p:cNvSpPr/>
          <p:nvPr/>
        </p:nvSpPr>
        <p:spPr>
          <a:xfrm>
            <a:off x="8430768" y="5806440"/>
            <a:ext cx="1828800" cy="777240"/>
          </a:xfrm>
          <a:prstGeom prst="rect">
            <a:avLst/>
          </a:prstGeom>
          <a:noFill/>
          <a:ln/>
        </p:spPr>
        <p:txBody>
          <a:bodyPr wrap="square" lIns="0" tIns="0" rIns="0" bIns="0" rtlCol="0" anchor="ctr"/>
          <a:lstStyle/>
          <a:p>
            <a:pPr indent="0" marL="0">
              <a:buNone/>
            </a:pPr>
            <a:r>
              <a:rPr lang="en-US" sz="1400" b="1" dirty="0">
                <a:solidFill>
                  <a:srgbClr val="38BDF8"/>
                </a:solidFill>
                <a:latin typeface="Consolas" pitchFamily="34" charset="0"/>
                <a:ea typeface="Consolas" pitchFamily="34" charset="-122"/>
                <a:cs typeface="Consolas" pitchFamily="34" charset="-120"/>
              </a:rPr>
              <a:t>04  </a:t>
            </a:r>
            <a:pPr indent="0" marL="0">
              <a:buNone/>
            </a:pPr>
            <a:r>
              <a:rPr lang="en-US" sz="1400" b="1" dirty="0">
                <a:solidFill>
                  <a:srgbClr val="EAF0FF"/>
                </a:solidFill>
                <a:latin typeface="Malgun Gothic" pitchFamily="34" charset="0"/>
                <a:ea typeface="Malgun Gothic" pitchFamily="34" charset="-122"/>
                <a:cs typeface="Malgun Gothic" pitchFamily="34" charset="-120"/>
              </a:rPr>
              <a:t>연결</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548640" y="502920"/>
            <a:ext cx="868680" cy="868680"/>
          </a:xfrm>
          <a:prstGeom prst="ellipse">
            <a:avLst/>
          </a:prstGeom>
          <a:solidFill>
            <a:srgbClr val="18223A"/>
          </a:solidFill>
          <a:ln w="22225">
            <a:solidFill>
              <a:srgbClr val="FF3B6B"/>
            </a:solidFill>
            <a:prstDash val="solid"/>
          </a:ln>
        </p:spPr>
      </p:sp>
      <p:pic>
        <p:nvPicPr>
          <p:cNvPr id="3" name="Image 0" descr="assets/icon_brain.png">    </p:cNvPr>
          <p:cNvPicPr>
            <a:picLocks noChangeAspect="1"/>
          </p:cNvPicPr>
          <p:nvPr/>
        </p:nvPicPr>
        <p:blipFill>
          <a:blip r:embed="rId1"/>
          <a:stretch>
            <a:fillRect/>
          </a:stretch>
        </p:blipFill>
        <p:spPr>
          <a:xfrm>
            <a:off x="713689" y="667969"/>
            <a:ext cx="538582" cy="538582"/>
          </a:xfrm>
          <a:prstGeom prst="rect">
            <a:avLst/>
          </a:prstGeom>
        </p:spPr>
      </p:pic>
      <p:sp>
        <p:nvSpPr>
          <p:cNvPr id="4" name="Text 1"/>
          <p:cNvSpPr/>
          <p:nvPr/>
        </p:nvSpPr>
        <p:spPr>
          <a:xfrm>
            <a:off x="1600200" y="475488"/>
            <a:ext cx="2743200" cy="292608"/>
          </a:xfrm>
          <a:prstGeom prst="rect">
            <a:avLst/>
          </a:prstGeom>
          <a:noFill/>
          <a:ln/>
        </p:spPr>
        <p:txBody>
          <a:bodyPr wrap="square" lIns="0" tIns="0" rIns="0" bIns="0" rtlCol="0" anchor="ctr"/>
          <a:lstStyle/>
          <a:p>
            <a:pPr indent="0" marL="0">
              <a:buNone/>
            </a:pPr>
            <a:r>
              <a:rPr lang="en-US" sz="1400" b="1" dirty="0">
                <a:solidFill>
                  <a:srgbClr val="FF3B6B"/>
                </a:solidFill>
                <a:latin typeface="Consolas" pitchFamily="34" charset="0"/>
                <a:ea typeface="Consolas" pitchFamily="34" charset="-122"/>
                <a:cs typeface="Consolas" pitchFamily="34" charset="-120"/>
              </a:rPr>
              <a:t>01</a:t>
            </a:r>
            <a:endParaRPr lang="en-US" sz="1400" dirty="0"/>
          </a:p>
        </p:txBody>
      </p:sp>
      <p:sp>
        <p:nvSpPr>
          <p:cNvPr id="5" name="Text 2"/>
          <p:cNvSpPr/>
          <p:nvPr/>
        </p:nvSpPr>
        <p:spPr>
          <a:xfrm>
            <a:off x="1572768" y="713232"/>
            <a:ext cx="6858000" cy="658368"/>
          </a:xfrm>
          <a:prstGeom prst="rect">
            <a:avLst/>
          </a:prstGeom>
          <a:noFill/>
          <a:ln/>
        </p:spPr>
        <p:txBody>
          <a:bodyPr wrap="square" lIns="0" tIns="0" rIns="0" bIns="0" rtlCol="0" anchor="ctr"/>
          <a:lstStyle/>
          <a:p>
            <a:pPr indent="0" marL="0">
              <a:buNone/>
            </a:pPr>
            <a:r>
              <a:rPr lang="en-US" sz="3300" b="1" dirty="0">
                <a:solidFill>
                  <a:srgbClr val="EAF0FF"/>
                </a:solidFill>
                <a:latin typeface="Malgun Gothic" pitchFamily="34" charset="0"/>
                <a:ea typeface="Malgun Gothic" pitchFamily="34" charset="-122"/>
                <a:cs typeface="Malgun Gothic" pitchFamily="34" charset="-120"/>
              </a:rPr>
              <a:t>뇌</a:t>
            </a:r>
            <a:endParaRPr lang="en-US" sz="3300" dirty="0"/>
          </a:p>
        </p:txBody>
      </p:sp>
      <p:sp>
        <p:nvSpPr>
          <p:cNvPr id="6" name="Text 3"/>
          <p:cNvSpPr/>
          <p:nvPr/>
        </p:nvSpPr>
        <p:spPr>
          <a:xfrm>
            <a:off x="1600200" y="1371600"/>
            <a:ext cx="8229600" cy="292608"/>
          </a:xfrm>
          <a:prstGeom prst="rect">
            <a:avLst/>
          </a:prstGeom>
          <a:noFill/>
          <a:ln/>
        </p:spPr>
        <p:txBody>
          <a:bodyPr wrap="square" lIns="0" tIns="0" rIns="0" bIns="0" rtlCol="0" anchor="ctr"/>
          <a:lstStyle/>
          <a:p>
            <a:pPr indent="0" marL="0">
              <a:buNone/>
            </a:pPr>
            <a:r>
              <a:rPr lang="en-US" sz="1300" dirty="0">
                <a:solidFill>
                  <a:srgbClr val="8493AE"/>
                </a:solidFill>
                <a:latin typeface="Malgun Gothic" pitchFamily="34" charset="0"/>
                <a:ea typeface="Malgun Gothic" pitchFamily="34" charset="-122"/>
                <a:cs typeface="Malgun Gothic" pitchFamily="34" charset="-120"/>
              </a:rPr>
              <a:t>Brain · AI를 진짜 뇌처럼</a:t>
            </a:r>
            <a:endParaRPr lang="en-US" sz="1300" dirty="0"/>
          </a:p>
        </p:txBody>
      </p:sp>
      <p:sp>
        <p:nvSpPr>
          <p:cNvPr id="7" name="Text 4"/>
          <p:cNvSpPr/>
          <p:nvPr/>
        </p:nvSpPr>
        <p:spPr>
          <a:xfrm>
            <a:off x="1600200" y="1700784"/>
            <a:ext cx="8869680" cy="457200"/>
          </a:xfrm>
          <a:prstGeom prst="rect">
            <a:avLst/>
          </a:prstGeom>
          <a:noFill/>
          <a:ln/>
        </p:spPr>
        <p:txBody>
          <a:bodyPr wrap="square" lIns="0" tIns="0" rIns="0" bIns="0" rtlCol="0" anchor="ctr"/>
          <a:lstStyle/>
          <a:p>
            <a:pPr indent="0" marL="0">
              <a:buNone/>
            </a:pPr>
            <a:r>
              <a:rPr lang="en-US" sz="1350" i="1" dirty="0">
                <a:solidFill>
                  <a:srgbClr val="B7C4DC"/>
                </a:solidFill>
                <a:latin typeface="Malgun Gothic" pitchFamily="34" charset="0"/>
                <a:ea typeface="Malgun Gothic" pitchFamily="34" charset="-122"/>
                <a:cs typeface="Malgun Gothic" pitchFamily="34" charset="-120"/>
              </a:rPr>
              <a:t>AI가 '계산'을 넘어 사람 뇌처럼 효율적으로 '생각'하는 하드웨어 단계.</a:t>
            </a:r>
            <a:endParaRPr lang="en-US" sz="1350" dirty="0"/>
          </a:p>
        </p:txBody>
      </p:sp>
      <p:pic>
        <p:nvPicPr>
          <p:cNvPr id="8" name="Image 1" descr="assets/loc_brain.png">    </p:cNvPr>
          <p:cNvPicPr>
            <a:picLocks noChangeAspect="1"/>
          </p:cNvPicPr>
          <p:nvPr/>
        </p:nvPicPr>
        <p:blipFill>
          <a:blip r:embed="rId2"/>
          <a:stretch>
            <a:fillRect/>
          </a:stretch>
        </p:blipFill>
        <p:spPr>
          <a:xfrm>
            <a:off x="10972800" y="457200"/>
            <a:ext cx="914400" cy="1600200"/>
          </a:xfrm>
          <a:prstGeom prst="rect">
            <a:avLst/>
          </a:prstGeom>
        </p:spPr>
      </p:pic>
      <p:sp>
        <p:nvSpPr>
          <p:cNvPr id="9" name="Text 5"/>
          <p:cNvSpPr/>
          <p:nvPr/>
        </p:nvSpPr>
        <p:spPr>
          <a:xfrm>
            <a:off x="10607040" y="2075688"/>
            <a:ext cx="1645920" cy="228600"/>
          </a:xfrm>
          <a:prstGeom prst="rect">
            <a:avLst/>
          </a:prstGeom>
          <a:noFill/>
          <a:ln/>
        </p:spPr>
        <p:txBody>
          <a:bodyPr wrap="square" lIns="0" tIns="0" rIns="0" bIns="0" rtlCol="0" anchor="ctr"/>
          <a:lstStyle/>
          <a:p>
            <a:pPr algn="ctr" indent="0" marL="0">
              <a:buNone/>
            </a:pPr>
            <a:r>
              <a:rPr lang="en-US" sz="900" dirty="0">
                <a:solidFill>
                  <a:srgbClr val="8493AE"/>
                </a:solidFill>
                <a:latin typeface="Malgun Gothic" pitchFamily="34" charset="0"/>
                <a:ea typeface="Malgun Gothic" pitchFamily="34" charset="-122"/>
                <a:cs typeface="Malgun Gothic" pitchFamily="34" charset="-120"/>
              </a:rPr>
              <a:t>몸의 위치</a:t>
            </a:r>
            <a:endParaRPr lang="en-US" sz="900" dirty="0"/>
          </a:p>
        </p:txBody>
      </p:sp>
      <p:sp>
        <p:nvSpPr>
          <p:cNvPr id="10" name="Shape 6"/>
          <p:cNvSpPr/>
          <p:nvPr/>
        </p:nvSpPr>
        <p:spPr>
          <a:xfrm>
            <a:off x="548640" y="2331720"/>
            <a:ext cx="5074920" cy="4224528"/>
          </a:xfrm>
          <a:prstGeom prst="roundRect">
            <a:avLst>
              <a:gd name="adj" fmla="val 1948"/>
            </a:avLst>
          </a:prstGeom>
          <a:solidFill>
            <a:srgbClr val="121A2E"/>
          </a:solidFill>
          <a:ln w="12700">
            <a:solidFill>
              <a:srgbClr val="2A3756"/>
            </a:solidFill>
            <a:prstDash val="solid"/>
          </a:ln>
          <a:effectLst>
            <a:outerShdw sx="100000" sy="100000" kx="0" ky="0" algn="bl" rotWithShape="0" blurRad="114300" dist="38100" dir="5400000">
              <a:srgbClr val="000000">
                <a:alpha val="35000"/>
              </a:srgbClr>
            </a:outerShdw>
          </a:effectLst>
        </p:spPr>
      </p:sp>
      <p:sp>
        <p:nvSpPr>
          <p:cNvPr id="11" name="Text 7"/>
          <p:cNvSpPr/>
          <p:nvPr/>
        </p:nvSpPr>
        <p:spPr>
          <a:xfrm>
            <a:off x="822960" y="2542032"/>
            <a:ext cx="4526280" cy="274320"/>
          </a:xfrm>
          <a:prstGeom prst="rect">
            <a:avLst/>
          </a:prstGeom>
          <a:noFill/>
          <a:ln/>
        </p:spPr>
        <p:txBody>
          <a:bodyPr wrap="square" lIns="0" tIns="0" rIns="0" bIns="0" rtlCol="0" anchor="ctr"/>
          <a:lstStyle/>
          <a:p>
            <a:pPr algn="l" indent="0" marL="0">
              <a:buNone/>
            </a:pPr>
            <a:r>
              <a:rPr lang="en-US" sz="1150" b="1" dirty="0">
                <a:solidFill>
                  <a:srgbClr val="FF3B6B"/>
                </a:solidFill>
                <a:latin typeface="Malgun Gothic" pitchFamily="34" charset="0"/>
                <a:ea typeface="Malgun Gothic" pitchFamily="34" charset="-122"/>
                <a:cs typeface="Malgun Gothic" pitchFamily="34" charset="-120"/>
              </a:rPr>
              <a:t>쉬운 비유</a:t>
            </a:r>
            <a:endParaRPr lang="en-US" sz="1150" dirty="0"/>
          </a:p>
        </p:txBody>
      </p:sp>
      <p:sp>
        <p:nvSpPr>
          <p:cNvPr id="12" name="Text 8"/>
          <p:cNvSpPr/>
          <p:nvPr/>
        </p:nvSpPr>
        <p:spPr>
          <a:xfrm>
            <a:off x="822960" y="2798064"/>
            <a:ext cx="4526280" cy="365760"/>
          </a:xfrm>
          <a:prstGeom prst="rect">
            <a:avLst/>
          </a:prstGeom>
          <a:noFill/>
          <a:ln/>
        </p:spPr>
        <p:txBody>
          <a:bodyPr wrap="square" lIns="0" tIns="0" rIns="0" bIns="0" rtlCol="0" anchor="ctr"/>
          <a:lstStyle/>
          <a:p>
            <a:pPr indent="0" marL="0">
              <a:buNone/>
            </a:pPr>
            <a:r>
              <a:rPr lang="en-US" sz="1550" b="1" dirty="0">
                <a:solidFill>
                  <a:srgbClr val="EAF0FF"/>
                </a:solidFill>
                <a:latin typeface="Malgun Gothic" pitchFamily="34" charset="0"/>
                <a:ea typeface="Malgun Gothic" pitchFamily="34" charset="-122"/>
                <a:cs typeface="Malgun Gothic" pitchFamily="34" charset="-120"/>
              </a:rPr>
              <a:t>계산기 → 인형 → 진짜 아기</a:t>
            </a:r>
            <a:endParaRPr lang="en-US" sz="1550" dirty="0"/>
          </a:p>
        </p:txBody>
      </p:sp>
      <p:sp>
        <p:nvSpPr>
          <p:cNvPr id="13" name="Text 9"/>
          <p:cNvSpPr/>
          <p:nvPr/>
        </p:nvSpPr>
        <p:spPr>
          <a:xfrm>
            <a:off x="822960" y="3200400"/>
            <a:ext cx="4526280" cy="822960"/>
          </a:xfrm>
          <a:prstGeom prst="rect">
            <a:avLst/>
          </a:prstGeom>
          <a:noFill/>
          <a:ln/>
        </p:spPr>
        <p:txBody>
          <a:bodyPr wrap="square" lIns="0" tIns="0" rIns="0" bIns="0" rtlCol="0" anchor="ctr"/>
          <a:lstStyle/>
          <a:p>
            <a:pPr indent="0" marL="0">
              <a:lnSpc>
                <a:spcPct val="116000"/>
              </a:lnSpc>
              <a:buNone/>
            </a:pPr>
            <a:r>
              <a:rPr lang="en-US" sz="1150" dirty="0">
                <a:solidFill>
                  <a:srgbClr val="B7C4DC"/>
                </a:solidFill>
                <a:latin typeface="Malgun Gothic" pitchFamily="34" charset="0"/>
                <a:ea typeface="Malgun Gothic" pitchFamily="34" charset="-122"/>
                <a:cs typeface="Malgun Gothic" pitchFamily="34" charset="-120"/>
              </a:rPr>
              <a:t>GPU는 답을 빠르게 뱉는 계산기, 신경모방 칩은 사람을 흉내 낸 인형, Wetware·BCI는 진짜 살아있는 뇌세포에 가까운 아기 — 같은 '생각'이라도 재료 자체가 점점 진짜 뇌로 바뀝니다.</a:t>
            </a:r>
            <a:endParaRPr lang="en-US" sz="1150" dirty="0"/>
          </a:p>
        </p:txBody>
      </p:sp>
      <p:sp>
        <p:nvSpPr>
          <p:cNvPr id="14" name="Text 10"/>
          <p:cNvSpPr/>
          <p:nvPr/>
        </p:nvSpPr>
        <p:spPr>
          <a:xfrm>
            <a:off x="822960" y="4078224"/>
            <a:ext cx="4526280" cy="274320"/>
          </a:xfrm>
          <a:prstGeom prst="rect">
            <a:avLst/>
          </a:prstGeom>
          <a:noFill/>
          <a:ln/>
        </p:spPr>
        <p:txBody>
          <a:bodyPr wrap="square" lIns="0" tIns="0" rIns="0" bIns="0" rtlCol="0" anchor="ctr"/>
          <a:lstStyle/>
          <a:p>
            <a:pPr algn="l" indent="0" marL="0">
              <a:buNone/>
            </a:pPr>
            <a:r>
              <a:rPr lang="en-US" sz="1150" b="1" dirty="0">
                <a:solidFill>
                  <a:srgbClr val="FF3B6B"/>
                </a:solidFill>
                <a:latin typeface="Malgun Gothic" pitchFamily="34" charset="0"/>
                <a:ea typeface="Malgun Gothic" pitchFamily="34" charset="-122"/>
                <a:cs typeface="Malgun Gothic" pitchFamily="34" charset="-120"/>
              </a:rPr>
              <a:t>진화 단계</a:t>
            </a:r>
            <a:endParaRPr lang="en-US" sz="1150" dirty="0"/>
          </a:p>
        </p:txBody>
      </p:sp>
      <p:sp>
        <p:nvSpPr>
          <p:cNvPr id="15" name="Shape 11"/>
          <p:cNvSpPr/>
          <p:nvPr/>
        </p:nvSpPr>
        <p:spPr>
          <a:xfrm>
            <a:off x="822960" y="4425696"/>
            <a:ext cx="118872" cy="118872"/>
          </a:xfrm>
          <a:prstGeom prst="ellipse">
            <a:avLst/>
          </a:prstGeom>
          <a:solidFill>
            <a:srgbClr val="8493AE"/>
          </a:solidFill>
          <a:ln w="15875">
            <a:solidFill>
              <a:srgbClr val="8493AE"/>
            </a:solidFill>
            <a:prstDash val="solid"/>
          </a:ln>
        </p:spPr>
      </p:sp>
      <p:sp>
        <p:nvSpPr>
          <p:cNvPr id="16" name="Text 12"/>
          <p:cNvSpPr/>
          <p:nvPr/>
        </p:nvSpPr>
        <p:spPr>
          <a:xfrm>
            <a:off x="1060704" y="4370832"/>
            <a:ext cx="3291840" cy="292608"/>
          </a:xfrm>
          <a:prstGeom prst="rect">
            <a:avLst/>
          </a:prstGeom>
          <a:noFill/>
          <a:ln/>
        </p:spPr>
        <p:txBody>
          <a:bodyPr wrap="square" lIns="0" tIns="0" rIns="0" bIns="0" rtlCol="0" anchor="ctr"/>
          <a:lstStyle/>
          <a:p>
            <a:pPr indent="0" marL="0">
              <a:buNone/>
            </a:pPr>
            <a:r>
              <a:rPr lang="en-US" sz="1150" dirty="0">
                <a:solidFill>
                  <a:srgbClr val="8493AE"/>
                </a:solidFill>
                <a:latin typeface="Malgun Gothic" pitchFamily="34" charset="0"/>
                <a:ea typeface="Malgun Gothic" pitchFamily="34" charset="-122"/>
                <a:cs typeface="Malgun Gothic" pitchFamily="34" charset="-120"/>
              </a:rPr>
              <a:t>GPU</a:t>
            </a:r>
            <a:endParaRPr lang="en-US" sz="1150" dirty="0"/>
          </a:p>
        </p:txBody>
      </p:sp>
      <p:sp>
        <p:nvSpPr>
          <p:cNvPr id="17" name="Text 13"/>
          <p:cNvSpPr/>
          <p:nvPr/>
        </p:nvSpPr>
        <p:spPr>
          <a:xfrm>
            <a:off x="4160520" y="4370832"/>
            <a:ext cx="1188720" cy="292608"/>
          </a:xfrm>
          <a:prstGeom prst="rect">
            <a:avLst/>
          </a:prstGeom>
          <a:noFill/>
          <a:ln/>
        </p:spPr>
        <p:txBody>
          <a:bodyPr wrap="square" lIns="0" tIns="0" rIns="0" bIns="0" rtlCol="0" anchor="ctr"/>
          <a:lstStyle/>
          <a:p>
            <a:pPr algn="r" indent="0" marL="0">
              <a:buNone/>
            </a:pPr>
            <a:r>
              <a:rPr lang="en-US" sz="1000" dirty="0">
                <a:solidFill>
                  <a:srgbClr val="8493AE"/>
                </a:solidFill>
                <a:latin typeface="Consolas" pitchFamily="34" charset="0"/>
                <a:ea typeface="Consolas" pitchFamily="34" charset="-122"/>
                <a:cs typeface="Consolas" pitchFamily="34" charset="-120"/>
              </a:rPr>
              <a:t>~2020</a:t>
            </a:r>
            <a:endParaRPr lang="en-US" sz="1000" dirty="0"/>
          </a:p>
        </p:txBody>
      </p:sp>
      <p:sp>
        <p:nvSpPr>
          <p:cNvPr id="18" name="Shape 14"/>
          <p:cNvSpPr/>
          <p:nvPr/>
        </p:nvSpPr>
        <p:spPr>
          <a:xfrm>
            <a:off x="822960" y="4718304"/>
            <a:ext cx="118872" cy="118872"/>
          </a:xfrm>
          <a:prstGeom prst="ellipse">
            <a:avLst/>
          </a:prstGeom>
          <a:solidFill>
            <a:srgbClr val="FF3B6B"/>
          </a:solidFill>
          <a:ln w="15875">
            <a:solidFill>
              <a:srgbClr val="FF3B6B"/>
            </a:solidFill>
            <a:prstDash val="solid"/>
          </a:ln>
        </p:spPr>
      </p:sp>
      <p:sp>
        <p:nvSpPr>
          <p:cNvPr id="19" name="Text 15"/>
          <p:cNvSpPr/>
          <p:nvPr/>
        </p:nvSpPr>
        <p:spPr>
          <a:xfrm>
            <a:off x="1060704" y="4663440"/>
            <a:ext cx="3291840" cy="292608"/>
          </a:xfrm>
          <a:prstGeom prst="rect">
            <a:avLst/>
          </a:prstGeom>
          <a:noFill/>
          <a:ln/>
        </p:spPr>
        <p:txBody>
          <a:bodyPr wrap="square" lIns="0" tIns="0" rIns="0" bIns="0" rtlCol="0" anchor="ctr"/>
          <a:lstStyle/>
          <a:p>
            <a:pPr indent="0" marL="0">
              <a:buNone/>
            </a:pPr>
            <a:r>
              <a:rPr lang="en-US" sz="1150" b="1" dirty="0">
                <a:solidFill>
                  <a:srgbClr val="FF3B6B"/>
                </a:solidFill>
                <a:latin typeface="Malgun Gothic" pitchFamily="34" charset="0"/>
                <a:ea typeface="Malgun Gothic" pitchFamily="34" charset="-122"/>
                <a:cs typeface="Malgun Gothic" pitchFamily="34" charset="-120"/>
              </a:rPr>
              <a:t>Neuromorphic 칩</a:t>
            </a:r>
            <a:endParaRPr lang="en-US" sz="1150" dirty="0"/>
          </a:p>
        </p:txBody>
      </p:sp>
      <p:sp>
        <p:nvSpPr>
          <p:cNvPr id="20" name="Text 16"/>
          <p:cNvSpPr/>
          <p:nvPr/>
        </p:nvSpPr>
        <p:spPr>
          <a:xfrm>
            <a:off x="4160520" y="4663440"/>
            <a:ext cx="1188720" cy="292608"/>
          </a:xfrm>
          <a:prstGeom prst="rect">
            <a:avLst/>
          </a:prstGeom>
          <a:noFill/>
          <a:ln/>
        </p:spPr>
        <p:txBody>
          <a:bodyPr wrap="square" lIns="0" tIns="0" rIns="0" bIns="0" rtlCol="0" anchor="ctr"/>
          <a:lstStyle/>
          <a:p>
            <a:pPr algn="r" indent="0" marL="0">
              <a:buNone/>
            </a:pPr>
            <a:r>
              <a:rPr lang="en-US" sz="1000" dirty="0">
                <a:solidFill>
                  <a:srgbClr val="FF3B6B"/>
                </a:solidFill>
                <a:latin typeface="Consolas" pitchFamily="34" charset="0"/>
                <a:ea typeface="Consolas" pitchFamily="34" charset="-122"/>
                <a:cs typeface="Consolas" pitchFamily="34" charset="-120"/>
              </a:rPr>
              <a:t>2026  ★</a:t>
            </a:r>
            <a:endParaRPr lang="en-US" sz="1000" dirty="0"/>
          </a:p>
        </p:txBody>
      </p:sp>
      <p:sp>
        <p:nvSpPr>
          <p:cNvPr id="21" name="Shape 17"/>
          <p:cNvSpPr/>
          <p:nvPr/>
        </p:nvSpPr>
        <p:spPr>
          <a:xfrm>
            <a:off x="822960" y="5010912"/>
            <a:ext cx="118872" cy="118872"/>
          </a:xfrm>
          <a:prstGeom prst="ellipse">
            <a:avLst/>
          </a:prstGeom>
          <a:solidFill>
            <a:srgbClr val="FF3B6B"/>
          </a:solidFill>
          <a:ln w="15875">
            <a:solidFill>
              <a:srgbClr val="FF3B6B"/>
            </a:solidFill>
            <a:prstDash val="solid"/>
          </a:ln>
        </p:spPr>
      </p:sp>
      <p:sp>
        <p:nvSpPr>
          <p:cNvPr id="22" name="Text 18"/>
          <p:cNvSpPr/>
          <p:nvPr/>
        </p:nvSpPr>
        <p:spPr>
          <a:xfrm>
            <a:off x="1060704" y="4956048"/>
            <a:ext cx="3291840" cy="292608"/>
          </a:xfrm>
          <a:prstGeom prst="rect">
            <a:avLst/>
          </a:prstGeom>
          <a:noFill/>
          <a:ln/>
        </p:spPr>
        <p:txBody>
          <a:bodyPr wrap="square" lIns="0" tIns="0" rIns="0" bIns="0" rtlCol="0" anchor="ctr"/>
          <a:lstStyle/>
          <a:p>
            <a:pPr indent="0" marL="0">
              <a:buNone/>
            </a:pPr>
            <a:r>
              <a:rPr lang="en-US" sz="1150" b="1" dirty="0">
                <a:solidFill>
                  <a:srgbClr val="FF3B6B"/>
                </a:solidFill>
                <a:latin typeface="Malgun Gothic" pitchFamily="34" charset="0"/>
                <a:ea typeface="Malgun Gothic" pitchFamily="34" charset="-122"/>
                <a:cs typeface="Malgun Gothic" pitchFamily="34" charset="-120"/>
              </a:rPr>
              <a:t>Wetware (진짜 뇌세포)</a:t>
            </a:r>
            <a:endParaRPr lang="en-US" sz="1150" dirty="0"/>
          </a:p>
        </p:txBody>
      </p:sp>
      <p:sp>
        <p:nvSpPr>
          <p:cNvPr id="23" name="Text 19"/>
          <p:cNvSpPr/>
          <p:nvPr/>
        </p:nvSpPr>
        <p:spPr>
          <a:xfrm>
            <a:off x="4160520" y="4956048"/>
            <a:ext cx="1188720" cy="292608"/>
          </a:xfrm>
          <a:prstGeom prst="rect">
            <a:avLst/>
          </a:prstGeom>
          <a:noFill/>
          <a:ln/>
        </p:spPr>
        <p:txBody>
          <a:bodyPr wrap="square" lIns="0" tIns="0" rIns="0" bIns="0" rtlCol="0" anchor="ctr"/>
          <a:lstStyle/>
          <a:p>
            <a:pPr algn="r" indent="0" marL="0">
              <a:buNone/>
            </a:pPr>
            <a:r>
              <a:rPr lang="en-US" sz="1000" dirty="0">
                <a:solidFill>
                  <a:srgbClr val="FF3B6B"/>
                </a:solidFill>
                <a:latin typeface="Consolas" pitchFamily="34" charset="0"/>
                <a:ea typeface="Consolas" pitchFamily="34" charset="-122"/>
                <a:cs typeface="Consolas" pitchFamily="34" charset="-120"/>
              </a:rPr>
              <a:t>2026  ★</a:t>
            </a:r>
            <a:endParaRPr lang="en-US" sz="1000" dirty="0"/>
          </a:p>
        </p:txBody>
      </p:sp>
      <p:sp>
        <p:nvSpPr>
          <p:cNvPr id="24" name="Shape 20"/>
          <p:cNvSpPr/>
          <p:nvPr/>
        </p:nvSpPr>
        <p:spPr>
          <a:xfrm>
            <a:off x="822960" y="5303520"/>
            <a:ext cx="118872" cy="118872"/>
          </a:xfrm>
          <a:prstGeom prst="ellipse">
            <a:avLst/>
          </a:prstGeom>
          <a:solidFill>
            <a:srgbClr val="0B0F1A"/>
          </a:solidFill>
          <a:ln w="15875">
            <a:solidFill>
              <a:srgbClr val="FF3B6B"/>
            </a:solidFill>
            <a:prstDash val="solid"/>
          </a:ln>
        </p:spPr>
      </p:sp>
      <p:sp>
        <p:nvSpPr>
          <p:cNvPr id="25" name="Text 21"/>
          <p:cNvSpPr/>
          <p:nvPr/>
        </p:nvSpPr>
        <p:spPr>
          <a:xfrm>
            <a:off x="1060704" y="5248656"/>
            <a:ext cx="3291840" cy="292608"/>
          </a:xfrm>
          <a:prstGeom prst="rect">
            <a:avLst/>
          </a:prstGeom>
          <a:noFill/>
          <a:ln/>
        </p:spPr>
        <p:txBody>
          <a:bodyPr wrap="square" lIns="0" tIns="0" rIns="0" bIns="0" rtlCol="0" anchor="ctr"/>
          <a:lstStyle/>
          <a:p>
            <a:pPr indent="0" marL="0">
              <a:buNone/>
            </a:pPr>
            <a:r>
              <a:rPr lang="en-US" sz="1150" dirty="0">
                <a:solidFill>
                  <a:srgbClr val="B7C4DC"/>
                </a:solidFill>
                <a:latin typeface="Malgun Gothic" pitchFamily="34" charset="0"/>
                <a:ea typeface="Malgun Gothic" pitchFamily="34" charset="-122"/>
                <a:cs typeface="Malgun Gothic" pitchFamily="34" charset="-120"/>
              </a:rPr>
              <a:t>BCI (사람 뇌 직접)</a:t>
            </a:r>
            <a:endParaRPr lang="en-US" sz="1150" dirty="0"/>
          </a:p>
        </p:txBody>
      </p:sp>
      <p:sp>
        <p:nvSpPr>
          <p:cNvPr id="26" name="Text 22"/>
          <p:cNvSpPr/>
          <p:nvPr/>
        </p:nvSpPr>
        <p:spPr>
          <a:xfrm>
            <a:off x="4160520" y="5248656"/>
            <a:ext cx="1188720" cy="292608"/>
          </a:xfrm>
          <a:prstGeom prst="rect">
            <a:avLst/>
          </a:prstGeom>
          <a:noFill/>
          <a:ln/>
        </p:spPr>
        <p:txBody>
          <a:bodyPr wrap="square" lIns="0" tIns="0" rIns="0" bIns="0" rtlCol="0" anchor="ctr"/>
          <a:lstStyle/>
          <a:p>
            <a:pPr algn="r" indent="0" marL="0">
              <a:buNone/>
            </a:pPr>
            <a:r>
              <a:rPr lang="en-US" sz="1000" dirty="0">
                <a:solidFill>
                  <a:srgbClr val="8493AE"/>
                </a:solidFill>
                <a:latin typeface="Consolas" pitchFamily="34" charset="0"/>
                <a:ea typeface="Consolas" pitchFamily="34" charset="-122"/>
                <a:cs typeface="Consolas" pitchFamily="34" charset="-120"/>
              </a:rPr>
              <a:t>2028+</a:t>
            </a:r>
            <a:endParaRPr lang="en-US" sz="1000" dirty="0"/>
          </a:p>
        </p:txBody>
      </p:sp>
      <p:sp>
        <p:nvSpPr>
          <p:cNvPr id="27" name="Text 23"/>
          <p:cNvSpPr/>
          <p:nvPr/>
        </p:nvSpPr>
        <p:spPr>
          <a:xfrm>
            <a:off x="822960" y="5870448"/>
            <a:ext cx="4526280" cy="274320"/>
          </a:xfrm>
          <a:prstGeom prst="rect">
            <a:avLst/>
          </a:prstGeom>
          <a:noFill/>
          <a:ln/>
        </p:spPr>
        <p:txBody>
          <a:bodyPr wrap="square" lIns="0" tIns="0" rIns="0" bIns="0" rtlCol="0" anchor="ctr"/>
          <a:lstStyle/>
          <a:p>
            <a:pPr algn="l" indent="0" marL="0">
              <a:buNone/>
            </a:pPr>
            <a:r>
              <a:rPr lang="en-US" sz="1150" b="1" dirty="0">
                <a:solidFill>
                  <a:srgbClr val="FF3B6B"/>
                </a:solidFill>
                <a:latin typeface="Malgun Gothic" pitchFamily="34" charset="0"/>
                <a:ea typeface="Malgun Gothic" pitchFamily="34" charset="-122"/>
                <a:cs typeface="Malgun Gothic" pitchFamily="34" charset="-120"/>
              </a:rPr>
              <a:t>대표 기업</a:t>
            </a:r>
            <a:endParaRPr lang="en-US" sz="1150" dirty="0"/>
          </a:p>
        </p:txBody>
      </p:sp>
      <p:sp>
        <p:nvSpPr>
          <p:cNvPr id="28" name="Text 24"/>
          <p:cNvSpPr/>
          <p:nvPr/>
        </p:nvSpPr>
        <p:spPr>
          <a:xfrm>
            <a:off x="822960" y="6108192"/>
            <a:ext cx="4526280" cy="384048"/>
          </a:xfrm>
          <a:prstGeom prst="rect">
            <a:avLst/>
          </a:prstGeom>
          <a:noFill/>
          <a:ln/>
        </p:spPr>
        <p:txBody>
          <a:bodyPr wrap="square" lIns="0" tIns="0" rIns="0" bIns="0" rtlCol="0" anchor="ctr"/>
          <a:lstStyle/>
          <a:p>
            <a:pPr indent="0" marL="0">
              <a:lnSpc>
                <a:spcPct val="105000"/>
              </a:lnSpc>
              <a:buNone/>
            </a:pPr>
            <a:r>
              <a:rPr lang="en-US" sz="1000" dirty="0">
                <a:solidFill>
                  <a:srgbClr val="B7C4DC"/>
                </a:solidFill>
                <a:latin typeface="Malgun Gothic" pitchFamily="34" charset="0"/>
                <a:ea typeface="Malgun Gothic" pitchFamily="34" charset="-122"/>
                <a:cs typeface="Malgun Gothic" pitchFamily="34" charset="-120"/>
              </a:rPr>
              <a:t>IBM NorthPole, Cortical Labs CL1, Neuralink, Liquid AI</a:t>
            </a:r>
            <a:endParaRPr lang="en-US" sz="1000" dirty="0"/>
          </a:p>
        </p:txBody>
      </p:sp>
      <p:sp>
        <p:nvSpPr>
          <p:cNvPr id="29" name="Text 25"/>
          <p:cNvSpPr/>
          <p:nvPr/>
        </p:nvSpPr>
        <p:spPr>
          <a:xfrm>
            <a:off x="5897880" y="2395728"/>
            <a:ext cx="5742432" cy="274320"/>
          </a:xfrm>
          <a:prstGeom prst="rect">
            <a:avLst/>
          </a:prstGeom>
          <a:noFill/>
          <a:ln/>
        </p:spPr>
        <p:txBody>
          <a:bodyPr wrap="square" lIns="0" tIns="0" rIns="0" bIns="0" rtlCol="0" anchor="ctr"/>
          <a:lstStyle/>
          <a:p>
            <a:pPr algn="l" indent="0" marL="0">
              <a:buNone/>
            </a:pPr>
            <a:r>
              <a:rPr lang="en-US" sz="1150" b="1" dirty="0">
                <a:solidFill>
                  <a:srgbClr val="FF3B6B"/>
                </a:solidFill>
                <a:latin typeface="Malgun Gothic" pitchFamily="34" charset="0"/>
                <a:ea typeface="Malgun Gothic" pitchFamily="34" charset="-122"/>
                <a:cs typeface="Malgun Gothic" pitchFamily="34" charset="-120"/>
              </a:rPr>
              <a:t>왜 필요한가</a:t>
            </a:r>
            <a:endParaRPr lang="en-US" sz="1150" dirty="0"/>
          </a:p>
        </p:txBody>
      </p:sp>
      <p:sp>
        <p:nvSpPr>
          <p:cNvPr id="30" name="Text 26"/>
          <p:cNvSpPr/>
          <p:nvPr/>
        </p:nvSpPr>
        <p:spPr>
          <a:xfrm>
            <a:off x="5897880" y="2651760"/>
            <a:ext cx="5742432" cy="1143000"/>
          </a:xfrm>
          <a:prstGeom prst="rect">
            <a:avLst/>
          </a:prstGeom>
          <a:noFill/>
          <a:ln/>
        </p:spPr>
        <p:txBody>
          <a:bodyPr wrap="square" lIns="0" tIns="0" rIns="0" bIns="0" rtlCol="0" anchor="ctr"/>
          <a:lstStyle/>
          <a:p>
            <a:pPr indent="0" marL="0">
              <a:lnSpc>
                <a:spcPct val="122000"/>
              </a:lnSpc>
              <a:buNone/>
            </a:pPr>
            <a:r>
              <a:rPr lang="en-US" sz="1250" dirty="0">
                <a:solidFill>
                  <a:srgbClr val="B7C4DC"/>
                </a:solidFill>
                <a:latin typeface="Malgun Gothic" pitchFamily="34" charset="0"/>
                <a:ea typeface="Malgun Gothic" pitchFamily="34" charset="-122"/>
                <a:cs typeface="Malgun Gothic" pitchFamily="34" charset="-120"/>
              </a:rPr>
              <a:t>지금 AI는 똑똑하지만 전기를 너무 먹습니다. 사람 뇌는 전구 하나(약 20W)로 평생 생각하는데, GPU 한 대는 그 수천 배를 씁니다. 데이터센터가 도시만큼 전기를 먹기 시작하면서, '뇌처럼 적게 쓰고 똑똑한' 칩이 다음 승부처가 됐습니다.</a:t>
            </a:r>
            <a:endParaRPr lang="en-US" sz="1250" dirty="0"/>
          </a:p>
        </p:txBody>
      </p:sp>
      <p:sp>
        <p:nvSpPr>
          <p:cNvPr id="31" name="Text 27"/>
          <p:cNvSpPr/>
          <p:nvPr/>
        </p:nvSpPr>
        <p:spPr>
          <a:xfrm>
            <a:off x="5897880" y="3931920"/>
            <a:ext cx="5742432" cy="274320"/>
          </a:xfrm>
          <a:prstGeom prst="rect">
            <a:avLst/>
          </a:prstGeom>
          <a:noFill/>
          <a:ln/>
        </p:spPr>
        <p:txBody>
          <a:bodyPr wrap="square" lIns="0" tIns="0" rIns="0" bIns="0" rtlCol="0" anchor="ctr"/>
          <a:lstStyle/>
          <a:p>
            <a:pPr algn="l" indent="0" marL="0">
              <a:buNone/>
            </a:pPr>
            <a:r>
              <a:rPr lang="en-US" sz="1150" b="1" dirty="0">
                <a:solidFill>
                  <a:srgbClr val="FF3B6B"/>
                </a:solidFill>
                <a:latin typeface="Malgun Gothic" pitchFamily="34" charset="0"/>
                <a:ea typeface="Malgun Gothic" pitchFamily="34" charset="-122"/>
                <a:cs typeface="Malgun Gothic" pitchFamily="34" charset="-120"/>
              </a:rPr>
              <a:t>핵심 기술</a:t>
            </a:r>
            <a:endParaRPr lang="en-US" sz="1150" dirty="0"/>
          </a:p>
        </p:txBody>
      </p:sp>
      <p:sp>
        <p:nvSpPr>
          <p:cNvPr id="32" name="Text 28"/>
          <p:cNvSpPr/>
          <p:nvPr/>
        </p:nvSpPr>
        <p:spPr>
          <a:xfrm>
            <a:off x="5897880" y="4187952"/>
            <a:ext cx="5742432" cy="777240"/>
          </a:xfrm>
          <a:prstGeom prst="rect">
            <a:avLst/>
          </a:prstGeom>
          <a:noFill/>
          <a:ln/>
        </p:spPr>
        <p:txBody>
          <a:bodyPr wrap="square" lIns="0" tIns="0" rIns="0" bIns="0" rtlCol="0" anchor="ctr"/>
          <a:lstStyle/>
          <a:p>
            <a:pPr indent="0" marL="0">
              <a:lnSpc>
                <a:spcPct val="125000"/>
              </a:lnSpc>
              <a:buNone/>
            </a:pPr>
            <a:r>
              <a:rPr lang="en-US" sz="1200" dirty="0">
                <a:solidFill>
                  <a:srgbClr val="B7C4DC"/>
                </a:solidFill>
                <a:latin typeface="Malgun Gothic" pitchFamily="34" charset="0"/>
                <a:ea typeface="Malgun Gothic" pitchFamily="34" charset="-122"/>
                <a:cs typeface="Malgun Gothic" pitchFamily="34" charset="-120"/>
              </a:rPr>
              <a:t>GPU   ·   NPU   ·   Neuromorphic   ·   Liquid Neural Network   ·   Brain-inspired AI   ·   Wetware   ·   BCI   ·   Collective Brain   ·   Digital Brain   ·   AGI   ·   ASI</a:t>
            </a:r>
            <a:endParaRPr lang="en-US" sz="1200" dirty="0"/>
          </a:p>
        </p:txBody>
      </p:sp>
      <p:sp>
        <p:nvSpPr>
          <p:cNvPr id="33" name="Text 29"/>
          <p:cNvSpPr/>
          <p:nvPr/>
        </p:nvSpPr>
        <p:spPr>
          <a:xfrm>
            <a:off x="5897880" y="5074920"/>
            <a:ext cx="5742432" cy="274320"/>
          </a:xfrm>
          <a:prstGeom prst="rect">
            <a:avLst/>
          </a:prstGeom>
          <a:noFill/>
          <a:ln/>
        </p:spPr>
        <p:txBody>
          <a:bodyPr wrap="square" lIns="0" tIns="0" rIns="0" bIns="0" rtlCol="0" anchor="ctr"/>
          <a:lstStyle/>
          <a:p>
            <a:pPr algn="l" indent="0" marL="0">
              <a:buNone/>
            </a:pPr>
            <a:r>
              <a:rPr lang="en-US" sz="1150" b="1" dirty="0">
                <a:solidFill>
                  <a:srgbClr val="FF3B6B"/>
                </a:solidFill>
                <a:latin typeface="Malgun Gothic" pitchFamily="34" charset="0"/>
                <a:ea typeface="Malgun Gothic" pitchFamily="34" charset="-122"/>
                <a:cs typeface="Malgun Gothic" pitchFamily="34" charset="-120"/>
              </a:rPr>
              <a:t>2035 전망</a:t>
            </a:r>
            <a:endParaRPr lang="en-US" sz="1150" dirty="0"/>
          </a:p>
        </p:txBody>
      </p:sp>
      <p:sp>
        <p:nvSpPr>
          <p:cNvPr id="34" name="Text 30"/>
          <p:cNvSpPr/>
          <p:nvPr/>
        </p:nvSpPr>
        <p:spPr>
          <a:xfrm>
            <a:off x="5897880" y="5330952"/>
            <a:ext cx="5742432" cy="1188720"/>
          </a:xfrm>
          <a:prstGeom prst="rect">
            <a:avLst/>
          </a:prstGeom>
          <a:noFill/>
          <a:ln/>
        </p:spPr>
        <p:txBody>
          <a:bodyPr wrap="square" lIns="0" tIns="0" rIns="0" bIns="0" rtlCol="0" anchor="ctr"/>
          <a:lstStyle/>
          <a:p>
            <a:pPr indent="0" marL="0">
              <a:lnSpc>
                <a:spcPct val="122000"/>
              </a:lnSpc>
              <a:buNone/>
            </a:pPr>
            <a:r>
              <a:rPr lang="en-US" sz="1250" dirty="0">
                <a:solidFill>
                  <a:srgbClr val="B7C4DC"/>
                </a:solidFill>
                <a:latin typeface="Malgun Gothic" pitchFamily="34" charset="0"/>
                <a:ea typeface="Malgun Gothic" pitchFamily="34" charset="-122"/>
                <a:cs typeface="Malgun Gothic" pitchFamily="34" charset="-120"/>
              </a:rPr>
              <a:t>2035년에는 '학습=초거대 GPU, 추론=저전력 신경모방/NPU'로 역할이 갈리고, 일부 특수 연산은 배양 뉴런(Wetware)이나 양자와 결합한 하이브리드 두뇌가 맡을 가능성이 큽니다.</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548640" y="502920"/>
            <a:ext cx="868680" cy="868680"/>
          </a:xfrm>
          <a:prstGeom prst="ellipse">
            <a:avLst/>
          </a:prstGeom>
          <a:solidFill>
            <a:srgbClr val="18223A"/>
          </a:solidFill>
          <a:ln w="22225">
            <a:solidFill>
              <a:srgbClr val="16E0A3"/>
            </a:solidFill>
            <a:prstDash val="solid"/>
          </a:ln>
        </p:spPr>
      </p:sp>
      <p:pic>
        <p:nvPicPr>
          <p:cNvPr id="3" name="Image 0" descr="assets/icon_memory.png">    </p:cNvPr>
          <p:cNvPicPr>
            <a:picLocks noChangeAspect="1"/>
          </p:cNvPicPr>
          <p:nvPr/>
        </p:nvPicPr>
        <p:blipFill>
          <a:blip r:embed="rId1"/>
          <a:stretch>
            <a:fillRect/>
          </a:stretch>
        </p:blipFill>
        <p:spPr>
          <a:xfrm>
            <a:off x="713689" y="667969"/>
            <a:ext cx="538582" cy="538582"/>
          </a:xfrm>
          <a:prstGeom prst="rect">
            <a:avLst/>
          </a:prstGeom>
        </p:spPr>
      </p:pic>
      <p:sp>
        <p:nvSpPr>
          <p:cNvPr id="4" name="Text 1"/>
          <p:cNvSpPr/>
          <p:nvPr/>
        </p:nvSpPr>
        <p:spPr>
          <a:xfrm>
            <a:off x="1600200" y="475488"/>
            <a:ext cx="2743200" cy="292608"/>
          </a:xfrm>
          <a:prstGeom prst="rect">
            <a:avLst/>
          </a:prstGeom>
          <a:noFill/>
          <a:ln/>
        </p:spPr>
        <p:txBody>
          <a:bodyPr wrap="square" lIns="0" tIns="0" rIns="0" bIns="0" rtlCol="0" anchor="ctr"/>
          <a:lstStyle/>
          <a:p>
            <a:pPr indent="0" marL="0">
              <a:buNone/>
            </a:pPr>
            <a:r>
              <a:rPr lang="en-US" sz="1400" b="1" dirty="0">
                <a:solidFill>
                  <a:srgbClr val="16E0A3"/>
                </a:solidFill>
                <a:latin typeface="Consolas" pitchFamily="34" charset="0"/>
                <a:ea typeface="Consolas" pitchFamily="34" charset="-122"/>
                <a:cs typeface="Consolas" pitchFamily="34" charset="-120"/>
              </a:rPr>
              <a:t>02</a:t>
            </a:r>
            <a:endParaRPr lang="en-US" sz="1400" dirty="0"/>
          </a:p>
        </p:txBody>
      </p:sp>
      <p:sp>
        <p:nvSpPr>
          <p:cNvPr id="5" name="Text 2"/>
          <p:cNvSpPr/>
          <p:nvPr/>
        </p:nvSpPr>
        <p:spPr>
          <a:xfrm>
            <a:off x="1572768" y="713232"/>
            <a:ext cx="6858000" cy="658368"/>
          </a:xfrm>
          <a:prstGeom prst="rect">
            <a:avLst/>
          </a:prstGeom>
          <a:noFill/>
          <a:ln/>
        </p:spPr>
        <p:txBody>
          <a:bodyPr wrap="square" lIns="0" tIns="0" rIns="0" bIns="0" rtlCol="0" anchor="ctr"/>
          <a:lstStyle/>
          <a:p>
            <a:pPr indent="0" marL="0">
              <a:buNone/>
            </a:pPr>
            <a:r>
              <a:rPr lang="en-US" sz="3300" b="1" dirty="0">
                <a:solidFill>
                  <a:srgbClr val="EAF0FF"/>
                </a:solidFill>
                <a:latin typeface="Malgun Gothic" pitchFamily="34" charset="0"/>
                <a:ea typeface="Malgun Gothic" pitchFamily="34" charset="-122"/>
                <a:cs typeface="Malgun Gothic" pitchFamily="34" charset="-120"/>
              </a:rPr>
              <a:t>기억</a:t>
            </a:r>
            <a:endParaRPr lang="en-US" sz="3300" dirty="0"/>
          </a:p>
        </p:txBody>
      </p:sp>
      <p:sp>
        <p:nvSpPr>
          <p:cNvPr id="6" name="Text 3"/>
          <p:cNvSpPr/>
          <p:nvPr/>
        </p:nvSpPr>
        <p:spPr>
          <a:xfrm>
            <a:off x="1600200" y="1371600"/>
            <a:ext cx="8229600" cy="292608"/>
          </a:xfrm>
          <a:prstGeom prst="rect">
            <a:avLst/>
          </a:prstGeom>
          <a:noFill/>
          <a:ln/>
        </p:spPr>
        <p:txBody>
          <a:bodyPr wrap="square" lIns="0" tIns="0" rIns="0" bIns="0" rtlCol="0" anchor="ctr"/>
          <a:lstStyle/>
          <a:p>
            <a:pPr indent="0" marL="0">
              <a:buNone/>
            </a:pPr>
            <a:r>
              <a:rPr lang="en-US" sz="1300" dirty="0">
                <a:solidFill>
                  <a:srgbClr val="8493AE"/>
                </a:solidFill>
                <a:latin typeface="Malgun Gothic" pitchFamily="34" charset="0"/>
                <a:ea typeface="Malgun Gothic" pitchFamily="34" charset="-122"/>
                <a:cs typeface="Malgun Gothic" pitchFamily="34" charset="-120"/>
              </a:rPr>
              <a:t>Memory · AI가 어떻게 기억하나</a:t>
            </a:r>
            <a:endParaRPr lang="en-US" sz="1300" dirty="0"/>
          </a:p>
        </p:txBody>
      </p:sp>
      <p:sp>
        <p:nvSpPr>
          <p:cNvPr id="7" name="Text 4"/>
          <p:cNvSpPr/>
          <p:nvPr/>
        </p:nvSpPr>
        <p:spPr>
          <a:xfrm>
            <a:off x="1600200" y="1700784"/>
            <a:ext cx="8869680" cy="457200"/>
          </a:xfrm>
          <a:prstGeom prst="rect">
            <a:avLst/>
          </a:prstGeom>
          <a:noFill/>
          <a:ln/>
        </p:spPr>
        <p:txBody>
          <a:bodyPr wrap="square" lIns="0" tIns="0" rIns="0" bIns="0" rtlCol="0" anchor="ctr"/>
          <a:lstStyle/>
          <a:p>
            <a:pPr indent="0" marL="0">
              <a:buNone/>
            </a:pPr>
            <a:r>
              <a:rPr lang="en-US" sz="1350" i="1" dirty="0">
                <a:solidFill>
                  <a:srgbClr val="B7C4DC"/>
                </a:solidFill>
                <a:latin typeface="Malgun Gothic" pitchFamily="34" charset="0"/>
                <a:ea typeface="Malgun Gothic" pitchFamily="34" charset="-122"/>
                <a:cs typeface="Malgun Gothic" pitchFamily="34" charset="-120"/>
              </a:rPr>
              <a:t>정보를 '밖에서 찾아오기'에서 '안에 새겨두기'로 옮겨가는 단계.</a:t>
            </a:r>
            <a:endParaRPr lang="en-US" sz="1350" dirty="0"/>
          </a:p>
        </p:txBody>
      </p:sp>
      <p:pic>
        <p:nvPicPr>
          <p:cNvPr id="8" name="Image 1" descr="assets/loc_memory.png">    </p:cNvPr>
          <p:cNvPicPr>
            <a:picLocks noChangeAspect="1"/>
          </p:cNvPicPr>
          <p:nvPr/>
        </p:nvPicPr>
        <p:blipFill>
          <a:blip r:embed="rId2"/>
          <a:stretch>
            <a:fillRect/>
          </a:stretch>
        </p:blipFill>
        <p:spPr>
          <a:xfrm>
            <a:off x="10972800" y="457200"/>
            <a:ext cx="914400" cy="1600200"/>
          </a:xfrm>
          <a:prstGeom prst="rect">
            <a:avLst/>
          </a:prstGeom>
        </p:spPr>
      </p:pic>
      <p:sp>
        <p:nvSpPr>
          <p:cNvPr id="9" name="Text 5"/>
          <p:cNvSpPr/>
          <p:nvPr/>
        </p:nvSpPr>
        <p:spPr>
          <a:xfrm>
            <a:off x="10607040" y="2075688"/>
            <a:ext cx="1645920" cy="228600"/>
          </a:xfrm>
          <a:prstGeom prst="rect">
            <a:avLst/>
          </a:prstGeom>
          <a:noFill/>
          <a:ln/>
        </p:spPr>
        <p:txBody>
          <a:bodyPr wrap="square" lIns="0" tIns="0" rIns="0" bIns="0" rtlCol="0" anchor="ctr"/>
          <a:lstStyle/>
          <a:p>
            <a:pPr algn="ctr" indent="0" marL="0">
              <a:buNone/>
            </a:pPr>
            <a:r>
              <a:rPr lang="en-US" sz="900" dirty="0">
                <a:solidFill>
                  <a:srgbClr val="8493AE"/>
                </a:solidFill>
                <a:latin typeface="Malgun Gothic" pitchFamily="34" charset="0"/>
                <a:ea typeface="Malgun Gothic" pitchFamily="34" charset="-122"/>
                <a:cs typeface="Malgun Gothic" pitchFamily="34" charset="-120"/>
              </a:rPr>
              <a:t>몸의 위치</a:t>
            </a:r>
            <a:endParaRPr lang="en-US" sz="900" dirty="0"/>
          </a:p>
        </p:txBody>
      </p:sp>
      <p:sp>
        <p:nvSpPr>
          <p:cNvPr id="10" name="Shape 6"/>
          <p:cNvSpPr/>
          <p:nvPr/>
        </p:nvSpPr>
        <p:spPr>
          <a:xfrm>
            <a:off x="548640" y="2331720"/>
            <a:ext cx="5074920" cy="4224528"/>
          </a:xfrm>
          <a:prstGeom prst="roundRect">
            <a:avLst>
              <a:gd name="adj" fmla="val 1948"/>
            </a:avLst>
          </a:prstGeom>
          <a:solidFill>
            <a:srgbClr val="121A2E"/>
          </a:solidFill>
          <a:ln w="12700">
            <a:solidFill>
              <a:srgbClr val="2A3756"/>
            </a:solidFill>
            <a:prstDash val="solid"/>
          </a:ln>
          <a:effectLst>
            <a:outerShdw sx="100000" sy="100000" kx="0" ky="0" algn="bl" rotWithShape="0" blurRad="114300" dist="38100" dir="5400000">
              <a:srgbClr val="000000">
                <a:alpha val="35000"/>
              </a:srgbClr>
            </a:outerShdw>
          </a:effectLst>
        </p:spPr>
      </p:sp>
      <p:sp>
        <p:nvSpPr>
          <p:cNvPr id="11" name="Text 7"/>
          <p:cNvSpPr/>
          <p:nvPr/>
        </p:nvSpPr>
        <p:spPr>
          <a:xfrm>
            <a:off x="822960" y="2542032"/>
            <a:ext cx="4526280" cy="274320"/>
          </a:xfrm>
          <a:prstGeom prst="rect">
            <a:avLst/>
          </a:prstGeom>
          <a:noFill/>
          <a:ln/>
        </p:spPr>
        <p:txBody>
          <a:bodyPr wrap="square" lIns="0" tIns="0" rIns="0" bIns="0" rtlCol="0" anchor="ctr"/>
          <a:lstStyle/>
          <a:p>
            <a:pPr algn="l" indent="0" marL="0">
              <a:buNone/>
            </a:pPr>
            <a:r>
              <a:rPr lang="en-US" sz="1150" b="1" dirty="0">
                <a:solidFill>
                  <a:srgbClr val="16E0A3"/>
                </a:solidFill>
                <a:latin typeface="Malgun Gothic" pitchFamily="34" charset="0"/>
                <a:ea typeface="Malgun Gothic" pitchFamily="34" charset="-122"/>
                <a:cs typeface="Malgun Gothic" pitchFamily="34" charset="-120"/>
              </a:rPr>
              <a:t>쉬운 비유</a:t>
            </a:r>
            <a:endParaRPr lang="en-US" sz="1150" dirty="0"/>
          </a:p>
        </p:txBody>
      </p:sp>
      <p:sp>
        <p:nvSpPr>
          <p:cNvPr id="12" name="Text 8"/>
          <p:cNvSpPr/>
          <p:nvPr/>
        </p:nvSpPr>
        <p:spPr>
          <a:xfrm>
            <a:off x="822960" y="2798064"/>
            <a:ext cx="4526280" cy="365760"/>
          </a:xfrm>
          <a:prstGeom prst="rect">
            <a:avLst/>
          </a:prstGeom>
          <a:noFill/>
          <a:ln/>
        </p:spPr>
        <p:txBody>
          <a:bodyPr wrap="square" lIns="0" tIns="0" rIns="0" bIns="0" rtlCol="0" anchor="ctr"/>
          <a:lstStyle/>
          <a:p>
            <a:pPr indent="0" marL="0">
              <a:buNone/>
            </a:pPr>
            <a:r>
              <a:rPr lang="en-US" sz="1550" b="1" dirty="0">
                <a:solidFill>
                  <a:srgbClr val="EAF0FF"/>
                </a:solidFill>
                <a:latin typeface="Malgun Gothic" pitchFamily="34" charset="0"/>
                <a:ea typeface="Malgun Gothic" pitchFamily="34" charset="-122"/>
                <a:cs typeface="Malgun Gothic" pitchFamily="34" charset="-120"/>
              </a:rPr>
              <a:t>책장 → 일기장 → 두뇌 자체</a:t>
            </a:r>
            <a:endParaRPr lang="en-US" sz="1550" dirty="0"/>
          </a:p>
        </p:txBody>
      </p:sp>
      <p:sp>
        <p:nvSpPr>
          <p:cNvPr id="13" name="Text 9"/>
          <p:cNvSpPr/>
          <p:nvPr/>
        </p:nvSpPr>
        <p:spPr>
          <a:xfrm>
            <a:off x="822960" y="3200400"/>
            <a:ext cx="4526280" cy="822960"/>
          </a:xfrm>
          <a:prstGeom prst="rect">
            <a:avLst/>
          </a:prstGeom>
          <a:noFill/>
          <a:ln/>
        </p:spPr>
        <p:txBody>
          <a:bodyPr wrap="square" lIns="0" tIns="0" rIns="0" bIns="0" rtlCol="0" anchor="ctr"/>
          <a:lstStyle/>
          <a:p>
            <a:pPr indent="0" marL="0">
              <a:lnSpc>
                <a:spcPct val="116000"/>
              </a:lnSpc>
              <a:buNone/>
            </a:pPr>
            <a:r>
              <a:rPr lang="en-US" sz="1150" dirty="0">
                <a:solidFill>
                  <a:srgbClr val="B7C4DC"/>
                </a:solidFill>
                <a:latin typeface="Malgun Gothic" pitchFamily="34" charset="0"/>
                <a:ea typeface="Malgun Gothic" pitchFamily="34" charset="-122"/>
                <a:cs typeface="Malgun Gothic" pitchFamily="34" charset="-120"/>
              </a:rPr>
              <a:t>RAG는 필요할 때 꺼내 보는 외부 책장, mem0는 나만의 일기장, Wetware 메모리는 경험이 두뇌 자체를 바꾸는 단계 — 기억이 점점 '몸 안'으로 들어옵니다.</a:t>
            </a:r>
            <a:endParaRPr lang="en-US" sz="1150" dirty="0"/>
          </a:p>
        </p:txBody>
      </p:sp>
      <p:sp>
        <p:nvSpPr>
          <p:cNvPr id="14" name="Text 10"/>
          <p:cNvSpPr/>
          <p:nvPr/>
        </p:nvSpPr>
        <p:spPr>
          <a:xfrm>
            <a:off x="822960" y="4078224"/>
            <a:ext cx="4526280" cy="274320"/>
          </a:xfrm>
          <a:prstGeom prst="rect">
            <a:avLst/>
          </a:prstGeom>
          <a:noFill/>
          <a:ln/>
        </p:spPr>
        <p:txBody>
          <a:bodyPr wrap="square" lIns="0" tIns="0" rIns="0" bIns="0" rtlCol="0" anchor="ctr"/>
          <a:lstStyle/>
          <a:p>
            <a:pPr algn="l" indent="0" marL="0">
              <a:buNone/>
            </a:pPr>
            <a:r>
              <a:rPr lang="en-US" sz="1150" b="1" dirty="0">
                <a:solidFill>
                  <a:srgbClr val="16E0A3"/>
                </a:solidFill>
                <a:latin typeface="Malgun Gothic" pitchFamily="34" charset="0"/>
                <a:ea typeface="Malgun Gothic" pitchFamily="34" charset="-122"/>
                <a:cs typeface="Malgun Gothic" pitchFamily="34" charset="-120"/>
              </a:rPr>
              <a:t>진화 단계</a:t>
            </a:r>
            <a:endParaRPr lang="en-US" sz="1150" dirty="0"/>
          </a:p>
        </p:txBody>
      </p:sp>
      <p:sp>
        <p:nvSpPr>
          <p:cNvPr id="15" name="Shape 11"/>
          <p:cNvSpPr/>
          <p:nvPr/>
        </p:nvSpPr>
        <p:spPr>
          <a:xfrm>
            <a:off x="822960" y="4425696"/>
            <a:ext cx="118872" cy="118872"/>
          </a:xfrm>
          <a:prstGeom prst="ellipse">
            <a:avLst/>
          </a:prstGeom>
          <a:solidFill>
            <a:srgbClr val="8493AE"/>
          </a:solidFill>
          <a:ln w="15875">
            <a:solidFill>
              <a:srgbClr val="8493AE"/>
            </a:solidFill>
            <a:prstDash val="solid"/>
          </a:ln>
        </p:spPr>
      </p:sp>
      <p:sp>
        <p:nvSpPr>
          <p:cNvPr id="16" name="Text 12"/>
          <p:cNvSpPr/>
          <p:nvPr/>
        </p:nvSpPr>
        <p:spPr>
          <a:xfrm>
            <a:off x="1060704" y="4370832"/>
            <a:ext cx="3291840" cy="292608"/>
          </a:xfrm>
          <a:prstGeom prst="rect">
            <a:avLst/>
          </a:prstGeom>
          <a:noFill/>
          <a:ln/>
        </p:spPr>
        <p:txBody>
          <a:bodyPr wrap="square" lIns="0" tIns="0" rIns="0" bIns="0" rtlCol="0" anchor="ctr"/>
          <a:lstStyle/>
          <a:p>
            <a:pPr indent="0" marL="0">
              <a:buNone/>
            </a:pPr>
            <a:r>
              <a:rPr lang="en-US" sz="1150" dirty="0">
                <a:solidFill>
                  <a:srgbClr val="8493AE"/>
                </a:solidFill>
                <a:latin typeface="Malgun Gothic" pitchFamily="34" charset="0"/>
                <a:ea typeface="Malgun Gothic" pitchFamily="34" charset="-122"/>
                <a:cs typeface="Malgun Gothic" pitchFamily="34" charset="-120"/>
              </a:rPr>
              <a:t>RAG (외부 책장)</a:t>
            </a:r>
            <a:endParaRPr lang="en-US" sz="1150" dirty="0"/>
          </a:p>
        </p:txBody>
      </p:sp>
      <p:sp>
        <p:nvSpPr>
          <p:cNvPr id="17" name="Text 13"/>
          <p:cNvSpPr/>
          <p:nvPr/>
        </p:nvSpPr>
        <p:spPr>
          <a:xfrm>
            <a:off x="4160520" y="4370832"/>
            <a:ext cx="1188720" cy="292608"/>
          </a:xfrm>
          <a:prstGeom prst="rect">
            <a:avLst/>
          </a:prstGeom>
          <a:noFill/>
          <a:ln/>
        </p:spPr>
        <p:txBody>
          <a:bodyPr wrap="square" lIns="0" tIns="0" rIns="0" bIns="0" rtlCol="0" anchor="ctr"/>
          <a:lstStyle/>
          <a:p>
            <a:pPr algn="r" indent="0" marL="0">
              <a:buNone/>
            </a:pPr>
            <a:r>
              <a:rPr lang="en-US" sz="1000" dirty="0">
                <a:solidFill>
                  <a:srgbClr val="8493AE"/>
                </a:solidFill>
                <a:latin typeface="Consolas" pitchFamily="34" charset="0"/>
                <a:ea typeface="Consolas" pitchFamily="34" charset="-122"/>
                <a:cs typeface="Consolas" pitchFamily="34" charset="-120"/>
              </a:rPr>
              <a:t>~2024</a:t>
            </a:r>
            <a:endParaRPr lang="en-US" sz="1000" dirty="0"/>
          </a:p>
        </p:txBody>
      </p:sp>
      <p:sp>
        <p:nvSpPr>
          <p:cNvPr id="18" name="Shape 14"/>
          <p:cNvSpPr/>
          <p:nvPr/>
        </p:nvSpPr>
        <p:spPr>
          <a:xfrm>
            <a:off x="822960" y="4718304"/>
            <a:ext cx="118872" cy="118872"/>
          </a:xfrm>
          <a:prstGeom prst="ellipse">
            <a:avLst/>
          </a:prstGeom>
          <a:solidFill>
            <a:srgbClr val="16E0A3"/>
          </a:solidFill>
          <a:ln w="15875">
            <a:solidFill>
              <a:srgbClr val="16E0A3"/>
            </a:solidFill>
            <a:prstDash val="solid"/>
          </a:ln>
        </p:spPr>
      </p:sp>
      <p:sp>
        <p:nvSpPr>
          <p:cNvPr id="19" name="Text 15"/>
          <p:cNvSpPr/>
          <p:nvPr/>
        </p:nvSpPr>
        <p:spPr>
          <a:xfrm>
            <a:off x="1060704" y="4663440"/>
            <a:ext cx="3291840" cy="292608"/>
          </a:xfrm>
          <a:prstGeom prst="rect">
            <a:avLst/>
          </a:prstGeom>
          <a:noFill/>
          <a:ln/>
        </p:spPr>
        <p:txBody>
          <a:bodyPr wrap="square" lIns="0" tIns="0" rIns="0" bIns="0" rtlCol="0" anchor="ctr"/>
          <a:lstStyle/>
          <a:p>
            <a:pPr indent="0" marL="0">
              <a:buNone/>
            </a:pPr>
            <a:r>
              <a:rPr lang="en-US" sz="1150" b="1" dirty="0">
                <a:solidFill>
                  <a:srgbClr val="16E0A3"/>
                </a:solidFill>
                <a:latin typeface="Malgun Gothic" pitchFamily="34" charset="0"/>
                <a:ea typeface="Malgun Gothic" pitchFamily="34" charset="-122"/>
                <a:cs typeface="Malgun Gothic" pitchFamily="34" charset="-120"/>
              </a:rPr>
              <a:t>mem0 (개인 일기장)</a:t>
            </a:r>
            <a:endParaRPr lang="en-US" sz="1150" dirty="0"/>
          </a:p>
        </p:txBody>
      </p:sp>
      <p:sp>
        <p:nvSpPr>
          <p:cNvPr id="20" name="Text 16"/>
          <p:cNvSpPr/>
          <p:nvPr/>
        </p:nvSpPr>
        <p:spPr>
          <a:xfrm>
            <a:off x="4160520" y="4663440"/>
            <a:ext cx="1188720" cy="292608"/>
          </a:xfrm>
          <a:prstGeom prst="rect">
            <a:avLst/>
          </a:prstGeom>
          <a:noFill/>
          <a:ln/>
        </p:spPr>
        <p:txBody>
          <a:bodyPr wrap="square" lIns="0" tIns="0" rIns="0" bIns="0" rtlCol="0" anchor="ctr"/>
          <a:lstStyle/>
          <a:p>
            <a:pPr algn="r" indent="0" marL="0">
              <a:buNone/>
            </a:pPr>
            <a:r>
              <a:rPr lang="en-US" sz="1000" dirty="0">
                <a:solidFill>
                  <a:srgbClr val="16E0A3"/>
                </a:solidFill>
                <a:latin typeface="Consolas" pitchFamily="34" charset="0"/>
                <a:ea typeface="Consolas" pitchFamily="34" charset="-122"/>
                <a:cs typeface="Consolas" pitchFamily="34" charset="-120"/>
              </a:rPr>
              <a:t>2026  ★</a:t>
            </a:r>
            <a:endParaRPr lang="en-US" sz="1000" dirty="0"/>
          </a:p>
        </p:txBody>
      </p:sp>
      <p:sp>
        <p:nvSpPr>
          <p:cNvPr id="21" name="Shape 17"/>
          <p:cNvSpPr/>
          <p:nvPr/>
        </p:nvSpPr>
        <p:spPr>
          <a:xfrm>
            <a:off x="822960" y="5010912"/>
            <a:ext cx="118872" cy="118872"/>
          </a:xfrm>
          <a:prstGeom prst="ellipse">
            <a:avLst/>
          </a:prstGeom>
          <a:solidFill>
            <a:srgbClr val="16E0A3"/>
          </a:solidFill>
          <a:ln w="15875">
            <a:solidFill>
              <a:srgbClr val="16E0A3"/>
            </a:solidFill>
            <a:prstDash val="solid"/>
          </a:ln>
        </p:spPr>
      </p:sp>
      <p:sp>
        <p:nvSpPr>
          <p:cNvPr id="22" name="Text 18"/>
          <p:cNvSpPr/>
          <p:nvPr/>
        </p:nvSpPr>
        <p:spPr>
          <a:xfrm>
            <a:off x="1060704" y="4956048"/>
            <a:ext cx="3291840" cy="292608"/>
          </a:xfrm>
          <a:prstGeom prst="rect">
            <a:avLst/>
          </a:prstGeom>
          <a:noFill/>
          <a:ln/>
        </p:spPr>
        <p:txBody>
          <a:bodyPr wrap="square" lIns="0" tIns="0" rIns="0" bIns="0" rtlCol="0" anchor="ctr"/>
          <a:lstStyle/>
          <a:p>
            <a:pPr indent="0" marL="0">
              <a:buNone/>
            </a:pPr>
            <a:r>
              <a:rPr lang="en-US" sz="1150" b="1" dirty="0">
                <a:solidFill>
                  <a:srgbClr val="16E0A3"/>
                </a:solidFill>
                <a:latin typeface="Malgun Gothic" pitchFamily="34" charset="0"/>
                <a:ea typeface="Malgun Gothic" pitchFamily="34" charset="-122"/>
                <a:cs typeface="Malgun Gothic" pitchFamily="34" charset="-120"/>
              </a:rPr>
              <a:t>Liquid AI (두뇌 변함)</a:t>
            </a:r>
            <a:endParaRPr lang="en-US" sz="1150" dirty="0"/>
          </a:p>
        </p:txBody>
      </p:sp>
      <p:sp>
        <p:nvSpPr>
          <p:cNvPr id="23" name="Text 19"/>
          <p:cNvSpPr/>
          <p:nvPr/>
        </p:nvSpPr>
        <p:spPr>
          <a:xfrm>
            <a:off x="4160520" y="4956048"/>
            <a:ext cx="1188720" cy="292608"/>
          </a:xfrm>
          <a:prstGeom prst="rect">
            <a:avLst/>
          </a:prstGeom>
          <a:noFill/>
          <a:ln/>
        </p:spPr>
        <p:txBody>
          <a:bodyPr wrap="square" lIns="0" tIns="0" rIns="0" bIns="0" rtlCol="0" anchor="ctr"/>
          <a:lstStyle/>
          <a:p>
            <a:pPr algn="r" indent="0" marL="0">
              <a:buNone/>
            </a:pPr>
            <a:r>
              <a:rPr lang="en-US" sz="1000" dirty="0">
                <a:solidFill>
                  <a:srgbClr val="16E0A3"/>
                </a:solidFill>
                <a:latin typeface="Consolas" pitchFamily="34" charset="0"/>
                <a:ea typeface="Consolas" pitchFamily="34" charset="-122"/>
                <a:cs typeface="Consolas" pitchFamily="34" charset="-120"/>
              </a:rPr>
              <a:t>2026  ★</a:t>
            </a:r>
            <a:endParaRPr lang="en-US" sz="1000" dirty="0"/>
          </a:p>
        </p:txBody>
      </p:sp>
      <p:sp>
        <p:nvSpPr>
          <p:cNvPr id="24" name="Shape 20"/>
          <p:cNvSpPr/>
          <p:nvPr/>
        </p:nvSpPr>
        <p:spPr>
          <a:xfrm>
            <a:off x="822960" y="5303520"/>
            <a:ext cx="118872" cy="118872"/>
          </a:xfrm>
          <a:prstGeom prst="ellipse">
            <a:avLst/>
          </a:prstGeom>
          <a:solidFill>
            <a:srgbClr val="0B0F1A"/>
          </a:solidFill>
          <a:ln w="15875">
            <a:solidFill>
              <a:srgbClr val="16E0A3"/>
            </a:solidFill>
            <a:prstDash val="solid"/>
          </a:ln>
        </p:spPr>
      </p:sp>
      <p:sp>
        <p:nvSpPr>
          <p:cNvPr id="25" name="Text 21"/>
          <p:cNvSpPr/>
          <p:nvPr/>
        </p:nvSpPr>
        <p:spPr>
          <a:xfrm>
            <a:off x="1060704" y="5248656"/>
            <a:ext cx="3291840" cy="292608"/>
          </a:xfrm>
          <a:prstGeom prst="rect">
            <a:avLst/>
          </a:prstGeom>
          <a:noFill/>
          <a:ln/>
        </p:spPr>
        <p:txBody>
          <a:bodyPr wrap="square" lIns="0" tIns="0" rIns="0" bIns="0" rtlCol="0" anchor="ctr"/>
          <a:lstStyle/>
          <a:p>
            <a:pPr indent="0" marL="0">
              <a:buNone/>
            </a:pPr>
            <a:r>
              <a:rPr lang="en-US" sz="1150" dirty="0">
                <a:solidFill>
                  <a:srgbClr val="B7C4DC"/>
                </a:solidFill>
                <a:latin typeface="Malgun Gothic" pitchFamily="34" charset="0"/>
                <a:ea typeface="Malgun Gothic" pitchFamily="34" charset="-122"/>
                <a:cs typeface="Malgun Gothic" pitchFamily="34" charset="-120"/>
              </a:rPr>
              <a:t>Wetware 메모리</a:t>
            </a:r>
            <a:endParaRPr lang="en-US" sz="1150" dirty="0"/>
          </a:p>
        </p:txBody>
      </p:sp>
      <p:sp>
        <p:nvSpPr>
          <p:cNvPr id="26" name="Text 22"/>
          <p:cNvSpPr/>
          <p:nvPr/>
        </p:nvSpPr>
        <p:spPr>
          <a:xfrm>
            <a:off x="4160520" y="5248656"/>
            <a:ext cx="1188720" cy="292608"/>
          </a:xfrm>
          <a:prstGeom prst="rect">
            <a:avLst/>
          </a:prstGeom>
          <a:noFill/>
          <a:ln/>
        </p:spPr>
        <p:txBody>
          <a:bodyPr wrap="square" lIns="0" tIns="0" rIns="0" bIns="0" rtlCol="0" anchor="ctr"/>
          <a:lstStyle/>
          <a:p>
            <a:pPr algn="r" indent="0" marL="0">
              <a:buNone/>
            </a:pPr>
            <a:r>
              <a:rPr lang="en-US" sz="1000" dirty="0">
                <a:solidFill>
                  <a:srgbClr val="8493AE"/>
                </a:solidFill>
                <a:latin typeface="Consolas" pitchFamily="34" charset="0"/>
                <a:ea typeface="Consolas" pitchFamily="34" charset="-122"/>
                <a:cs typeface="Consolas" pitchFamily="34" charset="-120"/>
              </a:rPr>
              <a:t>2030+</a:t>
            </a:r>
            <a:endParaRPr lang="en-US" sz="1000" dirty="0"/>
          </a:p>
        </p:txBody>
      </p:sp>
      <p:sp>
        <p:nvSpPr>
          <p:cNvPr id="27" name="Text 23"/>
          <p:cNvSpPr/>
          <p:nvPr/>
        </p:nvSpPr>
        <p:spPr>
          <a:xfrm>
            <a:off x="822960" y="5870448"/>
            <a:ext cx="4526280" cy="274320"/>
          </a:xfrm>
          <a:prstGeom prst="rect">
            <a:avLst/>
          </a:prstGeom>
          <a:noFill/>
          <a:ln/>
        </p:spPr>
        <p:txBody>
          <a:bodyPr wrap="square" lIns="0" tIns="0" rIns="0" bIns="0" rtlCol="0" anchor="ctr"/>
          <a:lstStyle/>
          <a:p>
            <a:pPr algn="l" indent="0" marL="0">
              <a:buNone/>
            </a:pPr>
            <a:r>
              <a:rPr lang="en-US" sz="1150" b="1" dirty="0">
                <a:solidFill>
                  <a:srgbClr val="16E0A3"/>
                </a:solidFill>
                <a:latin typeface="Malgun Gothic" pitchFamily="34" charset="0"/>
                <a:ea typeface="Malgun Gothic" pitchFamily="34" charset="-122"/>
                <a:cs typeface="Malgun Gothic" pitchFamily="34" charset="-120"/>
              </a:rPr>
              <a:t>대표 기업</a:t>
            </a:r>
            <a:endParaRPr lang="en-US" sz="1150" dirty="0"/>
          </a:p>
        </p:txBody>
      </p:sp>
      <p:sp>
        <p:nvSpPr>
          <p:cNvPr id="28" name="Text 24"/>
          <p:cNvSpPr/>
          <p:nvPr/>
        </p:nvSpPr>
        <p:spPr>
          <a:xfrm>
            <a:off x="822960" y="6108192"/>
            <a:ext cx="4526280" cy="384048"/>
          </a:xfrm>
          <a:prstGeom prst="rect">
            <a:avLst/>
          </a:prstGeom>
          <a:noFill/>
          <a:ln/>
        </p:spPr>
        <p:txBody>
          <a:bodyPr wrap="square" lIns="0" tIns="0" rIns="0" bIns="0" rtlCol="0" anchor="ctr"/>
          <a:lstStyle/>
          <a:p>
            <a:pPr indent="0" marL="0">
              <a:lnSpc>
                <a:spcPct val="105000"/>
              </a:lnSpc>
              <a:buNone/>
            </a:pPr>
            <a:r>
              <a:rPr lang="en-US" sz="1000" dirty="0">
                <a:solidFill>
                  <a:srgbClr val="B7C4DC"/>
                </a:solidFill>
                <a:latin typeface="Malgun Gothic" pitchFamily="34" charset="0"/>
                <a:ea typeface="Malgun Gothic" pitchFamily="34" charset="-122"/>
                <a:cs typeface="Malgun Gothic" pitchFamily="34" charset="-120"/>
              </a:rPr>
              <a:t>LangChain, Mem0 (YC W24), Liquid AI LFM, Pinecone</a:t>
            </a:r>
            <a:endParaRPr lang="en-US" sz="1000" dirty="0"/>
          </a:p>
        </p:txBody>
      </p:sp>
      <p:sp>
        <p:nvSpPr>
          <p:cNvPr id="29" name="Text 25"/>
          <p:cNvSpPr/>
          <p:nvPr/>
        </p:nvSpPr>
        <p:spPr>
          <a:xfrm>
            <a:off x="5897880" y="2395728"/>
            <a:ext cx="5742432" cy="274320"/>
          </a:xfrm>
          <a:prstGeom prst="rect">
            <a:avLst/>
          </a:prstGeom>
          <a:noFill/>
          <a:ln/>
        </p:spPr>
        <p:txBody>
          <a:bodyPr wrap="square" lIns="0" tIns="0" rIns="0" bIns="0" rtlCol="0" anchor="ctr"/>
          <a:lstStyle/>
          <a:p>
            <a:pPr algn="l" indent="0" marL="0">
              <a:buNone/>
            </a:pPr>
            <a:r>
              <a:rPr lang="en-US" sz="1150" b="1" dirty="0">
                <a:solidFill>
                  <a:srgbClr val="16E0A3"/>
                </a:solidFill>
                <a:latin typeface="Malgun Gothic" pitchFamily="34" charset="0"/>
                <a:ea typeface="Malgun Gothic" pitchFamily="34" charset="-122"/>
                <a:cs typeface="Malgun Gothic" pitchFamily="34" charset="-120"/>
              </a:rPr>
              <a:t>왜 필요한가</a:t>
            </a:r>
            <a:endParaRPr lang="en-US" sz="1150" dirty="0"/>
          </a:p>
        </p:txBody>
      </p:sp>
      <p:sp>
        <p:nvSpPr>
          <p:cNvPr id="30" name="Text 26"/>
          <p:cNvSpPr/>
          <p:nvPr/>
        </p:nvSpPr>
        <p:spPr>
          <a:xfrm>
            <a:off x="5897880" y="2651760"/>
            <a:ext cx="5742432" cy="1143000"/>
          </a:xfrm>
          <a:prstGeom prst="rect">
            <a:avLst/>
          </a:prstGeom>
          <a:noFill/>
          <a:ln/>
        </p:spPr>
        <p:txBody>
          <a:bodyPr wrap="square" lIns="0" tIns="0" rIns="0" bIns="0" rtlCol="0" anchor="ctr"/>
          <a:lstStyle/>
          <a:p>
            <a:pPr indent="0" marL="0">
              <a:lnSpc>
                <a:spcPct val="122000"/>
              </a:lnSpc>
              <a:buNone/>
            </a:pPr>
            <a:r>
              <a:rPr lang="en-US" sz="1250" dirty="0">
                <a:solidFill>
                  <a:srgbClr val="B7C4DC"/>
                </a:solidFill>
                <a:latin typeface="Malgun Gothic" pitchFamily="34" charset="0"/>
                <a:ea typeface="Malgun Gothic" pitchFamily="34" charset="-122"/>
                <a:cs typeface="Malgun Gothic" pitchFamily="34" charset="-120"/>
              </a:rPr>
              <a:t>지금의 AI는 대화창을 닫으면 다 잊습니다. 매번 처음 보는 사람처럼 굽니다. 진짜 비서가 되려면 '나'를 기억해야 하고, 정보가 외부(검색) → 옆(맥락) → 안(두뇌)으로 점점 깊이 들어가야 합니다.</a:t>
            </a:r>
            <a:endParaRPr lang="en-US" sz="1250" dirty="0"/>
          </a:p>
        </p:txBody>
      </p:sp>
      <p:sp>
        <p:nvSpPr>
          <p:cNvPr id="31" name="Text 27"/>
          <p:cNvSpPr/>
          <p:nvPr/>
        </p:nvSpPr>
        <p:spPr>
          <a:xfrm>
            <a:off x="5897880" y="3931920"/>
            <a:ext cx="5742432" cy="274320"/>
          </a:xfrm>
          <a:prstGeom prst="rect">
            <a:avLst/>
          </a:prstGeom>
          <a:noFill/>
          <a:ln/>
        </p:spPr>
        <p:txBody>
          <a:bodyPr wrap="square" lIns="0" tIns="0" rIns="0" bIns="0" rtlCol="0" anchor="ctr"/>
          <a:lstStyle/>
          <a:p>
            <a:pPr algn="l" indent="0" marL="0">
              <a:buNone/>
            </a:pPr>
            <a:r>
              <a:rPr lang="en-US" sz="1150" b="1" dirty="0">
                <a:solidFill>
                  <a:srgbClr val="16E0A3"/>
                </a:solidFill>
                <a:latin typeface="Malgun Gothic" pitchFamily="34" charset="0"/>
                <a:ea typeface="Malgun Gothic" pitchFamily="34" charset="-122"/>
                <a:cs typeface="Malgun Gothic" pitchFamily="34" charset="-120"/>
              </a:rPr>
              <a:t>핵심 기술</a:t>
            </a:r>
            <a:endParaRPr lang="en-US" sz="1150" dirty="0"/>
          </a:p>
        </p:txBody>
      </p:sp>
      <p:sp>
        <p:nvSpPr>
          <p:cNvPr id="32" name="Text 28"/>
          <p:cNvSpPr/>
          <p:nvPr/>
        </p:nvSpPr>
        <p:spPr>
          <a:xfrm>
            <a:off x="5897880" y="4187952"/>
            <a:ext cx="5742432" cy="777240"/>
          </a:xfrm>
          <a:prstGeom prst="rect">
            <a:avLst/>
          </a:prstGeom>
          <a:noFill/>
          <a:ln/>
        </p:spPr>
        <p:txBody>
          <a:bodyPr wrap="square" lIns="0" tIns="0" rIns="0" bIns="0" rtlCol="0" anchor="ctr"/>
          <a:lstStyle/>
          <a:p>
            <a:pPr indent="0" marL="0">
              <a:lnSpc>
                <a:spcPct val="125000"/>
              </a:lnSpc>
              <a:buNone/>
            </a:pPr>
            <a:r>
              <a:rPr lang="en-US" sz="1200" dirty="0">
                <a:solidFill>
                  <a:srgbClr val="B7C4DC"/>
                </a:solidFill>
                <a:latin typeface="Malgun Gothic" pitchFamily="34" charset="0"/>
                <a:ea typeface="Malgun Gothic" pitchFamily="34" charset="-122"/>
                <a:cs typeface="Malgun Gothic" pitchFamily="34" charset="-120"/>
              </a:rPr>
              <a:t>Prompt   ·   Context Window   ·   RAG   ·   Vector DB   ·   Long-term Memory   ·   Episodic   ·   Semantic   ·   Working Memory   ·   mem0   ·   Memory OS</a:t>
            </a:r>
            <a:endParaRPr lang="en-US" sz="1200" dirty="0"/>
          </a:p>
        </p:txBody>
      </p:sp>
      <p:sp>
        <p:nvSpPr>
          <p:cNvPr id="33" name="Text 29"/>
          <p:cNvSpPr/>
          <p:nvPr/>
        </p:nvSpPr>
        <p:spPr>
          <a:xfrm>
            <a:off x="5897880" y="5074920"/>
            <a:ext cx="5742432" cy="274320"/>
          </a:xfrm>
          <a:prstGeom prst="rect">
            <a:avLst/>
          </a:prstGeom>
          <a:noFill/>
          <a:ln/>
        </p:spPr>
        <p:txBody>
          <a:bodyPr wrap="square" lIns="0" tIns="0" rIns="0" bIns="0" rtlCol="0" anchor="ctr"/>
          <a:lstStyle/>
          <a:p>
            <a:pPr algn="l" indent="0" marL="0">
              <a:buNone/>
            </a:pPr>
            <a:r>
              <a:rPr lang="en-US" sz="1150" b="1" dirty="0">
                <a:solidFill>
                  <a:srgbClr val="16E0A3"/>
                </a:solidFill>
                <a:latin typeface="Malgun Gothic" pitchFamily="34" charset="0"/>
                <a:ea typeface="Malgun Gothic" pitchFamily="34" charset="-122"/>
                <a:cs typeface="Malgun Gothic" pitchFamily="34" charset="-120"/>
              </a:rPr>
              <a:t>2035 전망</a:t>
            </a:r>
            <a:endParaRPr lang="en-US" sz="1150" dirty="0"/>
          </a:p>
        </p:txBody>
      </p:sp>
      <p:sp>
        <p:nvSpPr>
          <p:cNvPr id="34" name="Text 30"/>
          <p:cNvSpPr/>
          <p:nvPr/>
        </p:nvSpPr>
        <p:spPr>
          <a:xfrm>
            <a:off x="5897880" y="5330952"/>
            <a:ext cx="5742432" cy="1188720"/>
          </a:xfrm>
          <a:prstGeom prst="rect">
            <a:avLst/>
          </a:prstGeom>
          <a:noFill/>
          <a:ln/>
        </p:spPr>
        <p:txBody>
          <a:bodyPr wrap="square" lIns="0" tIns="0" rIns="0" bIns="0" rtlCol="0" anchor="ctr"/>
          <a:lstStyle/>
          <a:p>
            <a:pPr indent="0" marL="0">
              <a:lnSpc>
                <a:spcPct val="122000"/>
              </a:lnSpc>
              <a:buNone/>
            </a:pPr>
            <a:r>
              <a:rPr lang="en-US" sz="1250" dirty="0">
                <a:solidFill>
                  <a:srgbClr val="B7C4DC"/>
                </a:solidFill>
                <a:latin typeface="Malgun Gothic" pitchFamily="34" charset="0"/>
                <a:ea typeface="Malgun Gothic" pitchFamily="34" charset="-122"/>
                <a:cs typeface="Malgun Gothic" pitchFamily="34" charset="-120"/>
              </a:rPr>
              <a:t>AI는 사용자별 '평생 기억'을 갖고, 사건(Episodic)·지식(Semantic)·작업(Working) 기억을 사람처럼 구분해 운영하는 Memory OS가 표준이 됩니다.</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548640" y="502920"/>
            <a:ext cx="868680" cy="868680"/>
          </a:xfrm>
          <a:prstGeom prst="ellipse">
            <a:avLst/>
          </a:prstGeom>
          <a:solidFill>
            <a:srgbClr val="18223A"/>
          </a:solidFill>
          <a:ln w="22225">
            <a:solidFill>
              <a:srgbClr val="FFC83D"/>
            </a:solidFill>
            <a:prstDash val="solid"/>
          </a:ln>
        </p:spPr>
      </p:sp>
      <p:pic>
        <p:nvPicPr>
          <p:cNvPr id="3" name="Image 0" descr="assets/icon_generation.png">    </p:cNvPr>
          <p:cNvPicPr>
            <a:picLocks noChangeAspect="1"/>
          </p:cNvPicPr>
          <p:nvPr/>
        </p:nvPicPr>
        <p:blipFill>
          <a:blip r:embed="rId1"/>
          <a:stretch>
            <a:fillRect/>
          </a:stretch>
        </p:blipFill>
        <p:spPr>
          <a:xfrm>
            <a:off x="713689" y="667969"/>
            <a:ext cx="538582" cy="538582"/>
          </a:xfrm>
          <a:prstGeom prst="rect">
            <a:avLst/>
          </a:prstGeom>
        </p:spPr>
      </p:pic>
      <p:sp>
        <p:nvSpPr>
          <p:cNvPr id="4" name="Text 1"/>
          <p:cNvSpPr/>
          <p:nvPr/>
        </p:nvSpPr>
        <p:spPr>
          <a:xfrm>
            <a:off x="1600200" y="475488"/>
            <a:ext cx="2743200" cy="292608"/>
          </a:xfrm>
          <a:prstGeom prst="rect">
            <a:avLst/>
          </a:prstGeom>
          <a:noFill/>
          <a:ln/>
        </p:spPr>
        <p:txBody>
          <a:bodyPr wrap="square" lIns="0" tIns="0" rIns="0" bIns="0" rtlCol="0" anchor="ctr"/>
          <a:lstStyle/>
          <a:p>
            <a:pPr indent="0" marL="0">
              <a:buNone/>
            </a:pPr>
            <a:r>
              <a:rPr lang="en-US" sz="1400" b="1" dirty="0">
                <a:solidFill>
                  <a:srgbClr val="FFC83D"/>
                </a:solidFill>
                <a:latin typeface="Consolas" pitchFamily="34" charset="0"/>
                <a:ea typeface="Consolas" pitchFamily="34" charset="-122"/>
                <a:cs typeface="Consolas" pitchFamily="34" charset="-120"/>
              </a:rPr>
              <a:t>03</a:t>
            </a:r>
            <a:endParaRPr lang="en-US" sz="1400" dirty="0"/>
          </a:p>
        </p:txBody>
      </p:sp>
      <p:sp>
        <p:nvSpPr>
          <p:cNvPr id="5" name="Text 2"/>
          <p:cNvSpPr/>
          <p:nvPr/>
        </p:nvSpPr>
        <p:spPr>
          <a:xfrm>
            <a:off x="1572768" y="713232"/>
            <a:ext cx="6858000" cy="658368"/>
          </a:xfrm>
          <a:prstGeom prst="rect">
            <a:avLst/>
          </a:prstGeom>
          <a:noFill/>
          <a:ln/>
        </p:spPr>
        <p:txBody>
          <a:bodyPr wrap="square" lIns="0" tIns="0" rIns="0" bIns="0" rtlCol="0" anchor="ctr"/>
          <a:lstStyle/>
          <a:p>
            <a:pPr indent="0" marL="0">
              <a:buNone/>
            </a:pPr>
            <a:r>
              <a:rPr lang="en-US" sz="3300" b="1" dirty="0">
                <a:solidFill>
                  <a:srgbClr val="EAF0FF"/>
                </a:solidFill>
                <a:latin typeface="Malgun Gothic" pitchFamily="34" charset="0"/>
                <a:ea typeface="Malgun Gothic" pitchFamily="34" charset="-122"/>
                <a:cs typeface="Malgun Gothic" pitchFamily="34" charset="-120"/>
              </a:rPr>
              <a:t>생성</a:t>
            </a:r>
            <a:endParaRPr lang="en-US" sz="3300" dirty="0"/>
          </a:p>
        </p:txBody>
      </p:sp>
      <p:sp>
        <p:nvSpPr>
          <p:cNvPr id="6" name="Text 3"/>
          <p:cNvSpPr/>
          <p:nvPr/>
        </p:nvSpPr>
        <p:spPr>
          <a:xfrm>
            <a:off x="1600200" y="1371600"/>
            <a:ext cx="8229600" cy="292608"/>
          </a:xfrm>
          <a:prstGeom prst="rect">
            <a:avLst/>
          </a:prstGeom>
          <a:noFill/>
          <a:ln/>
        </p:spPr>
        <p:txBody>
          <a:bodyPr wrap="square" lIns="0" tIns="0" rIns="0" bIns="0" rtlCol="0" anchor="ctr"/>
          <a:lstStyle/>
          <a:p>
            <a:pPr indent="0" marL="0">
              <a:buNone/>
            </a:pPr>
            <a:r>
              <a:rPr lang="en-US" sz="1300" dirty="0">
                <a:solidFill>
                  <a:srgbClr val="8493AE"/>
                </a:solidFill>
                <a:latin typeface="Malgun Gothic" pitchFamily="34" charset="0"/>
                <a:ea typeface="Malgun Gothic" pitchFamily="34" charset="-122"/>
                <a:cs typeface="Malgun Gothic" pitchFamily="34" charset="-120"/>
              </a:rPr>
              <a:t>Generation · AI가 답을 만드는 방식</a:t>
            </a:r>
            <a:endParaRPr lang="en-US" sz="1300" dirty="0"/>
          </a:p>
        </p:txBody>
      </p:sp>
      <p:sp>
        <p:nvSpPr>
          <p:cNvPr id="7" name="Text 4"/>
          <p:cNvSpPr/>
          <p:nvPr/>
        </p:nvSpPr>
        <p:spPr>
          <a:xfrm>
            <a:off x="1600200" y="1700784"/>
            <a:ext cx="8869680" cy="457200"/>
          </a:xfrm>
          <a:prstGeom prst="rect">
            <a:avLst/>
          </a:prstGeom>
          <a:noFill/>
          <a:ln/>
        </p:spPr>
        <p:txBody>
          <a:bodyPr wrap="square" lIns="0" tIns="0" rIns="0" bIns="0" rtlCol="0" anchor="ctr"/>
          <a:lstStyle/>
          <a:p>
            <a:pPr indent="0" marL="0">
              <a:buNone/>
            </a:pPr>
            <a:r>
              <a:rPr lang="en-US" sz="1350" i="1" dirty="0">
                <a:solidFill>
                  <a:srgbClr val="B7C4DC"/>
                </a:solidFill>
                <a:latin typeface="Malgun Gothic" pitchFamily="34" charset="0"/>
                <a:ea typeface="Malgun Gothic" pitchFamily="34" charset="-122"/>
                <a:cs typeface="Malgun Gothic" pitchFamily="34" charset="-120"/>
              </a:rPr>
              <a:t>답을 '한 글자씩 순서대로'에서 '전체를 동시에 그려내기'로 바꾸는 단계.</a:t>
            </a:r>
            <a:endParaRPr lang="en-US" sz="1350" dirty="0"/>
          </a:p>
        </p:txBody>
      </p:sp>
      <p:pic>
        <p:nvPicPr>
          <p:cNvPr id="8" name="Image 1" descr="assets/loc_generation.png">    </p:cNvPr>
          <p:cNvPicPr>
            <a:picLocks noChangeAspect="1"/>
          </p:cNvPicPr>
          <p:nvPr/>
        </p:nvPicPr>
        <p:blipFill>
          <a:blip r:embed="rId2"/>
          <a:stretch>
            <a:fillRect/>
          </a:stretch>
        </p:blipFill>
        <p:spPr>
          <a:xfrm>
            <a:off x="10972800" y="457200"/>
            <a:ext cx="914400" cy="1600200"/>
          </a:xfrm>
          <a:prstGeom prst="rect">
            <a:avLst/>
          </a:prstGeom>
        </p:spPr>
      </p:pic>
      <p:sp>
        <p:nvSpPr>
          <p:cNvPr id="9" name="Text 5"/>
          <p:cNvSpPr/>
          <p:nvPr/>
        </p:nvSpPr>
        <p:spPr>
          <a:xfrm>
            <a:off x="10607040" y="2075688"/>
            <a:ext cx="1645920" cy="228600"/>
          </a:xfrm>
          <a:prstGeom prst="rect">
            <a:avLst/>
          </a:prstGeom>
          <a:noFill/>
          <a:ln/>
        </p:spPr>
        <p:txBody>
          <a:bodyPr wrap="square" lIns="0" tIns="0" rIns="0" bIns="0" rtlCol="0" anchor="ctr"/>
          <a:lstStyle/>
          <a:p>
            <a:pPr algn="ctr" indent="0" marL="0">
              <a:buNone/>
            </a:pPr>
            <a:r>
              <a:rPr lang="en-US" sz="900" dirty="0">
                <a:solidFill>
                  <a:srgbClr val="8493AE"/>
                </a:solidFill>
                <a:latin typeface="Malgun Gothic" pitchFamily="34" charset="0"/>
                <a:ea typeface="Malgun Gothic" pitchFamily="34" charset="-122"/>
                <a:cs typeface="Malgun Gothic" pitchFamily="34" charset="-120"/>
              </a:rPr>
              <a:t>몸의 위치</a:t>
            </a:r>
            <a:endParaRPr lang="en-US" sz="900" dirty="0"/>
          </a:p>
        </p:txBody>
      </p:sp>
      <p:sp>
        <p:nvSpPr>
          <p:cNvPr id="10" name="Shape 6"/>
          <p:cNvSpPr/>
          <p:nvPr/>
        </p:nvSpPr>
        <p:spPr>
          <a:xfrm>
            <a:off x="548640" y="2331720"/>
            <a:ext cx="5074920" cy="4224528"/>
          </a:xfrm>
          <a:prstGeom prst="roundRect">
            <a:avLst>
              <a:gd name="adj" fmla="val 1948"/>
            </a:avLst>
          </a:prstGeom>
          <a:solidFill>
            <a:srgbClr val="121A2E"/>
          </a:solidFill>
          <a:ln w="12700">
            <a:solidFill>
              <a:srgbClr val="2A3756"/>
            </a:solidFill>
            <a:prstDash val="solid"/>
          </a:ln>
          <a:effectLst>
            <a:outerShdw sx="100000" sy="100000" kx="0" ky="0" algn="bl" rotWithShape="0" blurRad="114300" dist="38100" dir="5400000">
              <a:srgbClr val="000000">
                <a:alpha val="35000"/>
              </a:srgbClr>
            </a:outerShdw>
          </a:effectLst>
        </p:spPr>
      </p:sp>
      <p:sp>
        <p:nvSpPr>
          <p:cNvPr id="11" name="Text 7"/>
          <p:cNvSpPr/>
          <p:nvPr/>
        </p:nvSpPr>
        <p:spPr>
          <a:xfrm>
            <a:off x="822960" y="2542032"/>
            <a:ext cx="4526280" cy="274320"/>
          </a:xfrm>
          <a:prstGeom prst="rect">
            <a:avLst/>
          </a:prstGeom>
          <a:noFill/>
          <a:ln/>
        </p:spPr>
        <p:txBody>
          <a:bodyPr wrap="square" lIns="0" tIns="0" rIns="0" bIns="0" rtlCol="0" anchor="ctr"/>
          <a:lstStyle/>
          <a:p>
            <a:pPr algn="l" indent="0" marL="0">
              <a:buNone/>
            </a:pPr>
            <a:r>
              <a:rPr lang="en-US" sz="1150" b="1" dirty="0">
                <a:solidFill>
                  <a:srgbClr val="FFC83D"/>
                </a:solidFill>
                <a:latin typeface="Malgun Gothic" pitchFamily="34" charset="0"/>
                <a:ea typeface="Malgun Gothic" pitchFamily="34" charset="-122"/>
                <a:cs typeface="Malgun Gothic" pitchFamily="34" charset="-120"/>
              </a:rPr>
              <a:t>쉬운 비유</a:t>
            </a:r>
            <a:endParaRPr lang="en-US" sz="1150" dirty="0"/>
          </a:p>
        </p:txBody>
      </p:sp>
      <p:sp>
        <p:nvSpPr>
          <p:cNvPr id="12" name="Text 8"/>
          <p:cNvSpPr/>
          <p:nvPr/>
        </p:nvSpPr>
        <p:spPr>
          <a:xfrm>
            <a:off x="822960" y="2798064"/>
            <a:ext cx="4526280" cy="365760"/>
          </a:xfrm>
          <a:prstGeom prst="rect">
            <a:avLst/>
          </a:prstGeom>
          <a:noFill/>
          <a:ln/>
        </p:spPr>
        <p:txBody>
          <a:bodyPr wrap="square" lIns="0" tIns="0" rIns="0" bIns="0" rtlCol="0" anchor="ctr"/>
          <a:lstStyle/>
          <a:p>
            <a:pPr indent="0" marL="0">
              <a:buNone/>
            </a:pPr>
            <a:r>
              <a:rPr lang="en-US" sz="1550" b="1" dirty="0">
                <a:solidFill>
                  <a:srgbClr val="EAF0FF"/>
                </a:solidFill>
                <a:latin typeface="Malgun Gothic" pitchFamily="34" charset="0"/>
                <a:ea typeface="Malgun Gothic" pitchFamily="34" charset="-122"/>
                <a:cs typeface="Malgun Gothic" pitchFamily="34" charset="-120"/>
              </a:rPr>
              <a:t>한 글자씩 → 그림처럼 한 방에</a:t>
            </a:r>
            <a:endParaRPr lang="en-US" sz="1550" dirty="0"/>
          </a:p>
        </p:txBody>
      </p:sp>
      <p:sp>
        <p:nvSpPr>
          <p:cNvPr id="13" name="Text 9"/>
          <p:cNvSpPr/>
          <p:nvPr/>
        </p:nvSpPr>
        <p:spPr>
          <a:xfrm>
            <a:off x="822960" y="3200400"/>
            <a:ext cx="4526280" cy="822960"/>
          </a:xfrm>
          <a:prstGeom prst="rect">
            <a:avLst/>
          </a:prstGeom>
          <a:noFill/>
          <a:ln/>
        </p:spPr>
        <p:txBody>
          <a:bodyPr wrap="square" lIns="0" tIns="0" rIns="0" bIns="0" rtlCol="0" anchor="ctr"/>
          <a:lstStyle/>
          <a:p>
            <a:pPr indent="0" marL="0">
              <a:lnSpc>
                <a:spcPct val="116000"/>
              </a:lnSpc>
              <a:buNone/>
            </a:pPr>
            <a:r>
              <a:rPr lang="en-US" sz="1150" dirty="0">
                <a:solidFill>
                  <a:srgbClr val="B7C4DC"/>
                </a:solidFill>
                <a:latin typeface="Malgun Gothic" pitchFamily="34" charset="0"/>
                <a:ea typeface="Malgun Gothic" pitchFamily="34" charset="-122"/>
                <a:cs typeface="Malgun Gothic" pitchFamily="34" charset="-120"/>
              </a:rPr>
              <a:t>자기회귀(Autoregressive)는 왼쪽부터 한 글자씩 쓰는 작가, 디퓨전(Diffusion)은 흐릿한 전체를 단번에 또렷하게 만드는 화가입니다.</a:t>
            </a:r>
            <a:endParaRPr lang="en-US" sz="1150" dirty="0"/>
          </a:p>
        </p:txBody>
      </p:sp>
      <p:sp>
        <p:nvSpPr>
          <p:cNvPr id="14" name="Text 10"/>
          <p:cNvSpPr/>
          <p:nvPr/>
        </p:nvSpPr>
        <p:spPr>
          <a:xfrm>
            <a:off x="822960" y="4078224"/>
            <a:ext cx="4526280" cy="274320"/>
          </a:xfrm>
          <a:prstGeom prst="rect">
            <a:avLst/>
          </a:prstGeom>
          <a:noFill/>
          <a:ln/>
        </p:spPr>
        <p:txBody>
          <a:bodyPr wrap="square" lIns="0" tIns="0" rIns="0" bIns="0" rtlCol="0" anchor="ctr"/>
          <a:lstStyle/>
          <a:p>
            <a:pPr algn="l" indent="0" marL="0">
              <a:buNone/>
            </a:pPr>
            <a:r>
              <a:rPr lang="en-US" sz="1150" b="1" dirty="0">
                <a:solidFill>
                  <a:srgbClr val="FFC83D"/>
                </a:solidFill>
                <a:latin typeface="Malgun Gothic" pitchFamily="34" charset="0"/>
                <a:ea typeface="Malgun Gothic" pitchFamily="34" charset="-122"/>
                <a:cs typeface="Malgun Gothic" pitchFamily="34" charset="-120"/>
              </a:rPr>
              <a:t>진화 단계</a:t>
            </a:r>
            <a:endParaRPr lang="en-US" sz="1150" dirty="0"/>
          </a:p>
        </p:txBody>
      </p:sp>
      <p:sp>
        <p:nvSpPr>
          <p:cNvPr id="15" name="Shape 11"/>
          <p:cNvSpPr/>
          <p:nvPr/>
        </p:nvSpPr>
        <p:spPr>
          <a:xfrm>
            <a:off x="822960" y="4425696"/>
            <a:ext cx="118872" cy="118872"/>
          </a:xfrm>
          <a:prstGeom prst="ellipse">
            <a:avLst/>
          </a:prstGeom>
          <a:solidFill>
            <a:srgbClr val="8493AE"/>
          </a:solidFill>
          <a:ln w="15875">
            <a:solidFill>
              <a:srgbClr val="8493AE"/>
            </a:solidFill>
            <a:prstDash val="solid"/>
          </a:ln>
        </p:spPr>
      </p:sp>
      <p:sp>
        <p:nvSpPr>
          <p:cNvPr id="16" name="Text 12"/>
          <p:cNvSpPr/>
          <p:nvPr/>
        </p:nvSpPr>
        <p:spPr>
          <a:xfrm>
            <a:off x="1060704" y="4370832"/>
            <a:ext cx="3291840" cy="292608"/>
          </a:xfrm>
          <a:prstGeom prst="rect">
            <a:avLst/>
          </a:prstGeom>
          <a:noFill/>
          <a:ln/>
        </p:spPr>
        <p:txBody>
          <a:bodyPr wrap="square" lIns="0" tIns="0" rIns="0" bIns="0" rtlCol="0" anchor="ctr"/>
          <a:lstStyle/>
          <a:p>
            <a:pPr indent="0" marL="0">
              <a:buNone/>
            </a:pPr>
            <a:r>
              <a:rPr lang="en-US" sz="1150" dirty="0">
                <a:solidFill>
                  <a:srgbClr val="8493AE"/>
                </a:solidFill>
                <a:latin typeface="Malgun Gothic" pitchFamily="34" charset="0"/>
                <a:ea typeface="Malgun Gothic" pitchFamily="34" charset="-122"/>
                <a:cs typeface="Malgun Gothic" pitchFamily="34" charset="-120"/>
              </a:rPr>
              <a:t>Autoregressive (한 글자씩)</a:t>
            </a:r>
            <a:endParaRPr lang="en-US" sz="1150" dirty="0"/>
          </a:p>
        </p:txBody>
      </p:sp>
      <p:sp>
        <p:nvSpPr>
          <p:cNvPr id="17" name="Text 13"/>
          <p:cNvSpPr/>
          <p:nvPr/>
        </p:nvSpPr>
        <p:spPr>
          <a:xfrm>
            <a:off x="4160520" y="4370832"/>
            <a:ext cx="1188720" cy="292608"/>
          </a:xfrm>
          <a:prstGeom prst="rect">
            <a:avLst/>
          </a:prstGeom>
          <a:noFill/>
          <a:ln/>
        </p:spPr>
        <p:txBody>
          <a:bodyPr wrap="square" lIns="0" tIns="0" rIns="0" bIns="0" rtlCol="0" anchor="ctr"/>
          <a:lstStyle/>
          <a:p>
            <a:pPr algn="r" indent="0" marL="0">
              <a:buNone/>
            </a:pPr>
            <a:r>
              <a:rPr lang="en-US" sz="1000" dirty="0">
                <a:solidFill>
                  <a:srgbClr val="8493AE"/>
                </a:solidFill>
                <a:latin typeface="Consolas" pitchFamily="34" charset="0"/>
                <a:ea typeface="Consolas" pitchFamily="34" charset="-122"/>
                <a:cs typeface="Consolas" pitchFamily="34" charset="-120"/>
              </a:rPr>
              <a:t>~2025</a:t>
            </a:r>
            <a:endParaRPr lang="en-US" sz="1000" dirty="0"/>
          </a:p>
        </p:txBody>
      </p:sp>
      <p:sp>
        <p:nvSpPr>
          <p:cNvPr id="18" name="Shape 14"/>
          <p:cNvSpPr/>
          <p:nvPr/>
        </p:nvSpPr>
        <p:spPr>
          <a:xfrm>
            <a:off x="822960" y="4718304"/>
            <a:ext cx="118872" cy="118872"/>
          </a:xfrm>
          <a:prstGeom prst="ellipse">
            <a:avLst/>
          </a:prstGeom>
          <a:solidFill>
            <a:srgbClr val="FFC83D"/>
          </a:solidFill>
          <a:ln w="15875">
            <a:solidFill>
              <a:srgbClr val="FFC83D"/>
            </a:solidFill>
            <a:prstDash val="solid"/>
          </a:ln>
        </p:spPr>
      </p:sp>
      <p:sp>
        <p:nvSpPr>
          <p:cNvPr id="19" name="Text 15"/>
          <p:cNvSpPr/>
          <p:nvPr/>
        </p:nvSpPr>
        <p:spPr>
          <a:xfrm>
            <a:off x="1060704" y="4663440"/>
            <a:ext cx="3291840" cy="292608"/>
          </a:xfrm>
          <a:prstGeom prst="rect">
            <a:avLst/>
          </a:prstGeom>
          <a:noFill/>
          <a:ln/>
        </p:spPr>
        <p:txBody>
          <a:bodyPr wrap="square" lIns="0" tIns="0" rIns="0" bIns="0" rtlCol="0" anchor="ctr"/>
          <a:lstStyle/>
          <a:p>
            <a:pPr indent="0" marL="0">
              <a:buNone/>
            </a:pPr>
            <a:r>
              <a:rPr lang="en-US" sz="1150" b="1" dirty="0">
                <a:solidFill>
                  <a:srgbClr val="FFC83D"/>
                </a:solidFill>
                <a:latin typeface="Malgun Gothic" pitchFamily="34" charset="0"/>
                <a:ea typeface="Malgun Gothic" pitchFamily="34" charset="-122"/>
                <a:cs typeface="Malgun Gothic" pitchFamily="34" charset="-120"/>
              </a:rPr>
              <a:t>Diffusion LLM</a:t>
            </a:r>
            <a:endParaRPr lang="en-US" sz="1150" dirty="0"/>
          </a:p>
        </p:txBody>
      </p:sp>
      <p:sp>
        <p:nvSpPr>
          <p:cNvPr id="20" name="Text 16"/>
          <p:cNvSpPr/>
          <p:nvPr/>
        </p:nvSpPr>
        <p:spPr>
          <a:xfrm>
            <a:off x="4160520" y="4663440"/>
            <a:ext cx="1188720" cy="292608"/>
          </a:xfrm>
          <a:prstGeom prst="rect">
            <a:avLst/>
          </a:prstGeom>
          <a:noFill/>
          <a:ln/>
        </p:spPr>
        <p:txBody>
          <a:bodyPr wrap="square" lIns="0" tIns="0" rIns="0" bIns="0" rtlCol="0" anchor="ctr"/>
          <a:lstStyle/>
          <a:p>
            <a:pPr algn="r" indent="0" marL="0">
              <a:buNone/>
            </a:pPr>
            <a:r>
              <a:rPr lang="en-US" sz="1000" dirty="0">
                <a:solidFill>
                  <a:srgbClr val="FFC83D"/>
                </a:solidFill>
                <a:latin typeface="Consolas" pitchFamily="34" charset="0"/>
                <a:ea typeface="Consolas" pitchFamily="34" charset="-122"/>
                <a:cs typeface="Consolas" pitchFamily="34" charset="-120"/>
              </a:rPr>
              <a:t>2026  ★</a:t>
            </a:r>
            <a:endParaRPr lang="en-US" sz="1000" dirty="0"/>
          </a:p>
        </p:txBody>
      </p:sp>
      <p:sp>
        <p:nvSpPr>
          <p:cNvPr id="21" name="Shape 17"/>
          <p:cNvSpPr/>
          <p:nvPr/>
        </p:nvSpPr>
        <p:spPr>
          <a:xfrm>
            <a:off x="822960" y="5010912"/>
            <a:ext cx="118872" cy="118872"/>
          </a:xfrm>
          <a:prstGeom prst="ellipse">
            <a:avLst/>
          </a:prstGeom>
          <a:solidFill>
            <a:srgbClr val="0B0F1A"/>
          </a:solidFill>
          <a:ln w="15875">
            <a:solidFill>
              <a:srgbClr val="FFC83D"/>
            </a:solidFill>
            <a:prstDash val="solid"/>
          </a:ln>
        </p:spPr>
      </p:sp>
      <p:sp>
        <p:nvSpPr>
          <p:cNvPr id="22" name="Text 18"/>
          <p:cNvSpPr/>
          <p:nvPr/>
        </p:nvSpPr>
        <p:spPr>
          <a:xfrm>
            <a:off x="1060704" y="4956048"/>
            <a:ext cx="3291840" cy="292608"/>
          </a:xfrm>
          <a:prstGeom prst="rect">
            <a:avLst/>
          </a:prstGeom>
          <a:noFill/>
          <a:ln/>
        </p:spPr>
        <p:txBody>
          <a:bodyPr wrap="square" lIns="0" tIns="0" rIns="0" bIns="0" rtlCol="0" anchor="ctr"/>
          <a:lstStyle/>
          <a:p>
            <a:pPr indent="0" marL="0">
              <a:buNone/>
            </a:pPr>
            <a:r>
              <a:rPr lang="en-US" sz="1150" dirty="0">
                <a:solidFill>
                  <a:srgbClr val="B7C4DC"/>
                </a:solidFill>
                <a:latin typeface="Malgun Gothic" pitchFamily="34" charset="0"/>
                <a:ea typeface="Malgun Gothic" pitchFamily="34" charset="-122"/>
                <a:cs typeface="Malgun Gothic" pitchFamily="34" charset="-120"/>
              </a:rPr>
              <a:t>Hybrid 결합</a:t>
            </a:r>
            <a:endParaRPr lang="en-US" sz="1150" dirty="0"/>
          </a:p>
        </p:txBody>
      </p:sp>
      <p:sp>
        <p:nvSpPr>
          <p:cNvPr id="23" name="Text 19"/>
          <p:cNvSpPr/>
          <p:nvPr/>
        </p:nvSpPr>
        <p:spPr>
          <a:xfrm>
            <a:off x="4160520" y="4956048"/>
            <a:ext cx="1188720" cy="292608"/>
          </a:xfrm>
          <a:prstGeom prst="rect">
            <a:avLst/>
          </a:prstGeom>
          <a:noFill/>
          <a:ln/>
        </p:spPr>
        <p:txBody>
          <a:bodyPr wrap="square" lIns="0" tIns="0" rIns="0" bIns="0" rtlCol="0" anchor="ctr"/>
          <a:lstStyle/>
          <a:p>
            <a:pPr algn="r" indent="0" marL="0">
              <a:buNone/>
            </a:pPr>
            <a:r>
              <a:rPr lang="en-US" sz="1000" dirty="0">
                <a:solidFill>
                  <a:srgbClr val="8493AE"/>
                </a:solidFill>
                <a:latin typeface="Consolas" pitchFamily="34" charset="0"/>
                <a:ea typeface="Consolas" pitchFamily="34" charset="-122"/>
                <a:cs typeface="Consolas" pitchFamily="34" charset="-120"/>
              </a:rPr>
              <a:t>2027</a:t>
            </a:r>
            <a:endParaRPr lang="en-US" sz="1000" dirty="0"/>
          </a:p>
        </p:txBody>
      </p:sp>
      <p:sp>
        <p:nvSpPr>
          <p:cNvPr id="24" name="Text 20"/>
          <p:cNvSpPr/>
          <p:nvPr/>
        </p:nvSpPr>
        <p:spPr>
          <a:xfrm>
            <a:off x="822960" y="5870448"/>
            <a:ext cx="4526280" cy="274320"/>
          </a:xfrm>
          <a:prstGeom prst="rect">
            <a:avLst/>
          </a:prstGeom>
          <a:noFill/>
          <a:ln/>
        </p:spPr>
        <p:txBody>
          <a:bodyPr wrap="square" lIns="0" tIns="0" rIns="0" bIns="0" rtlCol="0" anchor="ctr"/>
          <a:lstStyle/>
          <a:p>
            <a:pPr algn="l" indent="0" marL="0">
              <a:buNone/>
            </a:pPr>
            <a:r>
              <a:rPr lang="en-US" sz="1150" b="1" dirty="0">
                <a:solidFill>
                  <a:srgbClr val="FFC83D"/>
                </a:solidFill>
                <a:latin typeface="Malgun Gothic" pitchFamily="34" charset="0"/>
                <a:ea typeface="Malgun Gothic" pitchFamily="34" charset="-122"/>
                <a:cs typeface="Malgun Gothic" pitchFamily="34" charset="-120"/>
              </a:rPr>
              <a:t>대표 기업</a:t>
            </a:r>
            <a:endParaRPr lang="en-US" sz="1150" dirty="0"/>
          </a:p>
        </p:txBody>
      </p:sp>
      <p:sp>
        <p:nvSpPr>
          <p:cNvPr id="25" name="Text 21"/>
          <p:cNvSpPr/>
          <p:nvPr/>
        </p:nvSpPr>
        <p:spPr>
          <a:xfrm>
            <a:off x="822960" y="6108192"/>
            <a:ext cx="4526280" cy="384048"/>
          </a:xfrm>
          <a:prstGeom prst="rect">
            <a:avLst/>
          </a:prstGeom>
          <a:noFill/>
          <a:ln/>
        </p:spPr>
        <p:txBody>
          <a:bodyPr wrap="square" lIns="0" tIns="0" rIns="0" bIns="0" rtlCol="0" anchor="ctr"/>
          <a:lstStyle/>
          <a:p>
            <a:pPr indent="0" marL="0">
              <a:lnSpc>
                <a:spcPct val="105000"/>
              </a:lnSpc>
              <a:buNone/>
            </a:pPr>
            <a:r>
              <a:rPr lang="en-US" sz="1000" dirty="0">
                <a:solidFill>
                  <a:srgbClr val="B7C4DC"/>
                </a:solidFill>
                <a:latin typeface="Malgun Gothic" pitchFamily="34" charset="0"/>
                <a:ea typeface="Malgun Gothic" pitchFamily="34" charset="-122"/>
                <a:cs typeface="Malgun Gothic" pitchFamily="34" charset="-120"/>
              </a:rPr>
              <a:t>Inception Mercury 2, LLaDA-8B (open-source), OpenAI, Anthropic</a:t>
            </a:r>
            <a:endParaRPr lang="en-US" sz="1000" dirty="0"/>
          </a:p>
        </p:txBody>
      </p:sp>
      <p:sp>
        <p:nvSpPr>
          <p:cNvPr id="26" name="Text 22"/>
          <p:cNvSpPr/>
          <p:nvPr/>
        </p:nvSpPr>
        <p:spPr>
          <a:xfrm>
            <a:off x="5897880" y="2395728"/>
            <a:ext cx="5742432" cy="274320"/>
          </a:xfrm>
          <a:prstGeom prst="rect">
            <a:avLst/>
          </a:prstGeom>
          <a:noFill/>
          <a:ln/>
        </p:spPr>
        <p:txBody>
          <a:bodyPr wrap="square" lIns="0" tIns="0" rIns="0" bIns="0" rtlCol="0" anchor="ctr"/>
          <a:lstStyle/>
          <a:p>
            <a:pPr algn="l" indent="0" marL="0">
              <a:buNone/>
            </a:pPr>
            <a:r>
              <a:rPr lang="en-US" sz="1150" b="1" dirty="0">
                <a:solidFill>
                  <a:srgbClr val="FFC83D"/>
                </a:solidFill>
                <a:latin typeface="Malgun Gothic" pitchFamily="34" charset="0"/>
                <a:ea typeface="Malgun Gothic" pitchFamily="34" charset="-122"/>
                <a:cs typeface="Malgun Gothic" pitchFamily="34" charset="-120"/>
              </a:rPr>
              <a:t>왜 필요한가</a:t>
            </a:r>
            <a:endParaRPr lang="en-US" sz="1150" dirty="0"/>
          </a:p>
        </p:txBody>
      </p:sp>
      <p:sp>
        <p:nvSpPr>
          <p:cNvPr id="27" name="Text 23"/>
          <p:cNvSpPr/>
          <p:nvPr/>
        </p:nvSpPr>
        <p:spPr>
          <a:xfrm>
            <a:off x="5897880" y="2651760"/>
            <a:ext cx="5742432" cy="1143000"/>
          </a:xfrm>
          <a:prstGeom prst="rect">
            <a:avLst/>
          </a:prstGeom>
          <a:noFill/>
          <a:ln/>
        </p:spPr>
        <p:txBody>
          <a:bodyPr wrap="square" lIns="0" tIns="0" rIns="0" bIns="0" rtlCol="0" anchor="ctr"/>
          <a:lstStyle/>
          <a:p>
            <a:pPr indent="0" marL="0">
              <a:lnSpc>
                <a:spcPct val="122000"/>
              </a:lnSpc>
              <a:buNone/>
            </a:pPr>
            <a:r>
              <a:rPr lang="en-US" sz="1250" dirty="0">
                <a:solidFill>
                  <a:srgbClr val="B7C4DC"/>
                </a:solidFill>
                <a:latin typeface="Malgun Gothic" pitchFamily="34" charset="0"/>
                <a:ea typeface="Malgun Gothic" pitchFamily="34" charset="-122"/>
                <a:cs typeface="Malgun Gothic" pitchFamily="34" charset="-120"/>
              </a:rPr>
              <a:t>에이전트 시대가 오면 AI가 만드는 답(코드·문서·계획)의 길이가 폭증합니다. 한 글자씩 쓰면 느리고 비쌉니다. 그림 그리듯 전체를 한 번에 잡는 방식이면 10배 빠르고 비용은 1/10로 떨어집니다.</a:t>
            </a:r>
            <a:endParaRPr lang="en-US" sz="1250" dirty="0"/>
          </a:p>
        </p:txBody>
      </p:sp>
      <p:sp>
        <p:nvSpPr>
          <p:cNvPr id="28" name="Text 24"/>
          <p:cNvSpPr/>
          <p:nvPr/>
        </p:nvSpPr>
        <p:spPr>
          <a:xfrm>
            <a:off x="5897880" y="3931920"/>
            <a:ext cx="5742432" cy="274320"/>
          </a:xfrm>
          <a:prstGeom prst="rect">
            <a:avLst/>
          </a:prstGeom>
          <a:noFill/>
          <a:ln/>
        </p:spPr>
        <p:txBody>
          <a:bodyPr wrap="square" lIns="0" tIns="0" rIns="0" bIns="0" rtlCol="0" anchor="ctr"/>
          <a:lstStyle/>
          <a:p>
            <a:pPr algn="l" indent="0" marL="0">
              <a:buNone/>
            </a:pPr>
            <a:r>
              <a:rPr lang="en-US" sz="1150" b="1" dirty="0">
                <a:solidFill>
                  <a:srgbClr val="FFC83D"/>
                </a:solidFill>
                <a:latin typeface="Malgun Gothic" pitchFamily="34" charset="0"/>
                <a:ea typeface="Malgun Gothic" pitchFamily="34" charset="-122"/>
                <a:cs typeface="Malgun Gothic" pitchFamily="34" charset="-120"/>
              </a:rPr>
              <a:t>핵심 기술</a:t>
            </a:r>
            <a:endParaRPr lang="en-US" sz="1150" dirty="0"/>
          </a:p>
        </p:txBody>
      </p:sp>
      <p:sp>
        <p:nvSpPr>
          <p:cNvPr id="29" name="Text 25"/>
          <p:cNvSpPr/>
          <p:nvPr/>
        </p:nvSpPr>
        <p:spPr>
          <a:xfrm>
            <a:off x="5897880" y="4187952"/>
            <a:ext cx="5742432" cy="777240"/>
          </a:xfrm>
          <a:prstGeom prst="rect">
            <a:avLst/>
          </a:prstGeom>
          <a:noFill/>
          <a:ln/>
        </p:spPr>
        <p:txBody>
          <a:bodyPr wrap="square" lIns="0" tIns="0" rIns="0" bIns="0" rtlCol="0" anchor="ctr"/>
          <a:lstStyle/>
          <a:p>
            <a:pPr indent="0" marL="0">
              <a:lnSpc>
                <a:spcPct val="125000"/>
              </a:lnSpc>
              <a:buNone/>
            </a:pPr>
            <a:r>
              <a:rPr lang="en-US" sz="1200" dirty="0">
                <a:solidFill>
                  <a:srgbClr val="B7C4DC"/>
                </a:solidFill>
                <a:latin typeface="Malgun Gothic" pitchFamily="34" charset="0"/>
                <a:ea typeface="Malgun Gothic" pitchFamily="34" charset="-122"/>
                <a:cs typeface="Malgun Gothic" pitchFamily="34" charset="-120"/>
              </a:rPr>
              <a:t>Machine Learning   ·   Deep Learning   ·   Transformer   ·   Foundation Model   ·   Generative AI   ·   LLM   ·   Multimodal   ·   Diffusion   ·   Hybrid   ·   Large Action Model</a:t>
            </a:r>
            <a:endParaRPr lang="en-US" sz="1200" dirty="0"/>
          </a:p>
        </p:txBody>
      </p:sp>
      <p:sp>
        <p:nvSpPr>
          <p:cNvPr id="30" name="Text 26"/>
          <p:cNvSpPr/>
          <p:nvPr/>
        </p:nvSpPr>
        <p:spPr>
          <a:xfrm>
            <a:off x="5897880" y="5074920"/>
            <a:ext cx="5742432" cy="274320"/>
          </a:xfrm>
          <a:prstGeom prst="rect">
            <a:avLst/>
          </a:prstGeom>
          <a:noFill/>
          <a:ln/>
        </p:spPr>
        <p:txBody>
          <a:bodyPr wrap="square" lIns="0" tIns="0" rIns="0" bIns="0" rtlCol="0" anchor="ctr"/>
          <a:lstStyle/>
          <a:p>
            <a:pPr algn="l" indent="0" marL="0">
              <a:buNone/>
            </a:pPr>
            <a:r>
              <a:rPr lang="en-US" sz="1150" b="1" dirty="0">
                <a:solidFill>
                  <a:srgbClr val="FFC83D"/>
                </a:solidFill>
                <a:latin typeface="Malgun Gothic" pitchFamily="34" charset="0"/>
                <a:ea typeface="Malgun Gothic" pitchFamily="34" charset="-122"/>
                <a:cs typeface="Malgun Gothic" pitchFamily="34" charset="-120"/>
              </a:rPr>
              <a:t>2035 전망</a:t>
            </a:r>
            <a:endParaRPr lang="en-US" sz="1150" dirty="0"/>
          </a:p>
        </p:txBody>
      </p:sp>
      <p:sp>
        <p:nvSpPr>
          <p:cNvPr id="31" name="Text 27"/>
          <p:cNvSpPr/>
          <p:nvPr/>
        </p:nvSpPr>
        <p:spPr>
          <a:xfrm>
            <a:off x="5897880" y="5330952"/>
            <a:ext cx="5742432" cy="1188720"/>
          </a:xfrm>
          <a:prstGeom prst="rect">
            <a:avLst/>
          </a:prstGeom>
          <a:noFill/>
          <a:ln/>
        </p:spPr>
        <p:txBody>
          <a:bodyPr wrap="square" lIns="0" tIns="0" rIns="0" bIns="0" rtlCol="0" anchor="ctr"/>
          <a:lstStyle/>
          <a:p>
            <a:pPr indent="0" marL="0">
              <a:lnSpc>
                <a:spcPct val="122000"/>
              </a:lnSpc>
              <a:buNone/>
            </a:pPr>
            <a:r>
              <a:rPr lang="en-US" sz="1250" dirty="0">
                <a:solidFill>
                  <a:srgbClr val="B7C4DC"/>
                </a:solidFill>
                <a:latin typeface="Malgun Gothic" pitchFamily="34" charset="0"/>
                <a:ea typeface="Malgun Gothic" pitchFamily="34" charset="-122"/>
                <a:cs typeface="Malgun Gothic" pitchFamily="34" charset="-120"/>
              </a:rPr>
              <a:t>생성의 단위가 '글자'에서 '행동'으로 옮겨가, AI가 문장이 아니라 '업무 한 건'을 통째로 출력하는 Large Action Model이 일상이 됩니다.</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548640" y="502920"/>
            <a:ext cx="868680" cy="868680"/>
          </a:xfrm>
          <a:prstGeom prst="ellipse">
            <a:avLst/>
          </a:prstGeom>
          <a:solidFill>
            <a:srgbClr val="18223A"/>
          </a:solidFill>
          <a:ln w="22225">
            <a:solidFill>
              <a:srgbClr val="38BDF8"/>
            </a:solidFill>
            <a:prstDash val="solid"/>
          </a:ln>
        </p:spPr>
      </p:sp>
      <p:pic>
        <p:nvPicPr>
          <p:cNvPr id="3" name="Image 0" descr="assets/icon_connectivity.png">    </p:cNvPr>
          <p:cNvPicPr>
            <a:picLocks noChangeAspect="1"/>
          </p:cNvPicPr>
          <p:nvPr/>
        </p:nvPicPr>
        <p:blipFill>
          <a:blip r:embed="rId1"/>
          <a:stretch>
            <a:fillRect/>
          </a:stretch>
        </p:blipFill>
        <p:spPr>
          <a:xfrm>
            <a:off x="713689" y="667969"/>
            <a:ext cx="538582" cy="538582"/>
          </a:xfrm>
          <a:prstGeom prst="rect">
            <a:avLst/>
          </a:prstGeom>
        </p:spPr>
      </p:pic>
      <p:sp>
        <p:nvSpPr>
          <p:cNvPr id="4" name="Text 1"/>
          <p:cNvSpPr/>
          <p:nvPr/>
        </p:nvSpPr>
        <p:spPr>
          <a:xfrm>
            <a:off x="1600200" y="475488"/>
            <a:ext cx="2743200" cy="292608"/>
          </a:xfrm>
          <a:prstGeom prst="rect">
            <a:avLst/>
          </a:prstGeom>
          <a:noFill/>
          <a:ln/>
        </p:spPr>
        <p:txBody>
          <a:bodyPr wrap="square" lIns="0" tIns="0" rIns="0" bIns="0" rtlCol="0" anchor="ctr"/>
          <a:lstStyle/>
          <a:p>
            <a:pPr indent="0" marL="0">
              <a:buNone/>
            </a:pPr>
            <a:r>
              <a:rPr lang="en-US" sz="1400" b="1" dirty="0">
                <a:solidFill>
                  <a:srgbClr val="38BDF8"/>
                </a:solidFill>
                <a:latin typeface="Consolas" pitchFamily="34" charset="0"/>
                <a:ea typeface="Consolas" pitchFamily="34" charset="-122"/>
                <a:cs typeface="Consolas" pitchFamily="34" charset="-120"/>
              </a:rPr>
              <a:t>04</a:t>
            </a:r>
            <a:endParaRPr lang="en-US" sz="1400" dirty="0"/>
          </a:p>
        </p:txBody>
      </p:sp>
      <p:sp>
        <p:nvSpPr>
          <p:cNvPr id="5" name="Text 2"/>
          <p:cNvSpPr/>
          <p:nvPr/>
        </p:nvSpPr>
        <p:spPr>
          <a:xfrm>
            <a:off x="1572768" y="713232"/>
            <a:ext cx="6858000" cy="658368"/>
          </a:xfrm>
          <a:prstGeom prst="rect">
            <a:avLst/>
          </a:prstGeom>
          <a:noFill/>
          <a:ln/>
        </p:spPr>
        <p:txBody>
          <a:bodyPr wrap="square" lIns="0" tIns="0" rIns="0" bIns="0" rtlCol="0" anchor="ctr"/>
          <a:lstStyle/>
          <a:p>
            <a:pPr indent="0" marL="0">
              <a:buNone/>
            </a:pPr>
            <a:r>
              <a:rPr lang="en-US" sz="3300" b="1" dirty="0">
                <a:solidFill>
                  <a:srgbClr val="EAF0FF"/>
                </a:solidFill>
                <a:latin typeface="Malgun Gothic" pitchFamily="34" charset="0"/>
                <a:ea typeface="Malgun Gothic" pitchFamily="34" charset="-122"/>
                <a:cs typeface="Malgun Gothic" pitchFamily="34" charset="-120"/>
              </a:rPr>
              <a:t>연결</a:t>
            </a:r>
            <a:endParaRPr lang="en-US" sz="3300" dirty="0"/>
          </a:p>
        </p:txBody>
      </p:sp>
      <p:sp>
        <p:nvSpPr>
          <p:cNvPr id="6" name="Text 3"/>
          <p:cNvSpPr/>
          <p:nvPr/>
        </p:nvSpPr>
        <p:spPr>
          <a:xfrm>
            <a:off x="1600200" y="1371600"/>
            <a:ext cx="8229600" cy="292608"/>
          </a:xfrm>
          <a:prstGeom prst="rect">
            <a:avLst/>
          </a:prstGeom>
          <a:noFill/>
          <a:ln/>
        </p:spPr>
        <p:txBody>
          <a:bodyPr wrap="square" lIns="0" tIns="0" rIns="0" bIns="0" rtlCol="0" anchor="ctr"/>
          <a:lstStyle/>
          <a:p>
            <a:pPr indent="0" marL="0">
              <a:buNone/>
            </a:pPr>
            <a:r>
              <a:rPr lang="en-US" sz="1300" dirty="0">
                <a:solidFill>
                  <a:srgbClr val="8493AE"/>
                </a:solidFill>
                <a:latin typeface="Malgun Gothic" pitchFamily="34" charset="0"/>
                <a:ea typeface="Malgun Gothic" pitchFamily="34" charset="-122"/>
                <a:cs typeface="Malgun Gothic" pitchFamily="34" charset="-120"/>
              </a:rPr>
              <a:t>Connectivity · GPU끼리 데이터 이동</a:t>
            </a:r>
            <a:endParaRPr lang="en-US" sz="1300" dirty="0"/>
          </a:p>
        </p:txBody>
      </p:sp>
      <p:sp>
        <p:nvSpPr>
          <p:cNvPr id="7" name="Text 4"/>
          <p:cNvSpPr/>
          <p:nvPr/>
        </p:nvSpPr>
        <p:spPr>
          <a:xfrm>
            <a:off x="1600200" y="1700784"/>
            <a:ext cx="8869680" cy="457200"/>
          </a:xfrm>
          <a:prstGeom prst="rect">
            <a:avLst/>
          </a:prstGeom>
          <a:noFill/>
          <a:ln/>
        </p:spPr>
        <p:txBody>
          <a:bodyPr wrap="square" lIns="0" tIns="0" rIns="0" bIns="0" rtlCol="0" anchor="ctr"/>
          <a:lstStyle/>
          <a:p>
            <a:pPr indent="0" marL="0">
              <a:buNone/>
            </a:pPr>
            <a:r>
              <a:rPr lang="en-US" sz="1350" i="1" dirty="0">
                <a:solidFill>
                  <a:srgbClr val="B7C4DC"/>
                </a:solidFill>
                <a:latin typeface="Malgun Gothic" pitchFamily="34" charset="0"/>
                <a:ea typeface="Malgun Gothic" pitchFamily="34" charset="-122"/>
                <a:cs typeface="Malgun Gothic" pitchFamily="34" charset="-120"/>
              </a:rPr>
              <a:t>칩과 칩 사이를 '전기 구리선'에서 '빛'으로 잇는 단계.</a:t>
            </a:r>
            <a:endParaRPr lang="en-US" sz="1350" dirty="0"/>
          </a:p>
        </p:txBody>
      </p:sp>
      <p:pic>
        <p:nvPicPr>
          <p:cNvPr id="8" name="Image 1" descr="assets/loc_connectivity.png">    </p:cNvPr>
          <p:cNvPicPr>
            <a:picLocks noChangeAspect="1"/>
          </p:cNvPicPr>
          <p:nvPr/>
        </p:nvPicPr>
        <p:blipFill>
          <a:blip r:embed="rId2"/>
          <a:stretch>
            <a:fillRect/>
          </a:stretch>
        </p:blipFill>
        <p:spPr>
          <a:xfrm>
            <a:off x="10972800" y="457200"/>
            <a:ext cx="914400" cy="1600200"/>
          </a:xfrm>
          <a:prstGeom prst="rect">
            <a:avLst/>
          </a:prstGeom>
        </p:spPr>
      </p:pic>
      <p:sp>
        <p:nvSpPr>
          <p:cNvPr id="9" name="Text 5"/>
          <p:cNvSpPr/>
          <p:nvPr/>
        </p:nvSpPr>
        <p:spPr>
          <a:xfrm>
            <a:off x="10607040" y="2075688"/>
            <a:ext cx="1645920" cy="228600"/>
          </a:xfrm>
          <a:prstGeom prst="rect">
            <a:avLst/>
          </a:prstGeom>
          <a:noFill/>
          <a:ln/>
        </p:spPr>
        <p:txBody>
          <a:bodyPr wrap="square" lIns="0" tIns="0" rIns="0" bIns="0" rtlCol="0" anchor="ctr"/>
          <a:lstStyle/>
          <a:p>
            <a:pPr algn="ctr" indent="0" marL="0">
              <a:buNone/>
            </a:pPr>
            <a:r>
              <a:rPr lang="en-US" sz="900" dirty="0">
                <a:solidFill>
                  <a:srgbClr val="8493AE"/>
                </a:solidFill>
                <a:latin typeface="Malgun Gothic" pitchFamily="34" charset="0"/>
                <a:ea typeface="Malgun Gothic" pitchFamily="34" charset="-122"/>
                <a:cs typeface="Malgun Gothic" pitchFamily="34" charset="-120"/>
              </a:rPr>
              <a:t>몸의 위치</a:t>
            </a:r>
            <a:endParaRPr lang="en-US" sz="900" dirty="0"/>
          </a:p>
        </p:txBody>
      </p:sp>
      <p:sp>
        <p:nvSpPr>
          <p:cNvPr id="10" name="Shape 6"/>
          <p:cNvSpPr/>
          <p:nvPr/>
        </p:nvSpPr>
        <p:spPr>
          <a:xfrm>
            <a:off x="548640" y="2331720"/>
            <a:ext cx="5074920" cy="4224528"/>
          </a:xfrm>
          <a:prstGeom prst="roundRect">
            <a:avLst>
              <a:gd name="adj" fmla="val 1948"/>
            </a:avLst>
          </a:prstGeom>
          <a:solidFill>
            <a:srgbClr val="121A2E"/>
          </a:solidFill>
          <a:ln w="12700">
            <a:solidFill>
              <a:srgbClr val="2A3756"/>
            </a:solidFill>
            <a:prstDash val="solid"/>
          </a:ln>
          <a:effectLst>
            <a:outerShdw sx="100000" sy="100000" kx="0" ky="0" algn="bl" rotWithShape="0" blurRad="114300" dist="38100" dir="5400000">
              <a:srgbClr val="000000">
                <a:alpha val="35000"/>
              </a:srgbClr>
            </a:outerShdw>
          </a:effectLst>
        </p:spPr>
      </p:sp>
      <p:sp>
        <p:nvSpPr>
          <p:cNvPr id="11" name="Text 7"/>
          <p:cNvSpPr/>
          <p:nvPr/>
        </p:nvSpPr>
        <p:spPr>
          <a:xfrm>
            <a:off x="822960" y="2542032"/>
            <a:ext cx="4526280" cy="274320"/>
          </a:xfrm>
          <a:prstGeom prst="rect">
            <a:avLst/>
          </a:prstGeom>
          <a:noFill/>
          <a:ln/>
        </p:spPr>
        <p:txBody>
          <a:bodyPr wrap="square" lIns="0" tIns="0" rIns="0" bIns="0" rtlCol="0" anchor="ctr"/>
          <a:lstStyle/>
          <a:p>
            <a:pPr algn="l" indent="0" marL="0">
              <a:buNone/>
            </a:pPr>
            <a:r>
              <a:rPr lang="en-US" sz="1150" b="1" dirty="0">
                <a:solidFill>
                  <a:srgbClr val="38BDF8"/>
                </a:solidFill>
                <a:latin typeface="Malgun Gothic" pitchFamily="34" charset="0"/>
                <a:ea typeface="Malgun Gothic" pitchFamily="34" charset="-122"/>
                <a:cs typeface="Malgun Gothic" pitchFamily="34" charset="-120"/>
              </a:rPr>
              <a:t>쉬운 비유</a:t>
            </a:r>
            <a:endParaRPr lang="en-US" sz="1150" dirty="0"/>
          </a:p>
        </p:txBody>
      </p:sp>
      <p:sp>
        <p:nvSpPr>
          <p:cNvPr id="12" name="Text 8"/>
          <p:cNvSpPr/>
          <p:nvPr/>
        </p:nvSpPr>
        <p:spPr>
          <a:xfrm>
            <a:off x="822960" y="2798064"/>
            <a:ext cx="4526280" cy="365760"/>
          </a:xfrm>
          <a:prstGeom prst="rect">
            <a:avLst/>
          </a:prstGeom>
          <a:noFill/>
          <a:ln/>
        </p:spPr>
        <p:txBody>
          <a:bodyPr wrap="square" lIns="0" tIns="0" rIns="0" bIns="0" rtlCol="0" anchor="ctr"/>
          <a:lstStyle/>
          <a:p>
            <a:pPr indent="0" marL="0">
              <a:buNone/>
            </a:pPr>
            <a:r>
              <a:rPr lang="en-US" sz="1550" b="1" dirty="0">
                <a:solidFill>
                  <a:srgbClr val="EAF0FF"/>
                </a:solidFill>
                <a:latin typeface="Malgun Gothic" pitchFamily="34" charset="0"/>
                <a:ea typeface="Malgun Gothic" pitchFamily="34" charset="-122"/>
                <a:cs typeface="Malgun Gothic" pitchFamily="34" charset="-120"/>
              </a:rPr>
              <a:t>자동차 도로 → 비행기 (빛)</a:t>
            </a:r>
            <a:endParaRPr lang="en-US" sz="1550" dirty="0"/>
          </a:p>
        </p:txBody>
      </p:sp>
      <p:sp>
        <p:nvSpPr>
          <p:cNvPr id="13" name="Text 9"/>
          <p:cNvSpPr/>
          <p:nvPr/>
        </p:nvSpPr>
        <p:spPr>
          <a:xfrm>
            <a:off x="822960" y="3200400"/>
            <a:ext cx="4526280" cy="822960"/>
          </a:xfrm>
          <a:prstGeom prst="rect">
            <a:avLst/>
          </a:prstGeom>
          <a:noFill/>
          <a:ln/>
        </p:spPr>
        <p:txBody>
          <a:bodyPr wrap="square" lIns="0" tIns="0" rIns="0" bIns="0" rtlCol="0" anchor="ctr"/>
          <a:lstStyle/>
          <a:p>
            <a:pPr indent="0" marL="0">
              <a:lnSpc>
                <a:spcPct val="116000"/>
              </a:lnSpc>
              <a:buNone/>
            </a:pPr>
            <a:r>
              <a:rPr lang="en-US" sz="1150" dirty="0">
                <a:solidFill>
                  <a:srgbClr val="B7C4DC"/>
                </a:solidFill>
                <a:latin typeface="Malgun Gothic" pitchFamily="34" charset="0"/>
                <a:ea typeface="Malgun Gothic" pitchFamily="34" charset="-122"/>
                <a:cs typeface="Malgun Gothic" pitchFamily="34" charset="-120"/>
              </a:rPr>
              <a:t>구리선은 막히는 자동차 도로, 실리콘 포토닉스는 빛의 속도로 나는 비행기. 같은 GPU라도 길이 빨라지면 전체가 빨라집니다.</a:t>
            </a:r>
            <a:endParaRPr lang="en-US" sz="1150" dirty="0"/>
          </a:p>
        </p:txBody>
      </p:sp>
      <p:sp>
        <p:nvSpPr>
          <p:cNvPr id="14" name="Text 10"/>
          <p:cNvSpPr/>
          <p:nvPr/>
        </p:nvSpPr>
        <p:spPr>
          <a:xfrm>
            <a:off x="822960" y="4078224"/>
            <a:ext cx="4526280" cy="274320"/>
          </a:xfrm>
          <a:prstGeom prst="rect">
            <a:avLst/>
          </a:prstGeom>
          <a:noFill/>
          <a:ln/>
        </p:spPr>
        <p:txBody>
          <a:bodyPr wrap="square" lIns="0" tIns="0" rIns="0" bIns="0" rtlCol="0" anchor="ctr"/>
          <a:lstStyle/>
          <a:p>
            <a:pPr algn="l" indent="0" marL="0">
              <a:buNone/>
            </a:pPr>
            <a:r>
              <a:rPr lang="en-US" sz="1150" b="1" dirty="0">
                <a:solidFill>
                  <a:srgbClr val="38BDF8"/>
                </a:solidFill>
                <a:latin typeface="Malgun Gothic" pitchFamily="34" charset="0"/>
                <a:ea typeface="Malgun Gothic" pitchFamily="34" charset="-122"/>
                <a:cs typeface="Malgun Gothic" pitchFamily="34" charset="-120"/>
              </a:rPr>
              <a:t>진화 단계</a:t>
            </a:r>
            <a:endParaRPr lang="en-US" sz="1150" dirty="0"/>
          </a:p>
        </p:txBody>
      </p:sp>
      <p:sp>
        <p:nvSpPr>
          <p:cNvPr id="15" name="Shape 11"/>
          <p:cNvSpPr/>
          <p:nvPr/>
        </p:nvSpPr>
        <p:spPr>
          <a:xfrm>
            <a:off x="822960" y="4425696"/>
            <a:ext cx="118872" cy="118872"/>
          </a:xfrm>
          <a:prstGeom prst="ellipse">
            <a:avLst/>
          </a:prstGeom>
          <a:solidFill>
            <a:srgbClr val="8493AE"/>
          </a:solidFill>
          <a:ln w="15875">
            <a:solidFill>
              <a:srgbClr val="8493AE"/>
            </a:solidFill>
            <a:prstDash val="solid"/>
          </a:ln>
        </p:spPr>
      </p:sp>
      <p:sp>
        <p:nvSpPr>
          <p:cNvPr id="16" name="Text 12"/>
          <p:cNvSpPr/>
          <p:nvPr/>
        </p:nvSpPr>
        <p:spPr>
          <a:xfrm>
            <a:off x="1060704" y="4370832"/>
            <a:ext cx="3291840" cy="292608"/>
          </a:xfrm>
          <a:prstGeom prst="rect">
            <a:avLst/>
          </a:prstGeom>
          <a:noFill/>
          <a:ln/>
        </p:spPr>
        <p:txBody>
          <a:bodyPr wrap="square" lIns="0" tIns="0" rIns="0" bIns="0" rtlCol="0" anchor="ctr"/>
          <a:lstStyle/>
          <a:p>
            <a:pPr indent="0" marL="0">
              <a:buNone/>
            </a:pPr>
            <a:r>
              <a:rPr lang="en-US" sz="1150" dirty="0">
                <a:solidFill>
                  <a:srgbClr val="8493AE"/>
                </a:solidFill>
                <a:latin typeface="Malgun Gothic" pitchFamily="34" charset="0"/>
                <a:ea typeface="Malgun Gothic" pitchFamily="34" charset="-122"/>
                <a:cs typeface="Malgun Gothic" pitchFamily="34" charset="-120"/>
              </a:rPr>
              <a:t>구리 전선</a:t>
            </a:r>
            <a:endParaRPr lang="en-US" sz="1150" dirty="0"/>
          </a:p>
        </p:txBody>
      </p:sp>
      <p:sp>
        <p:nvSpPr>
          <p:cNvPr id="17" name="Text 13"/>
          <p:cNvSpPr/>
          <p:nvPr/>
        </p:nvSpPr>
        <p:spPr>
          <a:xfrm>
            <a:off x="4160520" y="4370832"/>
            <a:ext cx="1188720" cy="292608"/>
          </a:xfrm>
          <a:prstGeom prst="rect">
            <a:avLst/>
          </a:prstGeom>
          <a:noFill/>
          <a:ln/>
        </p:spPr>
        <p:txBody>
          <a:bodyPr wrap="square" lIns="0" tIns="0" rIns="0" bIns="0" rtlCol="0" anchor="ctr"/>
          <a:lstStyle/>
          <a:p>
            <a:pPr algn="r" indent="0" marL="0">
              <a:buNone/>
            </a:pPr>
            <a:r>
              <a:rPr lang="en-US" sz="1000" dirty="0">
                <a:solidFill>
                  <a:srgbClr val="8493AE"/>
                </a:solidFill>
                <a:latin typeface="Consolas" pitchFamily="34" charset="0"/>
                <a:ea typeface="Consolas" pitchFamily="34" charset="-122"/>
                <a:cs typeface="Consolas" pitchFamily="34" charset="-120"/>
              </a:rPr>
              <a:t>~2025</a:t>
            </a:r>
            <a:endParaRPr lang="en-US" sz="1000" dirty="0"/>
          </a:p>
        </p:txBody>
      </p:sp>
      <p:sp>
        <p:nvSpPr>
          <p:cNvPr id="18" name="Shape 14"/>
          <p:cNvSpPr/>
          <p:nvPr/>
        </p:nvSpPr>
        <p:spPr>
          <a:xfrm>
            <a:off x="822960" y="4718304"/>
            <a:ext cx="118872" cy="118872"/>
          </a:xfrm>
          <a:prstGeom prst="ellipse">
            <a:avLst/>
          </a:prstGeom>
          <a:solidFill>
            <a:srgbClr val="38BDF8"/>
          </a:solidFill>
          <a:ln w="15875">
            <a:solidFill>
              <a:srgbClr val="38BDF8"/>
            </a:solidFill>
            <a:prstDash val="solid"/>
          </a:ln>
        </p:spPr>
      </p:sp>
      <p:sp>
        <p:nvSpPr>
          <p:cNvPr id="19" name="Text 15"/>
          <p:cNvSpPr/>
          <p:nvPr/>
        </p:nvSpPr>
        <p:spPr>
          <a:xfrm>
            <a:off x="1060704" y="4663440"/>
            <a:ext cx="3291840" cy="292608"/>
          </a:xfrm>
          <a:prstGeom prst="rect">
            <a:avLst/>
          </a:prstGeom>
          <a:noFill/>
          <a:ln/>
        </p:spPr>
        <p:txBody>
          <a:bodyPr wrap="square" lIns="0" tIns="0" rIns="0" bIns="0" rtlCol="0" anchor="ctr"/>
          <a:lstStyle/>
          <a:p>
            <a:pPr indent="0" marL="0">
              <a:buNone/>
            </a:pPr>
            <a:r>
              <a:rPr lang="en-US" sz="1150" b="1" dirty="0">
                <a:solidFill>
                  <a:srgbClr val="38BDF8"/>
                </a:solidFill>
                <a:latin typeface="Malgun Gothic" pitchFamily="34" charset="0"/>
                <a:ea typeface="Malgun Gothic" pitchFamily="34" charset="-122"/>
                <a:cs typeface="Malgun Gothic" pitchFamily="34" charset="-120"/>
              </a:rPr>
              <a:t>Photonic (실리콘 포토닉스)</a:t>
            </a:r>
            <a:endParaRPr lang="en-US" sz="1150" dirty="0"/>
          </a:p>
        </p:txBody>
      </p:sp>
      <p:sp>
        <p:nvSpPr>
          <p:cNvPr id="20" name="Text 16"/>
          <p:cNvSpPr/>
          <p:nvPr/>
        </p:nvSpPr>
        <p:spPr>
          <a:xfrm>
            <a:off x="4160520" y="4663440"/>
            <a:ext cx="1188720" cy="292608"/>
          </a:xfrm>
          <a:prstGeom prst="rect">
            <a:avLst/>
          </a:prstGeom>
          <a:noFill/>
          <a:ln/>
        </p:spPr>
        <p:txBody>
          <a:bodyPr wrap="square" lIns="0" tIns="0" rIns="0" bIns="0" rtlCol="0" anchor="ctr"/>
          <a:lstStyle/>
          <a:p>
            <a:pPr algn="r" indent="0" marL="0">
              <a:buNone/>
            </a:pPr>
            <a:r>
              <a:rPr lang="en-US" sz="1000" dirty="0">
                <a:solidFill>
                  <a:srgbClr val="38BDF8"/>
                </a:solidFill>
                <a:latin typeface="Consolas" pitchFamily="34" charset="0"/>
                <a:ea typeface="Consolas" pitchFamily="34" charset="-122"/>
                <a:cs typeface="Consolas" pitchFamily="34" charset="-120"/>
              </a:rPr>
              <a:t>2026  ★</a:t>
            </a:r>
            <a:endParaRPr lang="en-US" sz="1000" dirty="0"/>
          </a:p>
        </p:txBody>
      </p:sp>
      <p:sp>
        <p:nvSpPr>
          <p:cNvPr id="21" name="Shape 17"/>
          <p:cNvSpPr/>
          <p:nvPr/>
        </p:nvSpPr>
        <p:spPr>
          <a:xfrm>
            <a:off x="822960" y="5010912"/>
            <a:ext cx="118872" cy="118872"/>
          </a:xfrm>
          <a:prstGeom prst="ellipse">
            <a:avLst/>
          </a:prstGeom>
          <a:solidFill>
            <a:srgbClr val="0B0F1A"/>
          </a:solidFill>
          <a:ln w="15875">
            <a:solidFill>
              <a:srgbClr val="38BDF8"/>
            </a:solidFill>
            <a:prstDash val="solid"/>
          </a:ln>
        </p:spPr>
      </p:sp>
      <p:sp>
        <p:nvSpPr>
          <p:cNvPr id="22" name="Text 18"/>
          <p:cNvSpPr/>
          <p:nvPr/>
        </p:nvSpPr>
        <p:spPr>
          <a:xfrm>
            <a:off x="1060704" y="4956048"/>
            <a:ext cx="3291840" cy="292608"/>
          </a:xfrm>
          <a:prstGeom prst="rect">
            <a:avLst/>
          </a:prstGeom>
          <a:noFill/>
          <a:ln/>
        </p:spPr>
        <p:txBody>
          <a:bodyPr wrap="square" lIns="0" tIns="0" rIns="0" bIns="0" rtlCol="0" anchor="ctr"/>
          <a:lstStyle/>
          <a:p>
            <a:pPr indent="0" marL="0">
              <a:buNone/>
            </a:pPr>
            <a:r>
              <a:rPr lang="en-US" sz="1150" dirty="0">
                <a:solidFill>
                  <a:srgbClr val="B7C4DC"/>
                </a:solidFill>
                <a:latin typeface="Malgun Gothic" pitchFamily="34" charset="0"/>
                <a:ea typeface="Malgun Gothic" pitchFamily="34" charset="-122"/>
                <a:cs typeface="Malgun Gothic" pitchFamily="34" charset="-120"/>
              </a:rPr>
              <a:t>광+양자 하이브리드</a:t>
            </a:r>
            <a:endParaRPr lang="en-US" sz="1150" dirty="0"/>
          </a:p>
        </p:txBody>
      </p:sp>
      <p:sp>
        <p:nvSpPr>
          <p:cNvPr id="23" name="Text 19"/>
          <p:cNvSpPr/>
          <p:nvPr/>
        </p:nvSpPr>
        <p:spPr>
          <a:xfrm>
            <a:off x="4160520" y="4956048"/>
            <a:ext cx="1188720" cy="292608"/>
          </a:xfrm>
          <a:prstGeom prst="rect">
            <a:avLst/>
          </a:prstGeom>
          <a:noFill/>
          <a:ln/>
        </p:spPr>
        <p:txBody>
          <a:bodyPr wrap="square" lIns="0" tIns="0" rIns="0" bIns="0" rtlCol="0" anchor="ctr"/>
          <a:lstStyle/>
          <a:p>
            <a:pPr algn="r" indent="0" marL="0">
              <a:buNone/>
            </a:pPr>
            <a:r>
              <a:rPr lang="en-US" sz="1000" dirty="0">
                <a:solidFill>
                  <a:srgbClr val="8493AE"/>
                </a:solidFill>
                <a:latin typeface="Consolas" pitchFamily="34" charset="0"/>
                <a:ea typeface="Consolas" pitchFamily="34" charset="-122"/>
                <a:cs typeface="Consolas" pitchFamily="34" charset="-120"/>
              </a:rPr>
              <a:t>2028+</a:t>
            </a:r>
            <a:endParaRPr lang="en-US" sz="1000" dirty="0"/>
          </a:p>
        </p:txBody>
      </p:sp>
      <p:sp>
        <p:nvSpPr>
          <p:cNvPr id="24" name="Text 20"/>
          <p:cNvSpPr/>
          <p:nvPr/>
        </p:nvSpPr>
        <p:spPr>
          <a:xfrm>
            <a:off x="822960" y="5870448"/>
            <a:ext cx="4526280" cy="274320"/>
          </a:xfrm>
          <a:prstGeom prst="rect">
            <a:avLst/>
          </a:prstGeom>
          <a:noFill/>
          <a:ln/>
        </p:spPr>
        <p:txBody>
          <a:bodyPr wrap="square" lIns="0" tIns="0" rIns="0" bIns="0" rtlCol="0" anchor="ctr"/>
          <a:lstStyle/>
          <a:p>
            <a:pPr algn="l" indent="0" marL="0">
              <a:buNone/>
            </a:pPr>
            <a:r>
              <a:rPr lang="en-US" sz="1150" b="1" dirty="0">
                <a:solidFill>
                  <a:srgbClr val="38BDF8"/>
                </a:solidFill>
                <a:latin typeface="Malgun Gothic" pitchFamily="34" charset="0"/>
                <a:ea typeface="Malgun Gothic" pitchFamily="34" charset="-122"/>
                <a:cs typeface="Malgun Gothic" pitchFamily="34" charset="-120"/>
              </a:rPr>
              <a:t>대표 기업</a:t>
            </a:r>
            <a:endParaRPr lang="en-US" sz="1150" dirty="0"/>
          </a:p>
        </p:txBody>
      </p:sp>
      <p:sp>
        <p:nvSpPr>
          <p:cNvPr id="25" name="Text 21"/>
          <p:cNvSpPr/>
          <p:nvPr/>
        </p:nvSpPr>
        <p:spPr>
          <a:xfrm>
            <a:off x="822960" y="6108192"/>
            <a:ext cx="4526280" cy="384048"/>
          </a:xfrm>
          <a:prstGeom prst="rect">
            <a:avLst/>
          </a:prstGeom>
          <a:noFill/>
          <a:ln/>
        </p:spPr>
        <p:txBody>
          <a:bodyPr wrap="square" lIns="0" tIns="0" rIns="0" bIns="0" rtlCol="0" anchor="ctr"/>
          <a:lstStyle/>
          <a:p>
            <a:pPr indent="0" marL="0">
              <a:lnSpc>
                <a:spcPct val="105000"/>
              </a:lnSpc>
              <a:buNone/>
            </a:pPr>
            <a:r>
              <a:rPr lang="en-US" sz="1000" dirty="0">
                <a:solidFill>
                  <a:srgbClr val="B7C4DC"/>
                </a:solidFill>
                <a:latin typeface="Malgun Gothic" pitchFamily="34" charset="0"/>
                <a:ea typeface="Malgun Gothic" pitchFamily="34" charset="-122"/>
                <a:cs typeface="Malgun Gothic" pitchFamily="34" charset="-120"/>
              </a:rPr>
              <a:t>Lightmatter Passage L200, Ayar Labs TeraPHY, NVIDIA NVLink</a:t>
            </a:r>
            <a:endParaRPr lang="en-US" sz="1000" dirty="0"/>
          </a:p>
        </p:txBody>
      </p:sp>
      <p:sp>
        <p:nvSpPr>
          <p:cNvPr id="26" name="Text 22"/>
          <p:cNvSpPr/>
          <p:nvPr/>
        </p:nvSpPr>
        <p:spPr>
          <a:xfrm>
            <a:off x="5897880" y="2395728"/>
            <a:ext cx="5742432" cy="274320"/>
          </a:xfrm>
          <a:prstGeom prst="rect">
            <a:avLst/>
          </a:prstGeom>
          <a:noFill/>
          <a:ln/>
        </p:spPr>
        <p:txBody>
          <a:bodyPr wrap="square" lIns="0" tIns="0" rIns="0" bIns="0" rtlCol="0" anchor="ctr"/>
          <a:lstStyle/>
          <a:p>
            <a:pPr algn="l" indent="0" marL="0">
              <a:buNone/>
            </a:pPr>
            <a:r>
              <a:rPr lang="en-US" sz="1150" b="1" dirty="0">
                <a:solidFill>
                  <a:srgbClr val="38BDF8"/>
                </a:solidFill>
                <a:latin typeface="Malgun Gothic" pitchFamily="34" charset="0"/>
                <a:ea typeface="Malgun Gothic" pitchFamily="34" charset="-122"/>
                <a:cs typeface="Malgun Gothic" pitchFamily="34" charset="-120"/>
              </a:rPr>
              <a:t>왜 필요한가</a:t>
            </a:r>
            <a:endParaRPr lang="en-US" sz="1150" dirty="0"/>
          </a:p>
        </p:txBody>
      </p:sp>
      <p:sp>
        <p:nvSpPr>
          <p:cNvPr id="27" name="Text 23"/>
          <p:cNvSpPr/>
          <p:nvPr/>
        </p:nvSpPr>
        <p:spPr>
          <a:xfrm>
            <a:off x="5897880" y="2651760"/>
            <a:ext cx="5742432" cy="1143000"/>
          </a:xfrm>
          <a:prstGeom prst="rect">
            <a:avLst/>
          </a:prstGeom>
          <a:noFill/>
          <a:ln/>
        </p:spPr>
        <p:txBody>
          <a:bodyPr wrap="square" lIns="0" tIns="0" rIns="0" bIns="0" rtlCol="0" anchor="ctr"/>
          <a:lstStyle/>
          <a:p>
            <a:pPr indent="0" marL="0">
              <a:lnSpc>
                <a:spcPct val="122000"/>
              </a:lnSpc>
              <a:buNone/>
            </a:pPr>
            <a:r>
              <a:rPr lang="en-US" sz="1250" dirty="0">
                <a:solidFill>
                  <a:srgbClr val="B7C4DC"/>
                </a:solidFill>
                <a:latin typeface="Malgun Gothic" pitchFamily="34" charset="0"/>
                <a:ea typeface="Malgun Gothic" pitchFamily="34" charset="-122"/>
                <a:cs typeface="Malgun Gothic" pitchFamily="34" charset="-120"/>
              </a:rPr>
              <a:t>GPU를 100만 대 모아도, 서로 데이터를 못 주고받으면 80%가 놀고 있습니다. 진짜 병목은 칩 성능이 아니라 칩 사이 '통신'입니다. 빛(포토닉스)이 이 막힌 도로를 뚫습니다.</a:t>
            </a:r>
            <a:endParaRPr lang="en-US" sz="1250" dirty="0"/>
          </a:p>
        </p:txBody>
      </p:sp>
      <p:sp>
        <p:nvSpPr>
          <p:cNvPr id="28" name="Text 24"/>
          <p:cNvSpPr/>
          <p:nvPr/>
        </p:nvSpPr>
        <p:spPr>
          <a:xfrm>
            <a:off x="5897880" y="3931920"/>
            <a:ext cx="5742432" cy="274320"/>
          </a:xfrm>
          <a:prstGeom prst="rect">
            <a:avLst/>
          </a:prstGeom>
          <a:noFill/>
          <a:ln/>
        </p:spPr>
        <p:txBody>
          <a:bodyPr wrap="square" lIns="0" tIns="0" rIns="0" bIns="0" rtlCol="0" anchor="ctr"/>
          <a:lstStyle/>
          <a:p>
            <a:pPr algn="l" indent="0" marL="0">
              <a:buNone/>
            </a:pPr>
            <a:r>
              <a:rPr lang="en-US" sz="1150" b="1" dirty="0">
                <a:solidFill>
                  <a:srgbClr val="38BDF8"/>
                </a:solidFill>
                <a:latin typeface="Malgun Gothic" pitchFamily="34" charset="0"/>
                <a:ea typeface="Malgun Gothic" pitchFamily="34" charset="-122"/>
                <a:cs typeface="Malgun Gothic" pitchFamily="34" charset="-120"/>
              </a:rPr>
              <a:t>핵심 기술</a:t>
            </a:r>
            <a:endParaRPr lang="en-US" sz="1150" dirty="0"/>
          </a:p>
        </p:txBody>
      </p:sp>
      <p:sp>
        <p:nvSpPr>
          <p:cNvPr id="29" name="Text 25"/>
          <p:cNvSpPr/>
          <p:nvPr/>
        </p:nvSpPr>
        <p:spPr>
          <a:xfrm>
            <a:off x="5897880" y="4187952"/>
            <a:ext cx="5742432" cy="777240"/>
          </a:xfrm>
          <a:prstGeom prst="rect">
            <a:avLst/>
          </a:prstGeom>
          <a:noFill/>
          <a:ln/>
        </p:spPr>
        <p:txBody>
          <a:bodyPr wrap="square" lIns="0" tIns="0" rIns="0" bIns="0" rtlCol="0" anchor="ctr"/>
          <a:lstStyle/>
          <a:p>
            <a:pPr indent="0" marL="0">
              <a:lnSpc>
                <a:spcPct val="125000"/>
              </a:lnSpc>
              <a:buNone/>
            </a:pPr>
            <a:r>
              <a:rPr lang="en-US" sz="1200" dirty="0">
                <a:solidFill>
                  <a:srgbClr val="B7C4DC"/>
                </a:solidFill>
                <a:latin typeface="Malgun Gothic" pitchFamily="34" charset="0"/>
                <a:ea typeface="Malgun Gothic" pitchFamily="34" charset="-122"/>
                <a:cs typeface="Malgun Gothic" pitchFamily="34" charset="-120"/>
              </a:rPr>
              <a:t>Ethernet   ·   GPU Cluster   ·   NVLink   ·   InfiniBand   ·   Silicon Photonics   ·   Photonic Computing   ·   Edge AI</a:t>
            </a:r>
            <a:endParaRPr lang="en-US" sz="1200" dirty="0"/>
          </a:p>
        </p:txBody>
      </p:sp>
      <p:sp>
        <p:nvSpPr>
          <p:cNvPr id="30" name="Text 26"/>
          <p:cNvSpPr/>
          <p:nvPr/>
        </p:nvSpPr>
        <p:spPr>
          <a:xfrm>
            <a:off x="5897880" y="5074920"/>
            <a:ext cx="5742432" cy="274320"/>
          </a:xfrm>
          <a:prstGeom prst="rect">
            <a:avLst/>
          </a:prstGeom>
          <a:noFill/>
          <a:ln/>
        </p:spPr>
        <p:txBody>
          <a:bodyPr wrap="square" lIns="0" tIns="0" rIns="0" bIns="0" rtlCol="0" anchor="ctr"/>
          <a:lstStyle/>
          <a:p>
            <a:pPr algn="l" indent="0" marL="0">
              <a:buNone/>
            </a:pPr>
            <a:r>
              <a:rPr lang="en-US" sz="1150" b="1" dirty="0">
                <a:solidFill>
                  <a:srgbClr val="38BDF8"/>
                </a:solidFill>
                <a:latin typeface="Malgun Gothic" pitchFamily="34" charset="0"/>
                <a:ea typeface="Malgun Gothic" pitchFamily="34" charset="-122"/>
                <a:cs typeface="Malgun Gothic" pitchFamily="34" charset="-120"/>
              </a:rPr>
              <a:t>2035 전망</a:t>
            </a:r>
            <a:endParaRPr lang="en-US" sz="1150" dirty="0"/>
          </a:p>
        </p:txBody>
      </p:sp>
      <p:sp>
        <p:nvSpPr>
          <p:cNvPr id="31" name="Text 27"/>
          <p:cNvSpPr/>
          <p:nvPr/>
        </p:nvSpPr>
        <p:spPr>
          <a:xfrm>
            <a:off x="5897880" y="5330952"/>
            <a:ext cx="5742432" cy="1188720"/>
          </a:xfrm>
          <a:prstGeom prst="rect">
            <a:avLst/>
          </a:prstGeom>
          <a:noFill/>
          <a:ln/>
        </p:spPr>
        <p:txBody>
          <a:bodyPr wrap="square" lIns="0" tIns="0" rIns="0" bIns="0" rtlCol="0" anchor="ctr"/>
          <a:lstStyle/>
          <a:p>
            <a:pPr indent="0" marL="0">
              <a:lnSpc>
                <a:spcPct val="122000"/>
              </a:lnSpc>
              <a:buNone/>
            </a:pPr>
            <a:r>
              <a:rPr lang="en-US" sz="1250" dirty="0">
                <a:solidFill>
                  <a:srgbClr val="B7C4DC"/>
                </a:solidFill>
                <a:latin typeface="Malgun Gothic" pitchFamily="34" charset="0"/>
                <a:ea typeface="Malgun Gothic" pitchFamily="34" charset="-122"/>
                <a:cs typeface="Malgun Gothic" pitchFamily="34" charset="-120"/>
              </a:rPr>
              <a:t>데이터센터 내부 연결의 상당 부분이 광으로 바뀌고, 현장(Edge)과 중앙이 빛처럼 빠르게 이어져 '거대한 한 대의 컴퓨터'처럼 작동합니다.</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548640" y="502920"/>
            <a:ext cx="868680" cy="868680"/>
          </a:xfrm>
          <a:prstGeom prst="ellipse">
            <a:avLst/>
          </a:prstGeom>
          <a:solidFill>
            <a:srgbClr val="18223A"/>
          </a:solidFill>
          <a:ln w="22225">
            <a:solidFill>
              <a:srgbClr val="A78BFA"/>
            </a:solidFill>
            <a:prstDash val="solid"/>
          </a:ln>
        </p:spPr>
      </p:sp>
      <p:pic>
        <p:nvPicPr>
          <p:cNvPr id="3" name="Image 0" descr="assets/icon_perception.png">    </p:cNvPr>
          <p:cNvPicPr>
            <a:picLocks noChangeAspect="1"/>
          </p:cNvPicPr>
          <p:nvPr/>
        </p:nvPicPr>
        <p:blipFill>
          <a:blip r:embed="rId1"/>
          <a:stretch>
            <a:fillRect/>
          </a:stretch>
        </p:blipFill>
        <p:spPr>
          <a:xfrm>
            <a:off x="713689" y="667969"/>
            <a:ext cx="538582" cy="538582"/>
          </a:xfrm>
          <a:prstGeom prst="rect">
            <a:avLst/>
          </a:prstGeom>
        </p:spPr>
      </p:pic>
      <p:sp>
        <p:nvSpPr>
          <p:cNvPr id="4" name="Text 1"/>
          <p:cNvSpPr/>
          <p:nvPr/>
        </p:nvSpPr>
        <p:spPr>
          <a:xfrm>
            <a:off x="1600200" y="475488"/>
            <a:ext cx="2743200" cy="292608"/>
          </a:xfrm>
          <a:prstGeom prst="rect">
            <a:avLst/>
          </a:prstGeom>
          <a:noFill/>
          <a:ln/>
        </p:spPr>
        <p:txBody>
          <a:bodyPr wrap="square" lIns="0" tIns="0" rIns="0" bIns="0" rtlCol="0" anchor="ctr"/>
          <a:lstStyle/>
          <a:p>
            <a:pPr indent="0" marL="0">
              <a:buNone/>
            </a:pPr>
            <a:r>
              <a:rPr lang="en-US" sz="1400" b="1" dirty="0">
                <a:solidFill>
                  <a:srgbClr val="A78BFA"/>
                </a:solidFill>
                <a:latin typeface="Consolas" pitchFamily="34" charset="0"/>
                <a:ea typeface="Consolas" pitchFamily="34" charset="-122"/>
                <a:cs typeface="Consolas" pitchFamily="34" charset="-120"/>
              </a:rPr>
              <a:t>05</a:t>
            </a:r>
            <a:endParaRPr lang="en-US" sz="1400" dirty="0"/>
          </a:p>
        </p:txBody>
      </p:sp>
      <p:sp>
        <p:nvSpPr>
          <p:cNvPr id="5" name="Text 2"/>
          <p:cNvSpPr/>
          <p:nvPr/>
        </p:nvSpPr>
        <p:spPr>
          <a:xfrm>
            <a:off x="1572768" y="713232"/>
            <a:ext cx="6858000" cy="658368"/>
          </a:xfrm>
          <a:prstGeom prst="rect">
            <a:avLst/>
          </a:prstGeom>
          <a:noFill/>
          <a:ln/>
        </p:spPr>
        <p:txBody>
          <a:bodyPr wrap="square" lIns="0" tIns="0" rIns="0" bIns="0" rtlCol="0" anchor="ctr"/>
          <a:lstStyle/>
          <a:p>
            <a:pPr indent="0" marL="0">
              <a:buNone/>
            </a:pPr>
            <a:r>
              <a:rPr lang="en-US" sz="3300" b="1" dirty="0">
                <a:solidFill>
                  <a:srgbClr val="EAF0FF"/>
                </a:solidFill>
                <a:latin typeface="Malgun Gothic" pitchFamily="34" charset="0"/>
                <a:ea typeface="Malgun Gothic" pitchFamily="34" charset="-122"/>
                <a:cs typeface="Malgun Gothic" pitchFamily="34" charset="-120"/>
              </a:rPr>
              <a:t>지각</a:t>
            </a:r>
            <a:endParaRPr lang="en-US" sz="3300" dirty="0"/>
          </a:p>
        </p:txBody>
      </p:sp>
      <p:sp>
        <p:nvSpPr>
          <p:cNvPr id="6" name="Text 3"/>
          <p:cNvSpPr/>
          <p:nvPr/>
        </p:nvSpPr>
        <p:spPr>
          <a:xfrm>
            <a:off x="1600200" y="1371600"/>
            <a:ext cx="8229600" cy="292608"/>
          </a:xfrm>
          <a:prstGeom prst="rect">
            <a:avLst/>
          </a:prstGeom>
          <a:noFill/>
          <a:ln/>
        </p:spPr>
        <p:txBody>
          <a:bodyPr wrap="square" lIns="0" tIns="0" rIns="0" bIns="0" rtlCol="0" anchor="ctr"/>
          <a:lstStyle/>
          <a:p>
            <a:pPr indent="0" marL="0">
              <a:buNone/>
            </a:pPr>
            <a:r>
              <a:rPr lang="en-US" sz="1300" dirty="0">
                <a:solidFill>
                  <a:srgbClr val="8493AE"/>
                </a:solidFill>
                <a:latin typeface="Malgun Gothic" pitchFamily="34" charset="0"/>
                <a:ea typeface="Malgun Gothic" pitchFamily="34" charset="-122"/>
                <a:cs typeface="Malgun Gothic" pitchFamily="34" charset="-120"/>
              </a:rPr>
              <a:t>Perception · 세상을 보고 이해하는 능력</a:t>
            </a:r>
            <a:endParaRPr lang="en-US" sz="1300" dirty="0"/>
          </a:p>
        </p:txBody>
      </p:sp>
      <p:sp>
        <p:nvSpPr>
          <p:cNvPr id="7" name="Text 4"/>
          <p:cNvSpPr/>
          <p:nvPr/>
        </p:nvSpPr>
        <p:spPr>
          <a:xfrm>
            <a:off x="1600200" y="1700784"/>
            <a:ext cx="8869680" cy="457200"/>
          </a:xfrm>
          <a:prstGeom prst="rect">
            <a:avLst/>
          </a:prstGeom>
          <a:noFill/>
          <a:ln/>
        </p:spPr>
        <p:txBody>
          <a:bodyPr wrap="square" lIns="0" tIns="0" rIns="0" bIns="0" rtlCol="0" anchor="ctr"/>
          <a:lstStyle/>
          <a:p>
            <a:pPr indent="0" marL="0">
              <a:buNone/>
            </a:pPr>
            <a:r>
              <a:rPr lang="en-US" sz="1350" i="1" dirty="0">
                <a:solidFill>
                  <a:srgbClr val="B7C4DC"/>
                </a:solidFill>
                <a:latin typeface="Malgun Gothic" pitchFamily="34" charset="0"/>
                <a:ea typeface="Malgun Gothic" pitchFamily="34" charset="-122"/>
                <a:cs typeface="Malgun Gothic" pitchFamily="34" charset="-120"/>
              </a:rPr>
              <a:t>AI가 글을 넘어 '공간·움직임·물리'를 눈으로 이해하는 단계.</a:t>
            </a:r>
            <a:endParaRPr lang="en-US" sz="1350" dirty="0"/>
          </a:p>
        </p:txBody>
      </p:sp>
      <p:pic>
        <p:nvPicPr>
          <p:cNvPr id="8" name="Image 1" descr="assets/loc_perception.png">    </p:cNvPr>
          <p:cNvPicPr>
            <a:picLocks noChangeAspect="1"/>
          </p:cNvPicPr>
          <p:nvPr/>
        </p:nvPicPr>
        <p:blipFill>
          <a:blip r:embed="rId2"/>
          <a:stretch>
            <a:fillRect/>
          </a:stretch>
        </p:blipFill>
        <p:spPr>
          <a:xfrm>
            <a:off x="10972800" y="457200"/>
            <a:ext cx="914400" cy="1600200"/>
          </a:xfrm>
          <a:prstGeom prst="rect">
            <a:avLst/>
          </a:prstGeom>
        </p:spPr>
      </p:pic>
      <p:sp>
        <p:nvSpPr>
          <p:cNvPr id="9" name="Text 5"/>
          <p:cNvSpPr/>
          <p:nvPr/>
        </p:nvSpPr>
        <p:spPr>
          <a:xfrm>
            <a:off x="10607040" y="2075688"/>
            <a:ext cx="1645920" cy="228600"/>
          </a:xfrm>
          <a:prstGeom prst="rect">
            <a:avLst/>
          </a:prstGeom>
          <a:noFill/>
          <a:ln/>
        </p:spPr>
        <p:txBody>
          <a:bodyPr wrap="square" lIns="0" tIns="0" rIns="0" bIns="0" rtlCol="0" anchor="ctr"/>
          <a:lstStyle/>
          <a:p>
            <a:pPr algn="ctr" indent="0" marL="0">
              <a:buNone/>
            </a:pPr>
            <a:r>
              <a:rPr lang="en-US" sz="900" dirty="0">
                <a:solidFill>
                  <a:srgbClr val="8493AE"/>
                </a:solidFill>
                <a:latin typeface="Malgun Gothic" pitchFamily="34" charset="0"/>
                <a:ea typeface="Malgun Gothic" pitchFamily="34" charset="-122"/>
                <a:cs typeface="Malgun Gothic" pitchFamily="34" charset="-120"/>
              </a:rPr>
              <a:t>몸의 위치</a:t>
            </a:r>
            <a:endParaRPr lang="en-US" sz="900" dirty="0"/>
          </a:p>
        </p:txBody>
      </p:sp>
      <p:sp>
        <p:nvSpPr>
          <p:cNvPr id="10" name="Shape 6"/>
          <p:cNvSpPr/>
          <p:nvPr/>
        </p:nvSpPr>
        <p:spPr>
          <a:xfrm>
            <a:off x="548640" y="2331720"/>
            <a:ext cx="5074920" cy="4224528"/>
          </a:xfrm>
          <a:prstGeom prst="roundRect">
            <a:avLst>
              <a:gd name="adj" fmla="val 1948"/>
            </a:avLst>
          </a:prstGeom>
          <a:solidFill>
            <a:srgbClr val="121A2E"/>
          </a:solidFill>
          <a:ln w="12700">
            <a:solidFill>
              <a:srgbClr val="2A3756"/>
            </a:solidFill>
            <a:prstDash val="solid"/>
          </a:ln>
          <a:effectLst>
            <a:outerShdw sx="100000" sy="100000" kx="0" ky="0" algn="bl" rotWithShape="0" blurRad="114300" dist="38100" dir="5400000">
              <a:srgbClr val="000000">
                <a:alpha val="35000"/>
              </a:srgbClr>
            </a:outerShdw>
          </a:effectLst>
        </p:spPr>
      </p:sp>
      <p:sp>
        <p:nvSpPr>
          <p:cNvPr id="11" name="Text 7"/>
          <p:cNvSpPr/>
          <p:nvPr/>
        </p:nvSpPr>
        <p:spPr>
          <a:xfrm>
            <a:off x="822960" y="2542032"/>
            <a:ext cx="4526280" cy="274320"/>
          </a:xfrm>
          <a:prstGeom prst="rect">
            <a:avLst/>
          </a:prstGeom>
          <a:noFill/>
          <a:ln/>
        </p:spPr>
        <p:txBody>
          <a:bodyPr wrap="square" lIns="0" tIns="0" rIns="0" bIns="0" rtlCol="0" anchor="ctr"/>
          <a:lstStyle/>
          <a:p>
            <a:pPr algn="l" indent="0" marL="0">
              <a:buNone/>
            </a:pPr>
            <a:r>
              <a:rPr lang="en-US" sz="1150" b="1" dirty="0">
                <a:solidFill>
                  <a:srgbClr val="A78BFA"/>
                </a:solidFill>
                <a:latin typeface="Malgun Gothic" pitchFamily="34" charset="0"/>
                <a:ea typeface="Malgun Gothic" pitchFamily="34" charset="-122"/>
                <a:cs typeface="Malgun Gothic" pitchFamily="34" charset="-120"/>
              </a:rPr>
              <a:t>쉬운 비유</a:t>
            </a:r>
            <a:endParaRPr lang="en-US" sz="1150" dirty="0"/>
          </a:p>
        </p:txBody>
      </p:sp>
      <p:sp>
        <p:nvSpPr>
          <p:cNvPr id="12" name="Text 8"/>
          <p:cNvSpPr/>
          <p:nvPr/>
        </p:nvSpPr>
        <p:spPr>
          <a:xfrm>
            <a:off x="822960" y="2798064"/>
            <a:ext cx="4526280" cy="365760"/>
          </a:xfrm>
          <a:prstGeom prst="rect">
            <a:avLst/>
          </a:prstGeom>
          <a:noFill/>
          <a:ln/>
        </p:spPr>
        <p:txBody>
          <a:bodyPr wrap="square" lIns="0" tIns="0" rIns="0" bIns="0" rtlCol="0" anchor="ctr"/>
          <a:lstStyle/>
          <a:p>
            <a:pPr indent="0" marL="0">
              <a:buNone/>
            </a:pPr>
            <a:r>
              <a:rPr lang="en-US" sz="1550" b="1" dirty="0">
                <a:solidFill>
                  <a:srgbClr val="EAF0FF"/>
                </a:solidFill>
                <a:latin typeface="Malgun Gothic" pitchFamily="34" charset="0"/>
                <a:ea typeface="Malgun Gothic" pitchFamily="34" charset="-122"/>
                <a:cs typeface="Malgun Gothic" pitchFamily="34" charset="-120"/>
              </a:rPr>
              <a:t>글 잘 쓰는 작가 → 3D 짓는 건축가</a:t>
            </a:r>
            <a:endParaRPr lang="en-US" sz="1550" dirty="0"/>
          </a:p>
        </p:txBody>
      </p:sp>
      <p:sp>
        <p:nvSpPr>
          <p:cNvPr id="13" name="Text 9"/>
          <p:cNvSpPr/>
          <p:nvPr/>
        </p:nvSpPr>
        <p:spPr>
          <a:xfrm>
            <a:off x="822960" y="3200400"/>
            <a:ext cx="4526280" cy="822960"/>
          </a:xfrm>
          <a:prstGeom prst="rect">
            <a:avLst/>
          </a:prstGeom>
          <a:noFill/>
          <a:ln/>
        </p:spPr>
        <p:txBody>
          <a:bodyPr wrap="square" lIns="0" tIns="0" rIns="0" bIns="0" rtlCol="0" anchor="ctr"/>
          <a:lstStyle/>
          <a:p>
            <a:pPr indent="0" marL="0">
              <a:lnSpc>
                <a:spcPct val="116000"/>
              </a:lnSpc>
              <a:buNone/>
            </a:pPr>
            <a:r>
              <a:rPr lang="en-US" sz="1150" dirty="0">
                <a:solidFill>
                  <a:srgbClr val="B7C4DC"/>
                </a:solidFill>
                <a:latin typeface="Malgun Gothic" pitchFamily="34" charset="0"/>
                <a:ea typeface="Malgun Gothic" pitchFamily="34" charset="-122"/>
                <a:cs typeface="Malgun Gothic" pitchFamily="34" charset="-120"/>
              </a:rPr>
              <a:t>언어 AI는 글 잘 쓰는 작가, Spatial AI·World Model은 공간을 입체로 짓는 건축가. 작가는 묘사하지만 건축가는 실제로 서 있을 수 있는 구조를 만듭니다.</a:t>
            </a:r>
            <a:endParaRPr lang="en-US" sz="1150" dirty="0"/>
          </a:p>
        </p:txBody>
      </p:sp>
      <p:sp>
        <p:nvSpPr>
          <p:cNvPr id="14" name="Text 10"/>
          <p:cNvSpPr/>
          <p:nvPr/>
        </p:nvSpPr>
        <p:spPr>
          <a:xfrm>
            <a:off x="822960" y="4078224"/>
            <a:ext cx="4526280" cy="274320"/>
          </a:xfrm>
          <a:prstGeom prst="rect">
            <a:avLst/>
          </a:prstGeom>
          <a:noFill/>
          <a:ln/>
        </p:spPr>
        <p:txBody>
          <a:bodyPr wrap="square" lIns="0" tIns="0" rIns="0" bIns="0" rtlCol="0" anchor="ctr"/>
          <a:lstStyle/>
          <a:p>
            <a:pPr algn="l" indent="0" marL="0">
              <a:buNone/>
            </a:pPr>
            <a:r>
              <a:rPr lang="en-US" sz="1150" b="1" dirty="0">
                <a:solidFill>
                  <a:srgbClr val="A78BFA"/>
                </a:solidFill>
                <a:latin typeface="Malgun Gothic" pitchFamily="34" charset="0"/>
                <a:ea typeface="Malgun Gothic" pitchFamily="34" charset="-122"/>
                <a:cs typeface="Malgun Gothic" pitchFamily="34" charset="-120"/>
              </a:rPr>
              <a:t>진화 단계</a:t>
            </a:r>
            <a:endParaRPr lang="en-US" sz="1150" dirty="0"/>
          </a:p>
        </p:txBody>
      </p:sp>
      <p:sp>
        <p:nvSpPr>
          <p:cNvPr id="15" name="Shape 11"/>
          <p:cNvSpPr/>
          <p:nvPr/>
        </p:nvSpPr>
        <p:spPr>
          <a:xfrm>
            <a:off x="822960" y="4425696"/>
            <a:ext cx="118872" cy="118872"/>
          </a:xfrm>
          <a:prstGeom prst="ellipse">
            <a:avLst/>
          </a:prstGeom>
          <a:solidFill>
            <a:srgbClr val="8493AE"/>
          </a:solidFill>
          <a:ln w="15875">
            <a:solidFill>
              <a:srgbClr val="8493AE"/>
            </a:solidFill>
            <a:prstDash val="solid"/>
          </a:ln>
        </p:spPr>
      </p:sp>
      <p:sp>
        <p:nvSpPr>
          <p:cNvPr id="16" name="Text 12"/>
          <p:cNvSpPr/>
          <p:nvPr/>
        </p:nvSpPr>
        <p:spPr>
          <a:xfrm>
            <a:off x="1060704" y="4370832"/>
            <a:ext cx="3291840" cy="292608"/>
          </a:xfrm>
          <a:prstGeom prst="rect">
            <a:avLst/>
          </a:prstGeom>
          <a:noFill/>
          <a:ln/>
        </p:spPr>
        <p:txBody>
          <a:bodyPr wrap="square" lIns="0" tIns="0" rIns="0" bIns="0" rtlCol="0" anchor="ctr"/>
          <a:lstStyle/>
          <a:p>
            <a:pPr indent="0" marL="0">
              <a:buNone/>
            </a:pPr>
            <a:r>
              <a:rPr lang="en-US" sz="1150" dirty="0">
                <a:solidFill>
                  <a:srgbClr val="8493AE"/>
                </a:solidFill>
                <a:latin typeface="Malgun Gothic" pitchFamily="34" charset="0"/>
                <a:ea typeface="Malgun Gothic" pitchFamily="34" charset="-122"/>
                <a:cs typeface="Malgun Gothic" pitchFamily="34" charset="-120"/>
              </a:rPr>
              <a:t>언어 (인간 뇌의 5%)</a:t>
            </a:r>
            <a:endParaRPr lang="en-US" sz="1150" dirty="0"/>
          </a:p>
        </p:txBody>
      </p:sp>
      <p:sp>
        <p:nvSpPr>
          <p:cNvPr id="17" name="Text 13"/>
          <p:cNvSpPr/>
          <p:nvPr/>
        </p:nvSpPr>
        <p:spPr>
          <a:xfrm>
            <a:off x="4160520" y="4370832"/>
            <a:ext cx="1188720" cy="292608"/>
          </a:xfrm>
          <a:prstGeom prst="rect">
            <a:avLst/>
          </a:prstGeom>
          <a:noFill/>
          <a:ln/>
        </p:spPr>
        <p:txBody>
          <a:bodyPr wrap="square" lIns="0" tIns="0" rIns="0" bIns="0" rtlCol="0" anchor="ctr"/>
          <a:lstStyle/>
          <a:p>
            <a:pPr algn="r" indent="0" marL="0">
              <a:buNone/>
            </a:pPr>
            <a:r>
              <a:rPr lang="en-US" sz="1000" dirty="0">
                <a:solidFill>
                  <a:srgbClr val="8493AE"/>
                </a:solidFill>
                <a:latin typeface="Consolas" pitchFamily="34" charset="0"/>
                <a:ea typeface="Consolas" pitchFamily="34" charset="-122"/>
                <a:cs typeface="Consolas" pitchFamily="34" charset="-120"/>
              </a:rPr>
              <a:t>~2025</a:t>
            </a:r>
            <a:endParaRPr lang="en-US" sz="1000" dirty="0"/>
          </a:p>
        </p:txBody>
      </p:sp>
      <p:sp>
        <p:nvSpPr>
          <p:cNvPr id="18" name="Shape 14"/>
          <p:cNvSpPr/>
          <p:nvPr/>
        </p:nvSpPr>
        <p:spPr>
          <a:xfrm>
            <a:off x="822960" y="4718304"/>
            <a:ext cx="118872" cy="118872"/>
          </a:xfrm>
          <a:prstGeom prst="ellipse">
            <a:avLst/>
          </a:prstGeom>
          <a:solidFill>
            <a:srgbClr val="A78BFA"/>
          </a:solidFill>
          <a:ln w="15875">
            <a:solidFill>
              <a:srgbClr val="A78BFA"/>
            </a:solidFill>
            <a:prstDash val="solid"/>
          </a:ln>
        </p:spPr>
      </p:sp>
      <p:sp>
        <p:nvSpPr>
          <p:cNvPr id="19" name="Text 15"/>
          <p:cNvSpPr/>
          <p:nvPr/>
        </p:nvSpPr>
        <p:spPr>
          <a:xfrm>
            <a:off x="1060704" y="4663440"/>
            <a:ext cx="3291840" cy="292608"/>
          </a:xfrm>
          <a:prstGeom prst="rect">
            <a:avLst/>
          </a:prstGeom>
          <a:noFill/>
          <a:ln/>
        </p:spPr>
        <p:txBody>
          <a:bodyPr wrap="square" lIns="0" tIns="0" rIns="0" bIns="0" rtlCol="0" anchor="ctr"/>
          <a:lstStyle/>
          <a:p>
            <a:pPr indent="0" marL="0">
              <a:buNone/>
            </a:pPr>
            <a:r>
              <a:rPr lang="en-US" sz="1150" b="1" dirty="0">
                <a:solidFill>
                  <a:srgbClr val="A78BFA"/>
                </a:solidFill>
                <a:latin typeface="Malgun Gothic" pitchFamily="34" charset="0"/>
                <a:ea typeface="Malgun Gothic" pitchFamily="34" charset="-122"/>
                <a:cs typeface="Malgun Gothic" pitchFamily="34" charset="-120"/>
              </a:rPr>
              <a:t>Spatial AI (3D 공간)</a:t>
            </a:r>
            <a:endParaRPr lang="en-US" sz="1150" dirty="0"/>
          </a:p>
        </p:txBody>
      </p:sp>
      <p:sp>
        <p:nvSpPr>
          <p:cNvPr id="20" name="Text 16"/>
          <p:cNvSpPr/>
          <p:nvPr/>
        </p:nvSpPr>
        <p:spPr>
          <a:xfrm>
            <a:off x="4160520" y="4663440"/>
            <a:ext cx="1188720" cy="292608"/>
          </a:xfrm>
          <a:prstGeom prst="rect">
            <a:avLst/>
          </a:prstGeom>
          <a:noFill/>
          <a:ln/>
        </p:spPr>
        <p:txBody>
          <a:bodyPr wrap="square" lIns="0" tIns="0" rIns="0" bIns="0" rtlCol="0" anchor="ctr"/>
          <a:lstStyle/>
          <a:p>
            <a:pPr algn="r" indent="0" marL="0">
              <a:buNone/>
            </a:pPr>
            <a:r>
              <a:rPr lang="en-US" sz="1000" dirty="0">
                <a:solidFill>
                  <a:srgbClr val="A78BFA"/>
                </a:solidFill>
                <a:latin typeface="Consolas" pitchFamily="34" charset="0"/>
                <a:ea typeface="Consolas" pitchFamily="34" charset="-122"/>
                <a:cs typeface="Consolas" pitchFamily="34" charset="-120"/>
              </a:rPr>
              <a:t>2026  ★</a:t>
            </a:r>
            <a:endParaRPr lang="en-US" sz="1000" dirty="0"/>
          </a:p>
        </p:txBody>
      </p:sp>
      <p:sp>
        <p:nvSpPr>
          <p:cNvPr id="21" name="Shape 17"/>
          <p:cNvSpPr/>
          <p:nvPr/>
        </p:nvSpPr>
        <p:spPr>
          <a:xfrm>
            <a:off x="822960" y="5010912"/>
            <a:ext cx="118872" cy="118872"/>
          </a:xfrm>
          <a:prstGeom prst="ellipse">
            <a:avLst/>
          </a:prstGeom>
          <a:solidFill>
            <a:srgbClr val="A78BFA"/>
          </a:solidFill>
          <a:ln w="15875">
            <a:solidFill>
              <a:srgbClr val="A78BFA"/>
            </a:solidFill>
            <a:prstDash val="solid"/>
          </a:ln>
        </p:spPr>
      </p:sp>
      <p:sp>
        <p:nvSpPr>
          <p:cNvPr id="22" name="Text 18"/>
          <p:cNvSpPr/>
          <p:nvPr/>
        </p:nvSpPr>
        <p:spPr>
          <a:xfrm>
            <a:off x="1060704" y="4956048"/>
            <a:ext cx="3291840" cy="292608"/>
          </a:xfrm>
          <a:prstGeom prst="rect">
            <a:avLst/>
          </a:prstGeom>
          <a:noFill/>
          <a:ln/>
        </p:spPr>
        <p:txBody>
          <a:bodyPr wrap="square" lIns="0" tIns="0" rIns="0" bIns="0" rtlCol="0" anchor="ctr"/>
          <a:lstStyle/>
          <a:p>
            <a:pPr indent="0" marL="0">
              <a:buNone/>
            </a:pPr>
            <a:r>
              <a:rPr lang="en-US" sz="1150" b="1" dirty="0">
                <a:solidFill>
                  <a:srgbClr val="A78BFA"/>
                </a:solidFill>
                <a:latin typeface="Malgun Gothic" pitchFamily="34" charset="0"/>
                <a:ea typeface="Malgun Gothic" pitchFamily="34" charset="-122"/>
                <a:cs typeface="Malgun Gothic" pitchFamily="34" charset="-120"/>
              </a:rPr>
              <a:t>VLA (보고→이해→행동)</a:t>
            </a:r>
            <a:endParaRPr lang="en-US" sz="1150" dirty="0"/>
          </a:p>
        </p:txBody>
      </p:sp>
      <p:sp>
        <p:nvSpPr>
          <p:cNvPr id="23" name="Text 19"/>
          <p:cNvSpPr/>
          <p:nvPr/>
        </p:nvSpPr>
        <p:spPr>
          <a:xfrm>
            <a:off x="4160520" y="4956048"/>
            <a:ext cx="1188720" cy="292608"/>
          </a:xfrm>
          <a:prstGeom prst="rect">
            <a:avLst/>
          </a:prstGeom>
          <a:noFill/>
          <a:ln/>
        </p:spPr>
        <p:txBody>
          <a:bodyPr wrap="square" lIns="0" tIns="0" rIns="0" bIns="0" rtlCol="0" anchor="ctr"/>
          <a:lstStyle/>
          <a:p>
            <a:pPr algn="r" indent="0" marL="0">
              <a:buNone/>
            </a:pPr>
            <a:r>
              <a:rPr lang="en-US" sz="1000" dirty="0">
                <a:solidFill>
                  <a:srgbClr val="A78BFA"/>
                </a:solidFill>
                <a:latin typeface="Consolas" pitchFamily="34" charset="0"/>
                <a:ea typeface="Consolas" pitchFamily="34" charset="-122"/>
                <a:cs typeface="Consolas" pitchFamily="34" charset="-120"/>
              </a:rPr>
              <a:t>2026  ★</a:t>
            </a:r>
            <a:endParaRPr lang="en-US" sz="1000" dirty="0"/>
          </a:p>
        </p:txBody>
      </p:sp>
      <p:sp>
        <p:nvSpPr>
          <p:cNvPr id="24" name="Shape 20"/>
          <p:cNvSpPr/>
          <p:nvPr/>
        </p:nvSpPr>
        <p:spPr>
          <a:xfrm>
            <a:off x="822960" y="5303520"/>
            <a:ext cx="118872" cy="118872"/>
          </a:xfrm>
          <a:prstGeom prst="ellipse">
            <a:avLst/>
          </a:prstGeom>
          <a:solidFill>
            <a:srgbClr val="0B0F1A"/>
          </a:solidFill>
          <a:ln w="15875">
            <a:solidFill>
              <a:srgbClr val="A78BFA"/>
            </a:solidFill>
            <a:prstDash val="solid"/>
          </a:ln>
        </p:spPr>
      </p:sp>
      <p:sp>
        <p:nvSpPr>
          <p:cNvPr id="25" name="Text 21"/>
          <p:cNvSpPr/>
          <p:nvPr/>
        </p:nvSpPr>
        <p:spPr>
          <a:xfrm>
            <a:off x="1060704" y="5248656"/>
            <a:ext cx="3291840" cy="292608"/>
          </a:xfrm>
          <a:prstGeom prst="rect">
            <a:avLst/>
          </a:prstGeom>
          <a:noFill/>
          <a:ln/>
        </p:spPr>
        <p:txBody>
          <a:bodyPr wrap="square" lIns="0" tIns="0" rIns="0" bIns="0" rtlCol="0" anchor="ctr"/>
          <a:lstStyle/>
          <a:p>
            <a:pPr indent="0" marL="0">
              <a:buNone/>
            </a:pPr>
            <a:r>
              <a:rPr lang="en-US" sz="1150" dirty="0">
                <a:solidFill>
                  <a:srgbClr val="B7C4DC"/>
                </a:solidFill>
                <a:latin typeface="Malgun Gothic" pitchFamily="34" charset="0"/>
                <a:ea typeface="Malgun Gothic" pitchFamily="34" charset="-122"/>
                <a:cs typeface="Malgun Gothic" pitchFamily="34" charset="-120"/>
              </a:rPr>
              <a:t>시간·인과 추가</a:t>
            </a:r>
            <a:endParaRPr lang="en-US" sz="1150" dirty="0"/>
          </a:p>
        </p:txBody>
      </p:sp>
      <p:sp>
        <p:nvSpPr>
          <p:cNvPr id="26" name="Text 22"/>
          <p:cNvSpPr/>
          <p:nvPr/>
        </p:nvSpPr>
        <p:spPr>
          <a:xfrm>
            <a:off x="4160520" y="5248656"/>
            <a:ext cx="1188720" cy="292608"/>
          </a:xfrm>
          <a:prstGeom prst="rect">
            <a:avLst/>
          </a:prstGeom>
          <a:noFill/>
          <a:ln/>
        </p:spPr>
        <p:txBody>
          <a:bodyPr wrap="square" lIns="0" tIns="0" rIns="0" bIns="0" rtlCol="0" anchor="ctr"/>
          <a:lstStyle/>
          <a:p>
            <a:pPr algn="r" indent="0" marL="0">
              <a:buNone/>
            </a:pPr>
            <a:r>
              <a:rPr lang="en-US" sz="1000" dirty="0">
                <a:solidFill>
                  <a:srgbClr val="8493AE"/>
                </a:solidFill>
                <a:latin typeface="Consolas" pitchFamily="34" charset="0"/>
                <a:ea typeface="Consolas" pitchFamily="34" charset="-122"/>
                <a:cs typeface="Consolas" pitchFamily="34" charset="-120"/>
              </a:rPr>
              <a:t>2028+</a:t>
            </a:r>
            <a:endParaRPr lang="en-US" sz="1000" dirty="0"/>
          </a:p>
        </p:txBody>
      </p:sp>
      <p:sp>
        <p:nvSpPr>
          <p:cNvPr id="27" name="Text 23"/>
          <p:cNvSpPr/>
          <p:nvPr/>
        </p:nvSpPr>
        <p:spPr>
          <a:xfrm>
            <a:off x="822960" y="5870448"/>
            <a:ext cx="4526280" cy="274320"/>
          </a:xfrm>
          <a:prstGeom prst="rect">
            <a:avLst/>
          </a:prstGeom>
          <a:noFill/>
          <a:ln/>
        </p:spPr>
        <p:txBody>
          <a:bodyPr wrap="square" lIns="0" tIns="0" rIns="0" bIns="0" rtlCol="0" anchor="ctr"/>
          <a:lstStyle/>
          <a:p>
            <a:pPr algn="l" indent="0" marL="0">
              <a:buNone/>
            </a:pPr>
            <a:r>
              <a:rPr lang="en-US" sz="1150" b="1" dirty="0">
                <a:solidFill>
                  <a:srgbClr val="A78BFA"/>
                </a:solidFill>
                <a:latin typeface="Malgun Gothic" pitchFamily="34" charset="0"/>
                <a:ea typeface="Malgun Gothic" pitchFamily="34" charset="-122"/>
                <a:cs typeface="Malgun Gothic" pitchFamily="34" charset="-120"/>
              </a:rPr>
              <a:t>대표 기업</a:t>
            </a:r>
            <a:endParaRPr lang="en-US" sz="1150" dirty="0"/>
          </a:p>
        </p:txBody>
      </p:sp>
      <p:sp>
        <p:nvSpPr>
          <p:cNvPr id="28" name="Text 24"/>
          <p:cNvSpPr/>
          <p:nvPr/>
        </p:nvSpPr>
        <p:spPr>
          <a:xfrm>
            <a:off x="822960" y="6108192"/>
            <a:ext cx="4526280" cy="384048"/>
          </a:xfrm>
          <a:prstGeom prst="rect">
            <a:avLst/>
          </a:prstGeom>
          <a:noFill/>
          <a:ln/>
        </p:spPr>
        <p:txBody>
          <a:bodyPr wrap="square" lIns="0" tIns="0" rIns="0" bIns="0" rtlCol="0" anchor="ctr"/>
          <a:lstStyle/>
          <a:p>
            <a:pPr indent="0" marL="0">
              <a:lnSpc>
                <a:spcPct val="105000"/>
              </a:lnSpc>
              <a:buNone/>
            </a:pPr>
            <a:r>
              <a:rPr lang="en-US" sz="1000" dirty="0">
                <a:solidFill>
                  <a:srgbClr val="B7C4DC"/>
                </a:solidFill>
                <a:latin typeface="Malgun Gothic" pitchFamily="34" charset="0"/>
                <a:ea typeface="Malgun Gothic" pitchFamily="34" charset="-122"/>
                <a:cs typeface="Malgun Gothic" pitchFamily="34" charset="-120"/>
              </a:rPr>
              <a:t>World Labs Marble (Fei-Fei Li, $1.23B), NVIDIA, Tesla</a:t>
            </a:r>
            <a:endParaRPr lang="en-US" sz="1000" dirty="0"/>
          </a:p>
        </p:txBody>
      </p:sp>
      <p:sp>
        <p:nvSpPr>
          <p:cNvPr id="29" name="Text 25"/>
          <p:cNvSpPr/>
          <p:nvPr/>
        </p:nvSpPr>
        <p:spPr>
          <a:xfrm>
            <a:off x="5897880" y="2395728"/>
            <a:ext cx="5742432" cy="274320"/>
          </a:xfrm>
          <a:prstGeom prst="rect">
            <a:avLst/>
          </a:prstGeom>
          <a:noFill/>
          <a:ln/>
        </p:spPr>
        <p:txBody>
          <a:bodyPr wrap="square" lIns="0" tIns="0" rIns="0" bIns="0" rtlCol="0" anchor="ctr"/>
          <a:lstStyle/>
          <a:p>
            <a:pPr algn="l" indent="0" marL="0">
              <a:buNone/>
            </a:pPr>
            <a:r>
              <a:rPr lang="en-US" sz="1150" b="1" dirty="0">
                <a:solidFill>
                  <a:srgbClr val="A78BFA"/>
                </a:solidFill>
                <a:latin typeface="Malgun Gothic" pitchFamily="34" charset="0"/>
                <a:ea typeface="Malgun Gothic" pitchFamily="34" charset="-122"/>
                <a:cs typeface="Malgun Gothic" pitchFamily="34" charset="-120"/>
              </a:rPr>
              <a:t>왜 필요한가</a:t>
            </a:r>
            <a:endParaRPr lang="en-US" sz="1150" dirty="0"/>
          </a:p>
        </p:txBody>
      </p:sp>
      <p:sp>
        <p:nvSpPr>
          <p:cNvPr id="30" name="Text 26"/>
          <p:cNvSpPr/>
          <p:nvPr/>
        </p:nvSpPr>
        <p:spPr>
          <a:xfrm>
            <a:off x="5897880" y="2651760"/>
            <a:ext cx="5742432" cy="1143000"/>
          </a:xfrm>
          <a:prstGeom prst="rect">
            <a:avLst/>
          </a:prstGeom>
          <a:noFill/>
          <a:ln/>
        </p:spPr>
        <p:txBody>
          <a:bodyPr wrap="square" lIns="0" tIns="0" rIns="0" bIns="0" rtlCol="0" anchor="ctr"/>
          <a:lstStyle/>
          <a:p>
            <a:pPr indent="0" marL="0">
              <a:lnSpc>
                <a:spcPct val="122000"/>
              </a:lnSpc>
              <a:buNone/>
            </a:pPr>
            <a:r>
              <a:rPr lang="en-US" sz="1250" dirty="0">
                <a:solidFill>
                  <a:srgbClr val="B7C4DC"/>
                </a:solidFill>
                <a:latin typeface="Malgun Gothic" pitchFamily="34" charset="0"/>
                <a:ea typeface="Malgun Gothic" pitchFamily="34" charset="-122"/>
                <a:cs typeface="Malgun Gothic" pitchFamily="34" charset="-120"/>
              </a:rPr>
              <a:t>사람 뇌의 약 70%가 공간·시각 처리에 쓰입니다. 언어만 잘하는 AI는 똑똑해 보여도 세상을 '직접 보지 못하는' 얕은 지능입니다. 로봇·현장 안전·자율주행은 모두 '본다 → 이해한다 → 움직인다'에서 시작합니다.</a:t>
            </a:r>
            <a:endParaRPr lang="en-US" sz="1250" dirty="0"/>
          </a:p>
        </p:txBody>
      </p:sp>
      <p:sp>
        <p:nvSpPr>
          <p:cNvPr id="31" name="Text 27"/>
          <p:cNvSpPr/>
          <p:nvPr/>
        </p:nvSpPr>
        <p:spPr>
          <a:xfrm>
            <a:off x="5897880" y="3931920"/>
            <a:ext cx="5742432" cy="274320"/>
          </a:xfrm>
          <a:prstGeom prst="rect">
            <a:avLst/>
          </a:prstGeom>
          <a:noFill/>
          <a:ln/>
        </p:spPr>
        <p:txBody>
          <a:bodyPr wrap="square" lIns="0" tIns="0" rIns="0" bIns="0" rtlCol="0" anchor="ctr"/>
          <a:lstStyle/>
          <a:p>
            <a:pPr algn="l" indent="0" marL="0">
              <a:buNone/>
            </a:pPr>
            <a:r>
              <a:rPr lang="en-US" sz="1150" b="1" dirty="0">
                <a:solidFill>
                  <a:srgbClr val="A78BFA"/>
                </a:solidFill>
                <a:latin typeface="Malgun Gothic" pitchFamily="34" charset="0"/>
                <a:ea typeface="Malgun Gothic" pitchFamily="34" charset="-122"/>
                <a:cs typeface="Malgun Gothic" pitchFamily="34" charset="-120"/>
              </a:rPr>
              <a:t>핵심 기술</a:t>
            </a:r>
            <a:endParaRPr lang="en-US" sz="1150" dirty="0"/>
          </a:p>
        </p:txBody>
      </p:sp>
      <p:sp>
        <p:nvSpPr>
          <p:cNvPr id="32" name="Text 28"/>
          <p:cNvSpPr/>
          <p:nvPr/>
        </p:nvSpPr>
        <p:spPr>
          <a:xfrm>
            <a:off x="5897880" y="4187952"/>
            <a:ext cx="5742432" cy="777240"/>
          </a:xfrm>
          <a:prstGeom prst="rect">
            <a:avLst/>
          </a:prstGeom>
          <a:noFill/>
          <a:ln/>
        </p:spPr>
        <p:txBody>
          <a:bodyPr wrap="square" lIns="0" tIns="0" rIns="0" bIns="0" rtlCol="0" anchor="ctr"/>
          <a:lstStyle/>
          <a:p>
            <a:pPr indent="0" marL="0">
              <a:lnSpc>
                <a:spcPct val="125000"/>
              </a:lnSpc>
              <a:buNone/>
            </a:pPr>
            <a:r>
              <a:rPr lang="en-US" sz="1200" dirty="0">
                <a:solidFill>
                  <a:srgbClr val="B7C4DC"/>
                </a:solidFill>
                <a:latin typeface="Malgun Gothic" pitchFamily="34" charset="0"/>
                <a:ea typeface="Malgun Gothic" pitchFamily="34" charset="-122"/>
                <a:cs typeface="Malgun Gothic" pitchFamily="34" charset="-120"/>
              </a:rPr>
              <a:t>OCR   ·   Computer Vision   ·   Vision AI   ·   Object Detection   ·   Tracking   ·   Pose Estimation   ·   Action Recognition   ·   Sensor Fusion   ·   Spatial AI   ·   SLAM   ·   VLM   ·   World Model   ·   VLA</a:t>
            </a:r>
            <a:endParaRPr lang="en-US" sz="1200" dirty="0"/>
          </a:p>
        </p:txBody>
      </p:sp>
      <p:sp>
        <p:nvSpPr>
          <p:cNvPr id="33" name="Text 29"/>
          <p:cNvSpPr/>
          <p:nvPr/>
        </p:nvSpPr>
        <p:spPr>
          <a:xfrm>
            <a:off x="5897880" y="5074920"/>
            <a:ext cx="5742432" cy="274320"/>
          </a:xfrm>
          <a:prstGeom prst="rect">
            <a:avLst/>
          </a:prstGeom>
          <a:noFill/>
          <a:ln/>
        </p:spPr>
        <p:txBody>
          <a:bodyPr wrap="square" lIns="0" tIns="0" rIns="0" bIns="0" rtlCol="0" anchor="ctr"/>
          <a:lstStyle/>
          <a:p>
            <a:pPr algn="l" indent="0" marL="0">
              <a:buNone/>
            </a:pPr>
            <a:r>
              <a:rPr lang="en-US" sz="1150" b="1" dirty="0">
                <a:solidFill>
                  <a:srgbClr val="A78BFA"/>
                </a:solidFill>
                <a:latin typeface="Malgun Gothic" pitchFamily="34" charset="0"/>
                <a:ea typeface="Malgun Gothic" pitchFamily="34" charset="-122"/>
                <a:cs typeface="Malgun Gothic" pitchFamily="34" charset="-120"/>
              </a:rPr>
              <a:t>2035 전망</a:t>
            </a:r>
            <a:endParaRPr lang="en-US" sz="1150" dirty="0"/>
          </a:p>
        </p:txBody>
      </p:sp>
      <p:sp>
        <p:nvSpPr>
          <p:cNvPr id="34" name="Text 30"/>
          <p:cNvSpPr/>
          <p:nvPr/>
        </p:nvSpPr>
        <p:spPr>
          <a:xfrm>
            <a:off x="5897880" y="5330952"/>
            <a:ext cx="5742432" cy="1188720"/>
          </a:xfrm>
          <a:prstGeom prst="rect">
            <a:avLst/>
          </a:prstGeom>
          <a:noFill/>
          <a:ln/>
        </p:spPr>
        <p:txBody>
          <a:bodyPr wrap="square" lIns="0" tIns="0" rIns="0" bIns="0" rtlCol="0" anchor="ctr"/>
          <a:lstStyle/>
          <a:p>
            <a:pPr indent="0" marL="0">
              <a:lnSpc>
                <a:spcPct val="122000"/>
              </a:lnSpc>
              <a:buNone/>
            </a:pPr>
            <a:r>
              <a:rPr lang="en-US" sz="1250" dirty="0">
                <a:solidFill>
                  <a:srgbClr val="B7C4DC"/>
                </a:solidFill>
                <a:latin typeface="Malgun Gothic" pitchFamily="34" charset="0"/>
                <a:ea typeface="Malgun Gothic" pitchFamily="34" charset="-122"/>
                <a:cs typeface="Malgun Gothic" pitchFamily="34" charset="-120"/>
              </a:rPr>
              <a:t>AI가 카메라만으로 공간을 3D로 이해하고, 시간·인과까지 더해 '다음에 무슨 일이 벌어질지'를 예측하는 World Model이 로봇·안전·자율주행의 공통 엔진이 됩니다.</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548640" y="502920"/>
            <a:ext cx="868680" cy="868680"/>
          </a:xfrm>
          <a:prstGeom prst="ellipse">
            <a:avLst/>
          </a:prstGeom>
          <a:solidFill>
            <a:srgbClr val="18223A"/>
          </a:solidFill>
          <a:ln w="22225">
            <a:solidFill>
              <a:srgbClr val="FB7A3C"/>
            </a:solidFill>
            <a:prstDash val="solid"/>
          </a:ln>
        </p:spPr>
      </p:sp>
      <p:pic>
        <p:nvPicPr>
          <p:cNvPr id="3" name="Image 0" descr="assets/icon_reasoning.png">    </p:cNvPr>
          <p:cNvPicPr>
            <a:picLocks noChangeAspect="1"/>
          </p:cNvPicPr>
          <p:nvPr/>
        </p:nvPicPr>
        <p:blipFill>
          <a:blip r:embed="rId1"/>
          <a:stretch>
            <a:fillRect/>
          </a:stretch>
        </p:blipFill>
        <p:spPr>
          <a:xfrm>
            <a:off x="713689" y="667969"/>
            <a:ext cx="538582" cy="538582"/>
          </a:xfrm>
          <a:prstGeom prst="rect">
            <a:avLst/>
          </a:prstGeom>
        </p:spPr>
      </p:pic>
      <p:sp>
        <p:nvSpPr>
          <p:cNvPr id="4" name="Text 1"/>
          <p:cNvSpPr/>
          <p:nvPr/>
        </p:nvSpPr>
        <p:spPr>
          <a:xfrm>
            <a:off x="1600200" y="475488"/>
            <a:ext cx="2743200" cy="292608"/>
          </a:xfrm>
          <a:prstGeom prst="rect">
            <a:avLst/>
          </a:prstGeom>
          <a:noFill/>
          <a:ln/>
        </p:spPr>
        <p:txBody>
          <a:bodyPr wrap="square" lIns="0" tIns="0" rIns="0" bIns="0" rtlCol="0" anchor="ctr"/>
          <a:lstStyle/>
          <a:p>
            <a:pPr indent="0" marL="0">
              <a:buNone/>
            </a:pPr>
            <a:r>
              <a:rPr lang="en-US" sz="1400" b="1" dirty="0">
                <a:solidFill>
                  <a:srgbClr val="FB7A3C"/>
                </a:solidFill>
                <a:latin typeface="Consolas" pitchFamily="34" charset="0"/>
                <a:ea typeface="Consolas" pitchFamily="34" charset="-122"/>
                <a:cs typeface="Consolas" pitchFamily="34" charset="-120"/>
              </a:rPr>
              <a:t>06</a:t>
            </a:r>
            <a:endParaRPr lang="en-US" sz="1400" dirty="0"/>
          </a:p>
        </p:txBody>
      </p:sp>
      <p:sp>
        <p:nvSpPr>
          <p:cNvPr id="5" name="Text 2"/>
          <p:cNvSpPr/>
          <p:nvPr/>
        </p:nvSpPr>
        <p:spPr>
          <a:xfrm>
            <a:off x="1572768" y="713232"/>
            <a:ext cx="6858000" cy="658368"/>
          </a:xfrm>
          <a:prstGeom prst="rect">
            <a:avLst/>
          </a:prstGeom>
          <a:noFill/>
          <a:ln/>
        </p:spPr>
        <p:txBody>
          <a:bodyPr wrap="square" lIns="0" tIns="0" rIns="0" bIns="0" rtlCol="0" anchor="ctr"/>
          <a:lstStyle/>
          <a:p>
            <a:pPr indent="0" marL="0">
              <a:buNone/>
            </a:pPr>
            <a:r>
              <a:rPr lang="en-US" sz="3300" b="1" dirty="0">
                <a:solidFill>
                  <a:srgbClr val="EAF0FF"/>
                </a:solidFill>
                <a:latin typeface="Malgun Gothic" pitchFamily="34" charset="0"/>
                <a:ea typeface="Malgun Gothic" pitchFamily="34" charset="-122"/>
                <a:cs typeface="Malgun Gothic" pitchFamily="34" charset="-120"/>
              </a:rPr>
              <a:t>추론</a:t>
            </a:r>
            <a:endParaRPr lang="en-US" sz="3300" dirty="0"/>
          </a:p>
        </p:txBody>
      </p:sp>
      <p:sp>
        <p:nvSpPr>
          <p:cNvPr id="6" name="Text 3"/>
          <p:cNvSpPr/>
          <p:nvPr/>
        </p:nvSpPr>
        <p:spPr>
          <a:xfrm>
            <a:off x="1600200" y="1371600"/>
            <a:ext cx="8229600" cy="292608"/>
          </a:xfrm>
          <a:prstGeom prst="rect">
            <a:avLst/>
          </a:prstGeom>
          <a:noFill/>
          <a:ln/>
        </p:spPr>
        <p:txBody>
          <a:bodyPr wrap="square" lIns="0" tIns="0" rIns="0" bIns="0" rtlCol="0" anchor="ctr"/>
          <a:lstStyle/>
          <a:p>
            <a:pPr indent="0" marL="0">
              <a:buNone/>
            </a:pPr>
            <a:r>
              <a:rPr lang="en-US" sz="1300" dirty="0">
                <a:solidFill>
                  <a:srgbClr val="8493AE"/>
                </a:solidFill>
                <a:latin typeface="Malgun Gothic" pitchFamily="34" charset="0"/>
                <a:ea typeface="Malgun Gothic" pitchFamily="34" charset="-122"/>
                <a:cs typeface="Malgun Gothic" pitchFamily="34" charset="-120"/>
              </a:rPr>
              <a:t>Reasoning · AI가 생각하고 최적해를 찾는 법</a:t>
            </a:r>
            <a:endParaRPr lang="en-US" sz="1300" dirty="0"/>
          </a:p>
        </p:txBody>
      </p:sp>
      <p:sp>
        <p:nvSpPr>
          <p:cNvPr id="7" name="Text 4"/>
          <p:cNvSpPr/>
          <p:nvPr/>
        </p:nvSpPr>
        <p:spPr>
          <a:xfrm>
            <a:off x="1600200" y="1700784"/>
            <a:ext cx="8869680" cy="457200"/>
          </a:xfrm>
          <a:prstGeom prst="rect">
            <a:avLst/>
          </a:prstGeom>
          <a:noFill/>
          <a:ln/>
        </p:spPr>
        <p:txBody>
          <a:bodyPr wrap="square" lIns="0" tIns="0" rIns="0" bIns="0" rtlCol="0" anchor="ctr"/>
          <a:lstStyle/>
          <a:p>
            <a:pPr indent="0" marL="0">
              <a:buNone/>
            </a:pPr>
            <a:r>
              <a:rPr lang="en-US" sz="1350" i="1" dirty="0">
                <a:solidFill>
                  <a:srgbClr val="B7C4DC"/>
                </a:solidFill>
                <a:latin typeface="Malgun Gothic" pitchFamily="34" charset="0"/>
                <a:ea typeface="Malgun Gothic" pitchFamily="34" charset="-122"/>
                <a:cs typeface="Malgun Gothic" pitchFamily="34" charset="-120"/>
              </a:rPr>
              <a:t>패턴 암기에서 '단계적 사고'와 '조합 최적화'로 나아가는 단계.</a:t>
            </a:r>
            <a:endParaRPr lang="en-US" sz="1350" dirty="0"/>
          </a:p>
        </p:txBody>
      </p:sp>
      <p:pic>
        <p:nvPicPr>
          <p:cNvPr id="8" name="Image 1" descr="assets/loc_reasoning.png">    </p:cNvPr>
          <p:cNvPicPr>
            <a:picLocks noChangeAspect="1"/>
          </p:cNvPicPr>
          <p:nvPr/>
        </p:nvPicPr>
        <p:blipFill>
          <a:blip r:embed="rId2"/>
          <a:stretch>
            <a:fillRect/>
          </a:stretch>
        </p:blipFill>
        <p:spPr>
          <a:xfrm>
            <a:off x="10972800" y="457200"/>
            <a:ext cx="914400" cy="1600200"/>
          </a:xfrm>
          <a:prstGeom prst="rect">
            <a:avLst/>
          </a:prstGeom>
        </p:spPr>
      </p:pic>
      <p:sp>
        <p:nvSpPr>
          <p:cNvPr id="9" name="Text 5"/>
          <p:cNvSpPr/>
          <p:nvPr/>
        </p:nvSpPr>
        <p:spPr>
          <a:xfrm>
            <a:off x="10607040" y="2075688"/>
            <a:ext cx="1645920" cy="228600"/>
          </a:xfrm>
          <a:prstGeom prst="rect">
            <a:avLst/>
          </a:prstGeom>
          <a:noFill/>
          <a:ln/>
        </p:spPr>
        <p:txBody>
          <a:bodyPr wrap="square" lIns="0" tIns="0" rIns="0" bIns="0" rtlCol="0" anchor="ctr"/>
          <a:lstStyle/>
          <a:p>
            <a:pPr algn="ctr" indent="0" marL="0">
              <a:buNone/>
            </a:pPr>
            <a:r>
              <a:rPr lang="en-US" sz="900" dirty="0">
                <a:solidFill>
                  <a:srgbClr val="8493AE"/>
                </a:solidFill>
                <a:latin typeface="Malgun Gothic" pitchFamily="34" charset="0"/>
                <a:ea typeface="Malgun Gothic" pitchFamily="34" charset="-122"/>
                <a:cs typeface="Malgun Gothic" pitchFamily="34" charset="-120"/>
              </a:rPr>
              <a:t>몸의 위치</a:t>
            </a:r>
            <a:endParaRPr lang="en-US" sz="900" dirty="0"/>
          </a:p>
        </p:txBody>
      </p:sp>
      <p:sp>
        <p:nvSpPr>
          <p:cNvPr id="10" name="Shape 6"/>
          <p:cNvSpPr/>
          <p:nvPr/>
        </p:nvSpPr>
        <p:spPr>
          <a:xfrm>
            <a:off x="548640" y="2331720"/>
            <a:ext cx="5074920" cy="4224528"/>
          </a:xfrm>
          <a:prstGeom prst="roundRect">
            <a:avLst>
              <a:gd name="adj" fmla="val 1948"/>
            </a:avLst>
          </a:prstGeom>
          <a:solidFill>
            <a:srgbClr val="121A2E"/>
          </a:solidFill>
          <a:ln w="12700">
            <a:solidFill>
              <a:srgbClr val="2A3756"/>
            </a:solidFill>
            <a:prstDash val="solid"/>
          </a:ln>
          <a:effectLst>
            <a:outerShdw sx="100000" sy="100000" kx="0" ky="0" algn="bl" rotWithShape="0" blurRad="114300" dist="38100" dir="5400000">
              <a:srgbClr val="000000">
                <a:alpha val="35000"/>
              </a:srgbClr>
            </a:outerShdw>
          </a:effectLst>
        </p:spPr>
      </p:sp>
      <p:sp>
        <p:nvSpPr>
          <p:cNvPr id="11" name="Text 7"/>
          <p:cNvSpPr/>
          <p:nvPr/>
        </p:nvSpPr>
        <p:spPr>
          <a:xfrm>
            <a:off x="822960" y="2542032"/>
            <a:ext cx="4526280" cy="274320"/>
          </a:xfrm>
          <a:prstGeom prst="rect">
            <a:avLst/>
          </a:prstGeom>
          <a:noFill/>
          <a:ln/>
        </p:spPr>
        <p:txBody>
          <a:bodyPr wrap="square" lIns="0" tIns="0" rIns="0" bIns="0" rtlCol="0" anchor="ctr"/>
          <a:lstStyle/>
          <a:p>
            <a:pPr algn="l" indent="0" marL="0">
              <a:buNone/>
            </a:pPr>
            <a:r>
              <a:rPr lang="en-US" sz="1150" b="1" dirty="0">
                <a:solidFill>
                  <a:srgbClr val="FB7A3C"/>
                </a:solidFill>
                <a:latin typeface="Malgun Gothic" pitchFamily="34" charset="0"/>
                <a:ea typeface="Malgun Gothic" pitchFamily="34" charset="-122"/>
                <a:cs typeface="Malgun Gothic" pitchFamily="34" charset="-120"/>
              </a:rPr>
              <a:t>쉬운 비유</a:t>
            </a:r>
            <a:endParaRPr lang="en-US" sz="1150" dirty="0"/>
          </a:p>
        </p:txBody>
      </p:sp>
      <p:sp>
        <p:nvSpPr>
          <p:cNvPr id="12" name="Text 8"/>
          <p:cNvSpPr/>
          <p:nvPr/>
        </p:nvSpPr>
        <p:spPr>
          <a:xfrm>
            <a:off x="822960" y="2798064"/>
            <a:ext cx="4526280" cy="365760"/>
          </a:xfrm>
          <a:prstGeom prst="rect">
            <a:avLst/>
          </a:prstGeom>
          <a:noFill/>
          <a:ln/>
        </p:spPr>
        <p:txBody>
          <a:bodyPr wrap="square" lIns="0" tIns="0" rIns="0" bIns="0" rtlCol="0" anchor="ctr"/>
          <a:lstStyle/>
          <a:p>
            <a:pPr indent="0" marL="0">
              <a:buNone/>
            </a:pPr>
            <a:r>
              <a:rPr lang="en-US" sz="1550" b="1" dirty="0">
                <a:solidFill>
                  <a:srgbClr val="EAF0FF"/>
                </a:solidFill>
                <a:latin typeface="Malgun Gothic" pitchFamily="34" charset="0"/>
                <a:ea typeface="Malgun Gothic" pitchFamily="34" charset="-122"/>
                <a:cs typeface="Malgun Gothic" pitchFamily="34" charset="-120"/>
              </a:rPr>
              <a:t>외우기 → 생각하기 → 가능성 전부 계산</a:t>
            </a:r>
            <a:endParaRPr lang="en-US" sz="1550" dirty="0"/>
          </a:p>
        </p:txBody>
      </p:sp>
      <p:sp>
        <p:nvSpPr>
          <p:cNvPr id="13" name="Text 9"/>
          <p:cNvSpPr/>
          <p:nvPr/>
        </p:nvSpPr>
        <p:spPr>
          <a:xfrm>
            <a:off x="822960" y="3200400"/>
            <a:ext cx="4526280" cy="822960"/>
          </a:xfrm>
          <a:prstGeom prst="rect">
            <a:avLst/>
          </a:prstGeom>
          <a:noFill/>
          <a:ln/>
        </p:spPr>
        <p:txBody>
          <a:bodyPr wrap="square" lIns="0" tIns="0" rIns="0" bIns="0" rtlCol="0" anchor="ctr"/>
          <a:lstStyle/>
          <a:p>
            <a:pPr indent="0" marL="0">
              <a:lnSpc>
                <a:spcPct val="116000"/>
              </a:lnSpc>
              <a:buNone/>
            </a:pPr>
            <a:r>
              <a:rPr lang="en-US" sz="1150" dirty="0">
                <a:solidFill>
                  <a:srgbClr val="B7C4DC"/>
                </a:solidFill>
                <a:latin typeface="Malgun Gothic" pitchFamily="34" charset="0"/>
                <a:ea typeface="Malgun Gothic" pitchFamily="34" charset="-122"/>
                <a:cs typeface="Malgun Gothic" pitchFamily="34" charset="-120"/>
              </a:rPr>
              <a:t>암기형은 앵무새, 추론형은 풀이 과정을 적는 학생, 양자 최적화는 모든 경로를 동시에 살펴 최단 코스를 고르는 길찾기 — 단, 양자는 '예측'이 아니라 '최적 조합 찾기'에 강합니다.</a:t>
            </a:r>
            <a:endParaRPr lang="en-US" sz="1150" dirty="0"/>
          </a:p>
        </p:txBody>
      </p:sp>
      <p:sp>
        <p:nvSpPr>
          <p:cNvPr id="14" name="Text 10"/>
          <p:cNvSpPr/>
          <p:nvPr/>
        </p:nvSpPr>
        <p:spPr>
          <a:xfrm>
            <a:off x="822960" y="4078224"/>
            <a:ext cx="4526280" cy="274320"/>
          </a:xfrm>
          <a:prstGeom prst="rect">
            <a:avLst/>
          </a:prstGeom>
          <a:noFill/>
          <a:ln/>
        </p:spPr>
        <p:txBody>
          <a:bodyPr wrap="square" lIns="0" tIns="0" rIns="0" bIns="0" rtlCol="0" anchor="ctr"/>
          <a:lstStyle/>
          <a:p>
            <a:pPr algn="l" indent="0" marL="0">
              <a:buNone/>
            </a:pPr>
            <a:r>
              <a:rPr lang="en-US" sz="1150" b="1" dirty="0">
                <a:solidFill>
                  <a:srgbClr val="FB7A3C"/>
                </a:solidFill>
                <a:latin typeface="Malgun Gothic" pitchFamily="34" charset="0"/>
                <a:ea typeface="Malgun Gothic" pitchFamily="34" charset="-122"/>
                <a:cs typeface="Malgun Gothic" pitchFamily="34" charset="-120"/>
              </a:rPr>
              <a:t>진화 단계</a:t>
            </a:r>
            <a:endParaRPr lang="en-US" sz="1150" dirty="0"/>
          </a:p>
        </p:txBody>
      </p:sp>
      <p:sp>
        <p:nvSpPr>
          <p:cNvPr id="15" name="Shape 11"/>
          <p:cNvSpPr/>
          <p:nvPr/>
        </p:nvSpPr>
        <p:spPr>
          <a:xfrm>
            <a:off x="822960" y="4425696"/>
            <a:ext cx="118872" cy="118872"/>
          </a:xfrm>
          <a:prstGeom prst="ellipse">
            <a:avLst/>
          </a:prstGeom>
          <a:solidFill>
            <a:srgbClr val="8493AE"/>
          </a:solidFill>
          <a:ln w="15875">
            <a:solidFill>
              <a:srgbClr val="8493AE"/>
            </a:solidFill>
            <a:prstDash val="solid"/>
          </a:ln>
        </p:spPr>
      </p:sp>
      <p:sp>
        <p:nvSpPr>
          <p:cNvPr id="16" name="Text 12"/>
          <p:cNvSpPr/>
          <p:nvPr/>
        </p:nvSpPr>
        <p:spPr>
          <a:xfrm>
            <a:off x="1060704" y="4370832"/>
            <a:ext cx="3291840" cy="292608"/>
          </a:xfrm>
          <a:prstGeom prst="rect">
            <a:avLst/>
          </a:prstGeom>
          <a:noFill/>
          <a:ln/>
        </p:spPr>
        <p:txBody>
          <a:bodyPr wrap="square" lIns="0" tIns="0" rIns="0" bIns="0" rtlCol="0" anchor="ctr"/>
          <a:lstStyle/>
          <a:p>
            <a:pPr indent="0" marL="0">
              <a:buNone/>
            </a:pPr>
            <a:r>
              <a:rPr lang="en-US" sz="1150" dirty="0">
                <a:solidFill>
                  <a:srgbClr val="8493AE"/>
                </a:solidFill>
                <a:latin typeface="Malgun Gothic" pitchFamily="34" charset="0"/>
                <a:ea typeface="Malgun Gothic" pitchFamily="34" charset="-122"/>
                <a:cs typeface="Malgun Gothic" pitchFamily="34" charset="-120"/>
              </a:rPr>
              <a:t>패턴 암기</a:t>
            </a:r>
            <a:endParaRPr lang="en-US" sz="1150" dirty="0"/>
          </a:p>
        </p:txBody>
      </p:sp>
      <p:sp>
        <p:nvSpPr>
          <p:cNvPr id="17" name="Text 13"/>
          <p:cNvSpPr/>
          <p:nvPr/>
        </p:nvSpPr>
        <p:spPr>
          <a:xfrm>
            <a:off x="4160520" y="4370832"/>
            <a:ext cx="1188720" cy="292608"/>
          </a:xfrm>
          <a:prstGeom prst="rect">
            <a:avLst/>
          </a:prstGeom>
          <a:noFill/>
          <a:ln/>
        </p:spPr>
        <p:txBody>
          <a:bodyPr wrap="square" lIns="0" tIns="0" rIns="0" bIns="0" rtlCol="0" anchor="ctr"/>
          <a:lstStyle/>
          <a:p>
            <a:pPr algn="r" indent="0" marL="0">
              <a:buNone/>
            </a:pPr>
            <a:r>
              <a:rPr lang="en-US" sz="1000" dirty="0">
                <a:solidFill>
                  <a:srgbClr val="8493AE"/>
                </a:solidFill>
                <a:latin typeface="Consolas" pitchFamily="34" charset="0"/>
                <a:ea typeface="Consolas" pitchFamily="34" charset="-122"/>
                <a:cs typeface="Consolas" pitchFamily="34" charset="-120"/>
              </a:rPr>
              <a:t>~2024</a:t>
            </a:r>
            <a:endParaRPr lang="en-US" sz="1000" dirty="0"/>
          </a:p>
        </p:txBody>
      </p:sp>
      <p:sp>
        <p:nvSpPr>
          <p:cNvPr id="18" name="Shape 14"/>
          <p:cNvSpPr/>
          <p:nvPr/>
        </p:nvSpPr>
        <p:spPr>
          <a:xfrm>
            <a:off x="822960" y="4718304"/>
            <a:ext cx="118872" cy="118872"/>
          </a:xfrm>
          <a:prstGeom prst="ellipse">
            <a:avLst/>
          </a:prstGeom>
          <a:solidFill>
            <a:srgbClr val="FB7A3C"/>
          </a:solidFill>
          <a:ln w="15875">
            <a:solidFill>
              <a:srgbClr val="FB7A3C"/>
            </a:solidFill>
            <a:prstDash val="solid"/>
          </a:ln>
        </p:spPr>
      </p:sp>
      <p:sp>
        <p:nvSpPr>
          <p:cNvPr id="19" name="Text 15"/>
          <p:cNvSpPr/>
          <p:nvPr/>
        </p:nvSpPr>
        <p:spPr>
          <a:xfrm>
            <a:off x="1060704" y="4663440"/>
            <a:ext cx="3291840" cy="292608"/>
          </a:xfrm>
          <a:prstGeom prst="rect">
            <a:avLst/>
          </a:prstGeom>
          <a:noFill/>
          <a:ln/>
        </p:spPr>
        <p:txBody>
          <a:bodyPr wrap="square" lIns="0" tIns="0" rIns="0" bIns="0" rtlCol="0" anchor="ctr"/>
          <a:lstStyle/>
          <a:p>
            <a:pPr indent="0" marL="0">
              <a:buNone/>
            </a:pPr>
            <a:r>
              <a:rPr lang="en-US" sz="1150" b="1" dirty="0">
                <a:solidFill>
                  <a:srgbClr val="FB7A3C"/>
                </a:solidFill>
                <a:latin typeface="Malgun Gothic" pitchFamily="34" charset="0"/>
                <a:ea typeface="Malgun Gothic" pitchFamily="34" charset="-122"/>
                <a:cs typeface="Malgun Gothic" pitchFamily="34" charset="-120"/>
              </a:rPr>
              <a:t>Reasoning Model (o-series, R1)</a:t>
            </a:r>
            <a:endParaRPr lang="en-US" sz="1150" dirty="0"/>
          </a:p>
        </p:txBody>
      </p:sp>
      <p:sp>
        <p:nvSpPr>
          <p:cNvPr id="20" name="Text 16"/>
          <p:cNvSpPr/>
          <p:nvPr/>
        </p:nvSpPr>
        <p:spPr>
          <a:xfrm>
            <a:off x="4160520" y="4663440"/>
            <a:ext cx="1188720" cy="292608"/>
          </a:xfrm>
          <a:prstGeom prst="rect">
            <a:avLst/>
          </a:prstGeom>
          <a:noFill/>
          <a:ln/>
        </p:spPr>
        <p:txBody>
          <a:bodyPr wrap="square" lIns="0" tIns="0" rIns="0" bIns="0" rtlCol="0" anchor="ctr"/>
          <a:lstStyle/>
          <a:p>
            <a:pPr algn="r" indent="0" marL="0">
              <a:buNone/>
            </a:pPr>
            <a:r>
              <a:rPr lang="en-US" sz="1000" dirty="0">
                <a:solidFill>
                  <a:srgbClr val="FB7A3C"/>
                </a:solidFill>
                <a:latin typeface="Consolas" pitchFamily="34" charset="0"/>
                <a:ea typeface="Consolas" pitchFamily="34" charset="-122"/>
                <a:cs typeface="Consolas" pitchFamily="34" charset="-120"/>
              </a:rPr>
              <a:t>2025  ★</a:t>
            </a:r>
            <a:endParaRPr lang="en-US" sz="1000" dirty="0"/>
          </a:p>
        </p:txBody>
      </p:sp>
      <p:sp>
        <p:nvSpPr>
          <p:cNvPr id="21" name="Shape 17"/>
          <p:cNvSpPr/>
          <p:nvPr/>
        </p:nvSpPr>
        <p:spPr>
          <a:xfrm>
            <a:off x="822960" y="5010912"/>
            <a:ext cx="118872" cy="118872"/>
          </a:xfrm>
          <a:prstGeom prst="ellipse">
            <a:avLst/>
          </a:prstGeom>
          <a:solidFill>
            <a:srgbClr val="FB7A3C"/>
          </a:solidFill>
          <a:ln w="15875">
            <a:solidFill>
              <a:srgbClr val="FB7A3C"/>
            </a:solidFill>
            <a:prstDash val="solid"/>
          </a:ln>
        </p:spPr>
      </p:sp>
      <p:sp>
        <p:nvSpPr>
          <p:cNvPr id="22" name="Text 18"/>
          <p:cNvSpPr/>
          <p:nvPr/>
        </p:nvSpPr>
        <p:spPr>
          <a:xfrm>
            <a:off x="1060704" y="4956048"/>
            <a:ext cx="3291840" cy="292608"/>
          </a:xfrm>
          <a:prstGeom prst="rect">
            <a:avLst/>
          </a:prstGeom>
          <a:noFill/>
          <a:ln/>
        </p:spPr>
        <p:txBody>
          <a:bodyPr wrap="square" lIns="0" tIns="0" rIns="0" bIns="0" rtlCol="0" anchor="ctr"/>
          <a:lstStyle/>
          <a:p>
            <a:pPr indent="0" marL="0">
              <a:buNone/>
            </a:pPr>
            <a:r>
              <a:rPr lang="en-US" sz="1150" b="1" dirty="0">
                <a:solidFill>
                  <a:srgbClr val="FB7A3C"/>
                </a:solidFill>
                <a:latin typeface="Malgun Gothic" pitchFamily="34" charset="0"/>
                <a:ea typeface="Malgun Gothic" pitchFamily="34" charset="-122"/>
                <a:cs typeface="Malgun Gothic" pitchFamily="34" charset="-120"/>
              </a:rPr>
              <a:t>NISQ 양자 (수십~수천 큐비트)</a:t>
            </a:r>
            <a:endParaRPr lang="en-US" sz="1150" dirty="0"/>
          </a:p>
        </p:txBody>
      </p:sp>
      <p:sp>
        <p:nvSpPr>
          <p:cNvPr id="23" name="Text 19"/>
          <p:cNvSpPr/>
          <p:nvPr/>
        </p:nvSpPr>
        <p:spPr>
          <a:xfrm>
            <a:off x="4160520" y="4956048"/>
            <a:ext cx="1188720" cy="292608"/>
          </a:xfrm>
          <a:prstGeom prst="rect">
            <a:avLst/>
          </a:prstGeom>
          <a:noFill/>
          <a:ln/>
        </p:spPr>
        <p:txBody>
          <a:bodyPr wrap="square" lIns="0" tIns="0" rIns="0" bIns="0" rtlCol="0" anchor="ctr"/>
          <a:lstStyle/>
          <a:p>
            <a:pPr algn="r" indent="0" marL="0">
              <a:buNone/>
            </a:pPr>
            <a:r>
              <a:rPr lang="en-US" sz="1000" dirty="0">
                <a:solidFill>
                  <a:srgbClr val="FB7A3C"/>
                </a:solidFill>
                <a:latin typeface="Consolas" pitchFamily="34" charset="0"/>
                <a:ea typeface="Consolas" pitchFamily="34" charset="-122"/>
                <a:cs typeface="Consolas" pitchFamily="34" charset="-120"/>
              </a:rPr>
              <a:t>2026  ★</a:t>
            </a:r>
            <a:endParaRPr lang="en-US" sz="1000" dirty="0"/>
          </a:p>
        </p:txBody>
      </p:sp>
      <p:sp>
        <p:nvSpPr>
          <p:cNvPr id="24" name="Shape 20"/>
          <p:cNvSpPr/>
          <p:nvPr/>
        </p:nvSpPr>
        <p:spPr>
          <a:xfrm>
            <a:off x="822960" y="5303520"/>
            <a:ext cx="118872" cy="118872"/>
          </a:xfrm>
          <a:prstGeom prst="ellipse">
            <a:avLst/>
          </a:prstGeom>
          <a:solidFill>
            <a:srgbClr val="0B0F1A"/>
          </a:solidFill>
          <a:ln w="15875">
            <a:solidFill>
              <a:srgbClr val="FB7A3C"/>
            </a:solidFill>
            <a:prstDash val="solid"/>
          </a:ln>
        </p:spPr>
      </p:sp>
      <p:sp>
        <p:nvSpPr>
          <p:cNvPr id="25" name="Text 21"/>
          <p:cNvSpPr/>
          <p:nvPr/>
        </p:nvSpPr>
        <p:spPr>
          <a:xfrm>
            <a:off x="1060704" y="5248656"/>
            <a:ext cx="3291840" cy="292608"/>
          </a:xfrm>
          <a:prstGeom prst="rect">
            <a:avLst/>
          </a:prstGeom>
          <a:noFill/>
          <a:ln/>
        </p:spPr>
        <p:txBody>
          <a:bodyPr wrap="square" lIns="0" tIns="0" rIns="0" bIns="0" rtlCol="0" anchor="ctr"/>
          <a:lstStyle/>
          <a:p>
            <a:pPr indent="0" marL="0">
              <a:buNone/>
            </a:pPr>
            <a:r>
              <a:rPr lang="en-US" sz="1150" dirty="0">
                <a:solidFill>
                  <a:srgbClr val="B7C4DC"/>
                </a:solidFill>
                <a:latin typeface="Malgun Gothic" pitchFamily="34" charset="0"/>
                <a:ea typeface="Malgun Gothic" pitchFamily="34" charset="-122"/>
                <a:cs typeface="Malgun Gothic" pitchFamily="34" charset="-120"/>
              </a:rPr>
              <a:t>Fault-tolerant 양자</a:t>
            </a:r>
            <a:endParaRPr lang="en-US" sz="1150" dirty="0"/>
          </a:p>
        </p:txBody>
      </p:sp>
      <p:sp>
        <p:nvSpPr>
          <p:cNvPr id="26" name="Text 22"/>
          <p:cNvSpPr/>
          <p:nvPr/>
        </p:nvSpPr>
        <p:spPr>
          <a:xfrm>
            <a:off x="4160520" y="5248656"/>
            <a:ext cx="1188720" cy="292608"/>
          </a:xfrm>
          <a:prstGeom prst="rect">
            <a:avLst/>
          </a:prstGeom>
          <a:noFill/>
          <a:ln/>
        </p:spPr>
        <p:txBody>
          <a:bodyPr wrap="square" lIns="0" tIns="0" rIns="0" bIns="0" rtlCol="0" anchor="ctr"/>
          <a:lstStyle/>
          <a:p>
            <a:pPr algn="r" indent="0" marL="0">
              <a:buNone/>
            </a:pPr>
            <a:r>
              <a:rPr lang="en-US" sz="1000" dirty="0">
                <a:solidFill>
                  <a:srgbClr val="8493AE"/>
                </a:solidFill>
                <a:latin typeface="Consolas" pitchFamily="34" charset="0"/>
                <a:ea typeface="Consolas" pitchFamily="34" charset="-122"/>
                <a:cs typeface="Consolas" pitchFamily="34" charset="-120"/>
              </a:rPr>
              <a:t>2029+</a:t>
            </a:r>
            <a:endParaRPr lang="en-US" sz="1000" dirty="0"/>
          </a:p>
        </p:txBody>
      </p:sp>
      <p:sp>
        <p:nvSpPr>
          <p:cNvPr id="27" name="Text 23"/>
          <p:cNvSpPr/>
          <p:nvPr/>
        </p:nvSpPr>
        <p:spPr>
          <a:xfrm>
            <a:off x="822960" y="5870448"/>
            <a:ext cx="4526280" cy="274320"/>
          </a:xfrm>
          <a:prstGeom prst="rect">
            <a:avLst/>
          </a:prstGeom>
          <a:noFill/>
          <a:ln/>
        </p:spPr>
        <p:txBody>
          <a:bodyPr wrap="square" lIns="0" tIns="0" rIns="0" bIns="0" rtlCol="0" anchor="ctr"/>
          <a:lstStyle/>
          <a:p>
            <a:pPr algn="l" indent="0" marL="0">
              <a:buNone/>
            </a:pPr>
            <a:r>
              <a:rPr lang="en-US" sz="1150" b="1" dirty="0">
                <a:solidFill>
                  <a:srgbClr val="FB7A3C"/>
                </a:solidFill>
                <a:latin typeface="Malgun Gothic" pitchFamily="34" charset="0"/>
                <a:ea typeface="Malgun Gothic" pitchFamily="34" charset="-122"/>
                <a:cs typeface="Malgun Gothic" pitchFamily="34" charset="-120"/>
              </a:rPr>
              <a:t>대표 기업</a:t>
            </a:r>
            <a:endParaRPr lang="en-US" sz="1150" dirty="0"/>
          </a:p>
        </p:txBody>
      </p:sp>
      <p:sp>
        <p:nvSpPr>
          <p:cNvPr id="28" name="Text 24"/>
          <p:cNvSpPr/>
          <p:nvPr/>
        </p:nvSpPr>
        <p:spPr>
          <a:xfrm>
            <a:off x="822960" y="6108192"/>
            <a:ext cx="4526280" cy="384048"/>
          </a:xfrm>
          <a:prstGeom prst="rect">
            <a:avLst/>
          </a:prstGeom>
          <a:noFill/>
          <a:ln/>
        </p:spPr>
        <p:txBody>
          <a:bodyPr wrap="square" lIns="0" tIns="0" rIns="0" bIns="0" rtlCol="0" anchor="ctr"/>
          <a:lstStyle/>
          <a:p>
            <a:pPr indent="0" marL="0">
              <a:lnSpc>
                <a:spcPct val="105000"/>
              </a:lnSpc>
              <a:buNone/>
            </a:pPr>
            <a:r>
              <a:rPr lang="en-US" sz="1000" dirty="0">
                <a:solidFill>
                  <a:srgbClr val="B7C4DC"/>
                </a:solidFill>
                <a:latin typeface="Malgun Gothic" pitchFamily="34" charset="0"/>
                <a:ea typeface="Malgun Gothic" pitchFamily="34" charset="-122"/>
                <a:cs typeface="Malgun Gothic" pitchFamily="34" charset="-120"/>
              </a:rPr>
              <a:t>OpenAI o-series, DeepSeek R1, IBM Quantum, D-Wave, Allstate(production)</a:t>
            </a:r>
            <a:endParaRPr lang="en-US" sz="1000" dirty="0"/>
          </a:p>
        </p:txBody>
      </p:sp>
      <p:sp>
        <p:nvSpPr>
          <p:cNvPr id="29" name="Text 25"/>
          <p:cNvSpPr/>
          <p:nvPr/>
        </p:nvSpPr>
        <p:spPr>
          <a:xfrm>
            <a:off x="5897880" y="2395728"/>
            <a:ext cx="5742432" cy="274320"/>
          </a:xfrm>
          <a:prstGeom prst="rect">
            <a:avLst/>
          </a:prstGeom>
          <a:noFill/>
          <a:ln/>
        </p:spPr>
        <p:txBody>
          <a:bodyPr wrap="square" lIns="0" tIns="0" rIns="0" bIns="0" rtlCol="0" anchor="ctr"/>
          <a:lstStyle/>
          <a:p>
            <a:pPr algn="l" indent="0" marL="0">
              <a:buNone/>
            </a:pPr>
            <a:r>
              <a:rPr lang="en-US" sz="1150" b="1" dirty="0">
                <a:solidFill>
                  <a:srgbClr val="FB7A3C"/>
                </a:solidFill>
                <a:latin typeface="Malgun Gothic" pitchFamily="34" charset="0"/>
                <a:ea typeface="Malgun Gothic" pitchFamily="34" charset="-122"/>
                <a:cs typeface="Malgun Gothic" pitchFamily="34" charset="-120"/>
              </a:rPr>
              <a:t>왜 필요한가</a:t>
            </a:r>
            <a:endParaRPr lang="en-US" sz="1150" dirty="0"/>
          </a:p>
        </p:txBody>
      </p:sp>
      <p:sp>
        <p:nvSpPr>
          <p:cNvPr id="30" name="Text 26"/>
          <p:cNvSpPr/>
          <p:nvPr/>
        </p:nvSpPr>
        <p:spPr>
          <a:xfrm>
            <a:off x="5897880" y="2651760"/>
            <a:ext cx="5742432" cy="1143000"/>
          </a:xfrm>
          <a:prstGeom prst="rect">
            <a:avLst/>
          </a:prstGeom>
          <a:noFill/>
          <a:ln/>
        </p:spPr>
        <p:txBody>
          <a:bodyPr wrap="square" lIns="0" tIns="0" rIns="0" bIns="0" rtlCol="0" anchor="ctr"/>
          <a:lstStyle/>
          <a:p>
            <a:pPr indent="0" marL="0">
              <a:lnSpc>
                <a:spcPct val="122000"/>
              </a:lnSpc>
              <a:buNone/>
            </a:pPr>
            <a:r>
              <a:rPr lang="en-US" sz="1250" dirty="0">
                <a:solidFill>
                  <a:srgbClr val="B7C4DC"/>
                </a:solidFill>
                <a:latin typeface="Malgun Gothic" pitchFamily="34" charset="0"/>
                <a:ea typeface="Malgun Gothic" pitchFamily="34" charset="-122"/>
                <a:cs typeface="Malgun Gothic" pitchFamily="34" charset="-120"/>
              </a:rPr>
              <a:t>외우기만 하는 AI는 틀리면 그대로 틀립니다. 생각하는 AI는 답을 내기 전에 스스로 검증하고 고칩니다. 또 일정·자원처럼 경우의 수가 폭발하는 문제는 양자 최적화로 '가장 좋은 조합'을 찾습니다.</a:t>
            </a:r>
            <a:endParaRPr lang="en-US" sz="1250" dirty="0"/>
          </a:p>
        </p:txBody>
      </p:sp>
      <p:sp>
        <p:nvSpPr>
          <p:cNvPr id="31" name="Text 27"/>
          <p:cNvSpPr/>
          <p:nvPr/>
        </p:nvSpPr>
        <p:spPr>
          <a:xfrm>
            <a:off x="5897880" y="3931920"/>
            <a:ext cx="5742432" cy="274320"/>
          </a:xfrm>
          <a:prstGeom prst="rect">
            <a:avLst/>
          </a:prstGeom>
          <a:noFill/>
          <a:ln/>
        </p:spPr>
        <p:txBody>
          <a:bodyPr wrap="square" lIns="0" tIns="0" rIns="0" bIns="0" rtlCol="0" anchor="ctr"/>
          <a:lstStyle/>
          <a:p>
            <a:pPr algn="l" indent="0" marL="0">
              <a:buNone/>
            </a:pPr>
            <a:r>
              <a:rPr lang="en-US" sz="1150" b="1" dirty="0">
                <a:solidFill>
                  <a:srgbClr val="FB7A3C"/>
                </a:solidFill>
                <a:latin typeface="Malgun Gothic" pitchFamily="34" charset="0"/>
                <a:ea typeface="Malgun Gothic" pitchFamily="34" charset="-122"/>
                <a:cs typeface="Malgun Gothic" pitchFamily="34" charset="-120"/>
              </a:rPr>
              <a:t>핵심 기술</a:t>
            </a:r>
            <a:endParaRPr lang="en-US" sz="1150" dirty="0"/>
          </a:p>
        </p:txBody>
      </p:sp>
      <p:sp>
        <p:nvSpPr>
          <p:cNvPr id="32" name="Text 28"/>
          <p:cNvSpPr/>
          <p:nvPr/>
        </p:nvSpPr>
        <p:spPr>
          <a:xfrm>
            <a:off x="5897880" y="4187952"/>
            <a:ext cx="5742432" cy="777240"/>
          </a:xfrm>
          <a:prstGeom prst="rect">
            <a:avLst/>
          </a:prstGeom>
          <a:noFill/>
          <a:ln/>
        </p:spPr>
        <p:txBody>
          <a:bodyPr wrap="square" lIns="0" tIns="0" rIns="0" bIns="0" rtlCol="0" anchor="ctr"/>
          <a:lstStyle/>
          <a:p>
            <a:pPr indent="0" marL="0">
              <a:lnSpc>
                <a:spcPct val="125000"/>
              </a:lnSpc>
              <a:buNone/>
            </a:pPr>
            <a:r>
              <a:rPr lang="en-US" sz="1200" dirty="0">
                <a:solidFill>
                  <a:srgbClr val="B7C4DC"/>
                </a:solidFill>
                <a:latin typeface="Malgun Gothic" pitchFamily="34" charset="0"/>
                <a:ea typeface="Malgun Gothic" pitchFamily="34" charset="-122"/>
                <a:cs typeface="Malgun Gothic" pitchFamily="34" charset="-120"/>
              </a:rPr>
              <a:t>Reasoning Model   ·   Planning   ·   Graph AI   ·   Causal AI   ·   Neuro-Symbolic   ·   Quantum Computing   ·   Quantum Optimization</a:t>
            </a:r>
            <a:endParaRPr lang="en-US" sz="1200" dirty="0"/>
          </a:p>
        </p:txBody>
      </p:sp>
      <p:sp>
        <p:nvSpPr>
          <p:cNvPr id="33" name="Text 29"/>
          <p:cNvSpPr/>
          <p:nvPr/>
        </p:nvSpPr>
        <p:spPr>
          <a:xfrm>
            <a:off x="5897880" y="5074920"/>
            <a:ext cx="5742432" cy="274320"/>
          </a:xfrm>
          <a:prstGeom prst="rect">
            <a:avLst/>
          </a:prstGeom>
          <a:noFill/>
          <a:ln/>
        </p:spPr>
        <p:txBody>
          <a:bodyPr wrap="square" lIns="0" tIns="0" rIns="0" bIns="0" rtlCol="0" anchor="ctr"/>
          <a:lstStyle/>
          <a:p>
            <a:pPr algn="l" indent="0" marL="0">
              <a:buNone/>
            </a:pPr>
            <a:r>
              <a:rPr lang="en-US" sz="1150" b="1" dirty="0">
                <a:solidFill>
                  <a:srgbClr val="FB7A3C"/>
                </a:solidFill>
                <a:latin typeface="Malgun Gothic" pitchFamily="34" charset="0"/>
                <a:ea typeface="Malgun Gothic" pitchFamily="34" charset="-122"/>
                <a:cs typeface="Malgun Gothic" pitchFamily="34" charset="-120"/>
              </a:rPr>
              <a:t>2035 전망</a:t>
            </a:r>
            <a:endParaRPr lang="en-US" sz="1150" dirty="0"/>
          </a:p>
        </p:txBody>
      </p:sp>
      <p:sp>
        <p:nvSpPr>
          <p:cNvPr id="34" name="Text 30"/>
          <p:cNvSpPr/>
          <p:nvPr/>
        </p:nvSpPr>
        <p:spPr>
          <a:xfrm>
            <a:off x="5897880" y="5330952"/>
            <a:ext cx="5742432" cy="1188720"/>
          </a:xfrm>
          <a:prstGeom prst="rect">
            <a:avLst/>
          </a:prstGeom>
          <a:noFill/>
          <a:ln/>
        </p:spPr>
        <p:txBody>
          <a:bodyPr wrap="square" lIns="0" tIns="0" rIns="0" bIns="0" rtlCol="0" anchor="ctr"/>
          <a:lstStyle/>
          <a:p>
            <a:pPr indent="0" marL="0">
              <a:lnSpc>
                <a:spcPct val="122000"/>
              </a:lnSpc>
              <a:buNone/>
            </a:pPr>
            <a:r>
              <a:rPr lang="en-US" sz="1250" dirty="0">
                <a:solidFill>
                  <a:srgbClr val="B7C4DC"/>
                </a:solidFill>
                <a:latin typeface="Malgun Gothic" pitchFamily="34" charset="0"/>
                <a:ea typeface="Malgun Gothic" pitchFamily="34" charset="-122"/>
                <a:cs typeface="Malgun Gothic" pitchFamily="34" charset="-120"/>
              </a:rPr>
              <a:t>일반 추론은 Reasoning Model이, 일정·배치·포트폴리오 같은 조합 최적화는 양자가 분담하는 '용도별 분업'이 정착합니다. 둘을 묶는 Neuro-Symbolic이 신뢰성의 열쇠가 됩니다.</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548640" y="502920"/>
            <a:ext cx="868680" cy="868680"/>
          </a:xfrm>
          <a:prstGeom prst="ellipse">
            <a:avLst/>
          </a:prstGeom>
          <a:solidFill>
            <a:srgbClr val="18223A"/>
          </a:solidFill>
          <a:ln w="22225">
            <a:solidFill>
              <a:srgbClr val="FBBF24"/>
            </a:solidFill>
            <a:prstDash val="solid"/>
          </a:ln>
        </p:spPr>
      </p:sp>
      <p:pic>
        <p:nvPicPr>
          <p:cNvPr id="3" name="Image 0" descr="assets/icon_energy.png">    </p:cNvPr>
          <p:cNvPicPr>
            <a:picLocks noChangeAspect="1"/>
          </p:cNvPicPr>
          <p:nvPr/>
        </p:nvPicPr>
        <p:blipFill>
          <a:blip r:embed="rId1"/>
          <a:stretch>
            <a:fillRect/>
          </a:stretch>
        </p:blipFill>
        <p:spPr>
          <a:xfrm>
            <a:off x="713689" y="667969"/>
            <a:ext cx="538582" cy="538582"/>
          </a:xfrm>
          <a:prstGeom prst="rect">
            <a:avLst/>
          </a:prstGeom>
        </p:spPr>
      </p:pic>
      <p:sp>
        <p:nvSpPr>
          <p:cNvPr id="4" name="Text 1"/>
          <p:cNvSpPr/>
          <p:nvPr/>
        </p:nvSpPr>
        <p:spPr>
          <a:xfrm>
            <a:off x="1600200" y="475488"/>
            <a:ext cx="2743200" cy="292608"/>
          </a:xfrm>
          <a:prstGeom prst="rect">
            <a:avLst/>
          </a:prstGeom>
          <a:noFill/>
          <a:ln/>
        </p:spPr>
        <p:txBody>
          <a:bodyPr wrap="square" lIns="0" tIns="0" rIns="0" bIns="0" rtlCol="0" anchor="ctr"/>
          <a:lstStyle/>
          <a:p>
            <a:pPr indent="0" marL="0">
              <a:buNone/>
            </a:pPr>
            <a:r>
              <a:rPr lang="en-US" sz="1400" b="1" dirty="0">
                <a:solidFill>
                  <a:srgbClr val="FBBF24"/>
                </a:solidFill>
                <a:latin typeface="Consolas" pitchFamily="34" charset="0"/>
                <a:ea typeface="Consolas" pitchFamily="34" charset="-122"/>
                <a:cs typeface="Consolas" pitchFamily="34" charset="-120"/>
              </a:rPr>
              <a:t>07</a:t>
            </a:r>
            <a:endParaRPr lang="en-US" sz="1400" dirty="0"/>
          </a:p>
        </p:txBody>
      </p:sp>
      <p:sp>
        <p:nvSpPr>
          <p:cNvPr id="5" name="Text 2"/>
          <p:cNvSpPr/>
          <p:nvPr/>
        </p:nvSpPr>
        <p:spPr>
          <a:xfrm>
            <a:off x="1572768" y="713232"/>
            <a:ext cx="6858000" cy="658368"/>
          </a:xfrm>
          <a:prstGeom prst="rect">
            <a:avLst/>
          </a:prstGeom>
          <a:noFill/>
          <a:ln/>
        </p:spPr>
        <p:txBody>
          <a:bodyPr wrap="square" lIns="0" tIns="0" rIns="0" bIns="0" rtlCol="0" anchor="ctr"/>
          <a:lstStyle/>
          <a:p>
            <a:pPr indent="0" marL="0">
              <a:buNone/>
            </a:pPr>
            <a:r>
              <a:rPr lang="en-US" sz="3300" b="1" dirty="0">
                <a:solidFill>
                  <a:srgbClr val="EAF0FF"/>
                </a:solidFill>
                <a:latin typeface="Malgun Gothic" pitchFamily="34" charset="0"/>
                <a:ea typeface="Malgun Gothic" pitchFamily="34" charset="-122"/>
                <a:cs typeface="Malgun Gothic" pitchFamily="34" charset="-120"/>
              </a:rPr>
              <a:t>에너지</a:t>
            </a:r>
            <a:endParaRPr lang="en-US" sz="3300" dirty="0"/>
          </a:p>
        </p:txBody>
      </p:sp>
      <p:sp>
        <p:nvSpPr>
          <p:cNvPr id="6" name="Text 3"/>
          <p:cNvSpPr/>
          <p:nvPr/>
        </p:nvSpPr>
        <p:spPr>
          <a:xfrm>
            <a:off x="1600200" y="1371600"/>
            <a:ext cx="8229600" cy="292608"/>
          </a:xfrm>
          <a:prstGeom prst="rect">
            <a:avLst/>
          </a:prstGeom>
          <a:noFill/>
          <a:ln/>
        </p:spPr>
        <p:txBody>
          <a:bodyPr wrap="square" lIns="0" tIns="0" rIns="0" bIns="0" rtlCol="0" anchor="ctr"/>
          <a:lstStyle/>
          <a:p>
            <a:pPr indent="0" marL="0">
              <a:buNone/>
            </a:pPr>
            <a:r>
              <a:rPr lang="en-US" sz="1300" dirty="0">
                <a:solidFill>
                  <a:srgbClr val="8493AE"/>
                </a:solidFill>
                <a:latin typeface="Malgun Gothic" pitchFamily="34" charset="0"/>
                <a:ea typeface="Malgun Gothic" pitchFamily="34" charset="-122"/>
                <a:cs typeface="Malgun Gothic" pitchFamily="34" charset="-120"/>
              </a:rPr>
              <a:t>Energy · AI의 밥</a:t>
            </a:r>
            <a:endParaRPr lang="en-US" sz="1300" dirty="0"/>
          </a:p>
        </p:txBody>
      </p:sp>
      <p:sp>
        <p:nvSpPr>
          <p:cNvPr id="7" name="Text 4"/>
          <p:cNvSpPr/>
          <p:nvPr/>
        </p:nvSpPr>
        <p:spPr>
          <a:xfrm>
            <a:off x="1600200" y="1700784"/>
            <a:ext cx="8869680" cy="457200"/>
          </a:xfrm>
          <a:prstGeom prst="rect">
            <a:avLst/>
          </a:prstGeom>
          <a:noFill/>
          <a:ln/>
        </p:spPr>
        <p:txBody>
          <a:bodyPr wrap="square" lIns="0" tIns="0" rIns="0" bIns="0" rtlCol="0" anchor="ctr"/>
          <a:lstStyle/>
          <a:p>
            <a:pPr indent="0" marL="0">
              <a:buNone/>
            </a:pPr>
            <a:r>
              <a:rPr lang="en-US" sz="1350" i="1" dirty="0">
                <a:solidFill>
                  <a:srgbClr val="B7C4DC"/>
                </a:solidFill>
                <a:latin typeface="Malgun Gothic" pitchFamily="34" charset="0"/>
                <a:ea typeface="Malgun Gothic" pitchFamily="34" charset="-122"/>
                <a:cs typeface="Malgun Gothic" pitchFamily="34" charset="-120"/>
              </a:rPr>
              <a:t>AI를 돌릴 전기를 일반 전력에서 전용 발전(원전·핵융합)으로 확보하는 단계.</a:t>
            </a:r>
            <a:endParaRPr lang="en-US" sz="1350" dirty="0"/>
          </a:p>
        </p:txBody>
      </p:sp>
      <p:pic>
        <p:nvPicPr>
          <p:cNvPr id="8" name="Image 1" descr="assets/loc_energy.png">    </p:cNvPr>
          <p:cNvPicPr>
            <a:picLocks noChangeAspect="1"/>
          </p:cNvPicPr>
          <p:nvPr/>
        </p:nvPicPr>
        <p:blipFill>
          <a:blip r:embed="rId2"/>
          <a:stretch>
            <a:fillRect/>
          </a:stretch>
        </p:blipFill>
        <p:spPr>
          <a:xfrm>
            <a:off x="10972800" y="457200"/>
            <a:ext cx="914400" cy="1600200"/>
          </a:xfrm>
          <a:prstGeom prst="rect">
            <a:avLst/>
          </a:prstGeom>
        </p:spPr>
      </p:pic>
      <p:sp>
        <p:nvSpPr>
          <p:cNvPr id="9" name="Text 5"/>
          <p:cNvSpPr/>
          <p:nvPr/>
        </p:nvSpPr>
        <p:spPr>
          <a:xfrm>
            <a:off x="10607040" y="2075688"/>
            <a:ext cx="1645920" cy="228600"/>
          </a:xfrm>
          <a:prstGeom prst="rect">
            <a:avLst/>
          </a:prstGeom>
          <a:noFill/>
          <a:ln/>
        </p:spPr>
        <p:txBody>
          <a:bodyPr wrap="square" lIns="0" tIns="0" rIns="0" bIns="0" rtlCol="0" anchor="ctr"/>
          <a:lstStyle/>
          <a:p>
            <a:pPr algn="ctr" indent="0" marL="0">
              <a:buNone/>
            </a:pPr>
            <a:r>
              <a:rPr lang="en-US" sz="900" dirty="0">
                <a:solidFill>
                  <a:srgbClr val="8493AE"/>
                </a:solidFill>
                <a:latin typeface="Malgun Gothic" pitchFamily="34" charset="0"/>
                <a:ea typeface="Malgun Gothic" pitchFamily="34" charset="-122"/>
                <a:cs typeface="Malgun Gothic" pitchFamily="34" charset="-120"/>
              </a:rPr>
              <a:t>몸의 위치</a:t>
            </a:r>
            <a:endParaRPr lang="en-US" sz="900" dirty="0"/>
          </a:p>
        </p:txBody>
      </p:sp>
      <p:sp>
        <p:nvSpPr>
          <p:cNvPr id="10" name="Shape 6"/>
          <p:cNvSpPr/>
          <p:nvPr/>
        </p:nvSpPr>
        <p:spPr>
          <a:xfrm>
            <a:off x="548640" y="2331720"/>
            <a:ext cx="5074920" cy="4224528"/>
          </a:xfrm>
          <a:prstGeom prst="roundRect">
            <a:avLst>
              <a:gd name="adj" fmla="val 1948"/>
            </a:avLst>
          </a:prstGeom>
          <a:solidFill>
            <a:srgbClr val="121A2E"/>
          </a:solidFill>
          <a:ln w="12700">
            <a:solidFill>
              <a:srgbClr val="2A3756"/>
            </a:solidFill>
            <a:prstDash val="solid"/>
          </a:ln>
          <a:effectLst>
            <a:outerShdw sx="100000" sy="100000" kx="0" ky="0" algn="bl" rotWithShape="0" blurRad="114300" dist="38100" dir="5400000">
              <a:srgbClr val="000000">
                <a:alpha val="35000"/>
              </a:srgbClr>
            </a:outerShdw>
          </a:effectLst>
        </p:spPr>
      </p:sp>
      <p:sp>
        <p:nvSpPr>
          <p:cNvPr id="11" name="Text 7"/>
          <p:cNvSpPr/>
          <p:nvPr/>
        </p:nvSpPr>
        <p:spPr>
          <a:xfrm>
            <a:off x="822960" y="2542032"/>
            <a:ext cx="4526280" cy="274320"/>
          </a:xfrm>
          <a:prstGeom prst="rect">
            <a:avLst/>
          </a:prstGeom>
          <a:noFill/>
          <a:ln/>
        </p:spPr>
        <p:txBody>
          <a:bodyPr wrap="square" lIns="0" tIns="0" rIns="0" bIns="0" rtlCol="0" anchor="ctr"/>
          <a:lstStyle/>
          <a:p>
            <a:pPr algn="l" indent="0" marL="0">
              <a:buNone/>
            </a:pPr>
            <a:r>
              <a:rPr lang="en-US" sz="1150" b="1" dirty="0">
                <a:solidFill>
                  <a:srgbClr val="FBBF24"/>
                </a:solidFill>
                <a:latin typeface="Malgun Gothic" pitchFamily="34" charset="0"/>
                <a:ea typeface="Malgun Gothic" pitchFamily="34" charset="-122"/>
                <a:cs typeface="Malgun Gothic" pitchFamily="34" charset="-120"/>
              </a:rPr>
              <a:t>쉬운 비유</a:t>
            </a:r>
            <a:endParaRPr lang="en-US" sz="1150" dirty="0"/>
          </a:p>
        </p:txBody>
      </p:sp>
      <p:sp>
        <p:nvSpPr>
          <p:cNvPr id="12" name="Text 8"/>
          <p:cNvSpPr/>
          <p:nvPr/>
        </p:nvSpPr>
        <p:spPr>
          <a:xfrm>
            <a:off x="822960" y="2798064"/>
            <a:ext cx="4526280" cy="365760"/>
          </a:xfrm>
          <a:prstGeom prst="rect">
            <a:avLst/>
          </a:prstGeom>
          <a:noFill/>
          <a:ln/>
        </p:spPr>
        <p:txBody>
          <a:bodyPr wrap="square" lIns="0" tIns="0" rIns="0" bIns="0" rtlCol="0" anchor="ctr"/>
          <a:lstStyle/>
          <a:p>
            <a:pPr indent="0" marL="0">
              <a:buNone/>
            </a:pPr>
            <a:r>
              <a:rPr lang="en-US" sz="1550" b="1" dirty="0">
                <a:solidFill>
                  <a:srgbClr val="EAF0FF"/>
                </a:solidFill>
                <a:latin typeface="Malgun Gothic" pitchFamily="34" charset="0"/>
                <a:ea typeface="Malgun Gothic" pitchFamily="34" charset="-122"/>
                <a:cs typeface="Malgun Gothic" pitchFamily="34" charset="-120"/>
              </a:rPr>
              <a:t>콘센트 → 미니 원전 → 핵융합</a:t>
            </a:r>
            <a:endParaRPr lang="en-US" sz="1550" dirty="0"/>
          </a:p>
        </p:txBody>
      </p:sp>
      <p:sp>
        <p:nvSpPr>
          <p:cNvPr id="13" name="Text 9"/>
          <p:cNvSpPr/>
          <p:nvPr/>
        </p:nvSpPr>
        <p:spPr>
          <a:xfrm>
            <a:off x="822960" y="3200400"/>
            <a:ext cx="4526280" cy="822960"/>
          </a:xfrm>
          <a:prstGeom prst="rect">
            <a:avLst/>
          </a:prstGeom>
          <a:noFill/>
          <a:ln/>
        </p:spPr>
        <p:txBody>
          <a:bodyPr wrap="square" lIns="0" tIns="0" rIns="0" bIns="0" rtlCol="0" anchor="ctr"/>
          <a:lstStyle/>
          <a:p>
            <a:pPr indent="0" marL="0">
              <a:lnSpc>
                <a:spcPct val="116000"/>
              </a:lnSpc>
              <a:buNone/>
            </a:pPr>
            <a:r>
              <a:rPr lang="en-US" sz="1150" dirty="0">
                <a:solidFill>
                  <a:srgbClr val="B7C4DC"/>
                </a:solidFill>
                <a:latin typeface="Malgun Gothic" pitchFamily="34" charset="0"/>
                <a:ea typeface="Malgun Gothic" pitchFamily="34" charset="-122"/>
                <a:cs typeface="Malgun Gothic" pitchFamily="34" charset="-120"/>
              </a:rPr>
              <a:t>일반 전기는 벽 콘센트, SMR은 건물 옆에 둔 미니 발전소, 핵융합은 태양을 손에 쥐는 궁극의 발전 — AI의 '밥'을 스스로 짓는 방향입니다.</a:t>
            </a:r>
            <a:endParaRPr lang="en-US" sz="1150" dirty="0"/>
          </a:p>
        </p:txBody>
      </p:sp>
      <p:sp>
        <p:nvSpPr>
          <p:cNvPr id="14" name="Text 10"/>
          <p:cNvSpPr/>
          <p:nvPr/>
        </p:nvSpPr>
        <p:spPr>
          <a:xfrm>
            <a:off x="822960" y="4078224"/>
            <a:ext cx="4526280" cy="274320"/>
          </a:xfrm>
          <a:prstGeom prst="rect">
            <a:avLst/>
          </a:prstGeom>
          <a:noFill/>
          <a:ln/>
        </p:spPr>
        <p:txBody>
          <a:bodyPr wrap="square" lIns="0" tIns="0" rIns="0" bIns="0" rtlCol="0" anchor="ctr"/>
          <a:lstStyle/>
          <a:p>
            <a:pPr algn="l" indent="0" marL="0">
              <a:buNone/>
            </a:pPr>
            <a:r>
              <a:rPr lang="en-US" sz="1150" b="1" dirty="0">
                <a:solidFill>
                  <a:srgbClr val="FBBF24"/>
                </a:solidFill>
                <a:latin typeface="Malgun Gothic" pitchFamily="34" charset="0"/>
                <a:ea typeface="Malgun Gothic" pitchFamily="34" charset="-122"/>
                <a:cs typeface="Malgun Gothic" pitchFamily="34" charset="-120"/>
              </a:rPr>
              <a:t>진화 단계</a:t>
            </a:r>
            <a:endParaRPr lang="en-US" sz="1150" dirty="0"/>
          </a:p>
        </p:txBody>
      </p:sp>
      <p:sp>
        <p:nvSpPr>
          <p:cNvPr id="15" name="Shape 11"/>
          <p:cNvSpPr/>
          <p:nvPr/>
        </p:nvSpPr>
        <p:spPr>
          <a:xfrm>
            <a:off x="822960" y="4425696"/>
            <a:ext cx="118872" cy="118872"/>
          </a:xfrm>
          <a:prstGeom prst="ellipse">
            <a:avLst/>
          </a:prstGeom>
          <a:solidFill>
            <a:srgbClr val="8493AE"/>
          </a:solidFill>
          <a:ln w="15875">
            <a:solidFill>
              <a:srgbClr val="8493AE"/>
            </a:solidFill>
            <a:prstDash val="solid"/>
          </a:ln>
        </p:spPr>
      </p:sp>
      <p:sp>
        <p:nvSpPr>
          <p:cNvPr id="16" name="Text 12"/>
          <p:cNvSpPr/>
          <p:nvPr/>
        </p:nvSpPr>
        <p:spPr>
          <a:xfrm>
            <a:off x="1060704" y="4370832"/>
            <a:ext cx="3291840" cy="292608"/>
          </a:xfrm>
          <a:prstGeom prst="rect">
            <a:avLst/>
          </a:prstGeom>
          <a:noFill/>
          <a:ln/>
        </p:spPr>
        <p:txBody>
          <a:bodyPr wrap="square" lIns="0" tIns="0" rIns="0" bIns="0" rtlCol="0" anchor="ctr"/>
          <a:lstStyle/>
          <a:p>
            <a:pPr indent="0" marL="0">
              <a:buNone/>
            </a:pPr>
            <a:r>
              <a:rPr lang="en-US" sz="1150" dirty="0">
                <a:solidFill>
                  <a:srgbClr val="8493AE"/>
                </a:solidFill>
                <a:latin typeface="Malgun Gothic" pitchFamily="34" charset="0"/>
                <a:ea typeface="Malgun Gothic" pitchFamily="34" charset="-122"/>
                <a:cs typeface="Malgun Gothic" pitchFamily="34" charset="-120"/>
              </a:rPr>
              <a:t>일반 전기</a:t>
            </a:r>
            <a:endParaRPr lang="en-US" sz="1150" dirty="0"/>
          </a:p>
        </p:txBody>
      </p:sp>
      <p:sp>
        <p:nvSpPr>
          <p:cNvPr id="17" name="Text 13"/>
          <p:cNvSpPr/>
          <p:nvPr/>
        </p:nvSpPr>
        <p:spPr>
          <a:xfrm>
            <a:off x="4160520" y="4370832"/>
            <a:ext cx="1188720" cy="292608"/>
          </a:xfrm>
          <a:prstGeom prst="rect">
            <a:avLst/>
          </a:prstGeom>
          <a:noFill/>
          <a:ln/>
        </p:spPr>
        <p:txBody>
          <a:bodyPr wrap="square" lIns="0" tIns="0" rIns="0" bIns="0" rtlCol="0" anchor="ctr"/>
          <a:lstStyle/>
          <a:p>
            <a:pPr algn="r" indent="0" marL="0">
              <a:buNone/>
            </a:pPr>
            <a:r>
              <a:rPr lang="en-US" sz="1000" dirty="0">
                <a:solidFill>
                  <a:srgbClr val="8493AE"/>
                </a:solidFill>
                <a:latin typeface="Consolas" pitchFamily="34" charset="0"/>
                <a:ea typeface="Consolas" pitchFamily="34" charset="-122"/>
                <a:cs typeface="Consolas" pitchFamily="34" charset="-120"/>
              </a:rPr>
              <a:t>~2025</a:t>
            </a:r>
            <a:endParaRPr lang="en-US" sz="1000" dirty="0"/>
          </a:p>
        </p:txBody>
      </p:sp>
      <p:sp>
        <p:nvSpPr>
          <p:cNvPr id="18" name="Shape 14"/>
          <p:cNvSpPr/>
          <p:nvPr/>
        </p:nvSpPr>
        <p:spPr>
          <a:xfrm>
            <a:off x="822960" y="4718304"/>
            <a:ext cx="118872" cy="118872"/>
          </a:xfrm>
          <a:prstGeom prst="ellipse">
            <a:avLst/>
          </a:prstGeom>
          <a:solidFill>
            <a:srgbClr val="FBBF24"/>
          </a:solidFill>
          <a:ln w="15875">
            <a:solidFill>
              <a:srgbClr val="FBBF24"/>
            </a:solidFill>
            <a:prstDash val="solid"/>
          </a:ln>
        </p:spPr>
      </p:sp>
      <p:sp>
        <p:nvSpPr>
          <p:cNvPr id="19" name="Text 15"/>
          <p:cNvSpPr/>
          <p:nvPr/>
        </p:nvSpPr>
        <p:spPr>
          <a:xfrm>
            <a:off x="1060704" y="4663440"/>
            <a:ext cx="3291840" cy="292608"/>
          </a:xfrm>
          <a:prstGeom prst="rect">
            <a:avLst/>
          </a:prstGeom>
          <a:noFill/>
          <a:ln/>
        </p:spPr>
        <p:txBody>
          <a:bodyPr wrap="square" lIns="0" tIns="0" rIns="0" bIns="0" rtlCol="0" anchor="ctr"/>
          <a:lstStyle/>
          <a:p>
            <a:pPr indent="0" marL="0">
              <a:buNone/>
            </a:pPr>
            <a:r>
              <a:rPr lang="en-US" sz="1150" b="1" dirty="0">
                <a:solidFill>
                  <a:srgbClr val="FBBF24"/>
                </a:solidFill>
                <a:latin typeface="Malgun Gothic" pitchFamily="34" charset="0"/>
                <a:ea typeface="Malgun Gothic" pitchFamily="34" charset="-122"/>
                <a:cs typeface="Malgun Gothic" pitchFamily="34" charset="-120"/>
              </a:rPr>
              <a:t>SMR (소형 모듈 원자로)</a:t>
            </a:r>
            <a:endParaRPr lang="en-US" sz="1150" dirty="0"/>
          </a:p>
        </p:txBody>
      </p:sp>
      <p:sp>
        <p:nvSpPr>
          <p:cNvPr id="20" name="Text 16"/>
          <p:cNvSpPr/>
          <p:nvPr/>
        </p:nvSpPr>
        <p:spPr>
          <a:xfrm>
            <a:off x="4160520" y="4663440"/>
            <a:ext cx="1188720" cy="292608"/>
          </a:xfrm>
          <a:prstGeom prst="rect">
            <a:avLst/>
          </a:prstGeom>
          <a:noFill/>
          <a:ln/>
        </p:spPr>
        <p:txBody>
          <a:bodyPr wrap="square" lIns="0" tIns="0" rIns="0" bIns="0" rtlCol="0" anchor="ctr"/>
          <a:lstStyle/>
          <a:p>
            <a:pPr algn="r" indent="0" marL="0">
              <a:buNone/>
            </a:pPr>
            <a:r>
              <a:rPr lang="en-US" sz="1000" dirty="0">
                <a:solidFill>
                  <a:srgbClr val="FBBF24"/>
                </a:solidFill>
                <a:latin typeface="Consolas" pitchFamily="34" charset="0"/>
                <a:ea typeface="Consolas" pitchFamily="34" charset="-122"/>
                <a:cs typeface="Consolas" pitchFamily="34" charset="-120"/>
              </a:rPr>
              <a:t>2027  ★</a:t>
            </a:r>
            <a:endParaRPr lang="en-US" sz="1000" dirty="0"/>
          </a:p>
        </p:txBody>
      </p:sp>
      <p:sp>
        <p:nvSpPr>
          <p:cNvPr id="21" name="Shape 17"/>
          <p:cNvSpPr/>
          <p:nvPr/>
        </p:nvSpPr>
        <p:spPr>
          <a:xfrm>
            <a:off x="822960" y="5010912"/>
            <a:ext cx="118872" cy="118872"/>
          </a:xfrm>
          <a:prstGeom prst="ellipse">
            <a:avLst/>
          </a:prstGeom>
          <a:solidFill>
            <a:srgbClr val="0B0F1A"/>
          </a:solidFill>
          <a:ln w="15875">
            <a:solidFill>
              <a:srgbClr val="FBBF24"/>
            </a:solidFill>
            <a:prstDash val="solid"/>
          </a:ln>
        </p:spPr>
      </p:sp>
      <p:sp>
        <p:nvSpPr>
          <p:cNvPr id="22" name="Text 18"/>
          <p:cNvSpPr/>
          <p:nvPr/>
        </p:nvSpPr>
        <p:spPr>
          <a:xfrm>
            <a:off x="1060704" y="4956048"/>
            <a:ext cx="3291840" cy="292608"/>
          </a:xfrm>
          <a:prstGeom prst="rect">
            <a:avLst/>
          </a:prstGeom>
          <a:noFill/>
          <a:ln/>
        </p:spPr>
        <p:txBody>
          <a:bodyPr wrap="square" lIns="0" tIns="0" rIns="0" bIns="0" rtlCol="0" anchor="ctr"/>
          <a:lstStyle/>
          <a:p>
            <a:pPr indent="0" marL="0">
              <a:buNone/>
            </a:pPr>
            <a:r>
              <a:rPr lang="en-US" sz="1150" dirty="0">
                <a:solidFill>
                  <a:srgbClr val="B7C4DC"/>
                </a:solidFill>
                <a:latin typeface="Malgun Gothic" pitchFamily="34" charset="0"/>
                <a:ea typeface="Malgun Gothic" pitchFamily="34" charset="-122"/>
                <a:cs typeface="Malgun Gothic" pitchFamily="34" charset="-120"/>
              </a:rPr>
              <a:t>핵융합 (Fusion)</a:t>
            </a:r>
            <a:endParaRPr lang="en-US" sz="1150" dirty="0"/>
          </a:p>
        </p:txBody>
      </p:sp>
      <p:sp>
        <p:nvSpPr>
          <p:cNvPr id="23" name="Text 19"/>
          <p:cNvSpPr/>
          <p:nvPr/>
        </p:nvSpPr>
        <p:spPr>
          <a:xfrm>
            <a:off x="4160520" y="4956048"/>
            <a:ext cx="1188720" cy="292608"/>
          </a:xfrm>
          <a:prstGeom prst="rect">
            <a:avLst/>
          </a:prstGeom>
          <a:noFill/>
          <a:ln/>
        </p:spPr>
        <p:txBody>
          <a:bodyPr wrap="square" lIns="0" tIns="0" rIns="0" bIns="0" rtlCol="0" anchor="ctr"/>
          <a:lstStyle/>
          <a:p>
            <a:pPr algn="r" indent="0" marL="0">
              <a:buNone/>
            </a:pPr>
            <a:r>
              <a:rPr lang="en-US" sz="1000" dirty="0">
                <a:solidFill>
                  <a:srgbClr val="8493AE"/>
                </a:solidFill>
                <a:latin typeface="Consolas" pitchFamily="34" charset="0"/>
                <a:ea typeface="Consolas" pitchFamily="34" charset="-122"/>
                <a:cs typeface="Consolas" pitchFamily="34" charset="-120"/>
              </a:rPr>
              <a:t>2030+</a:t>
            </a:r>
            <a:endParaRPr lang="en-US" sz="1000" dirty="0"/>
          </a:p>
        </p:txBody>
      </p:sp>
      <p:sp>
        <p:nvSpPr>
          <p:cNvPr id="24" name="Text 20"/>
          <p:cNvSpPr/>
          <p:nvPr/>
        </p:nvSpPr>
        <p:spPr>
          <a:xfrm>
            <a:off x="822960" y="5870448"/>
            <a:ext cx="4526280" cy="274320"/>
          </a:xfrm>
          <a:prstGeom prst="rect">
            <a:avLst/>
          </a:prstGeom>
          <a:noFill/>
          <a:ln/>
        </p:spPr>
        <p:txBody>
          <a:bodyPr wrap="square" lIns="0" tIns="0" rIns="0" bIns="0" rtlCol="0" anchor="ctr"/>
          <a:lstStyle/>
          <a:p>
            <a:pPr algn="l" indent="0" marL="0">
              <a:buNone/>
            </a:pPr>
            <a:r>
              <a:rPr lang="en-US" sz="1150" b="1" dirty="0">
                <a:solidFill>
                  <a:srgbClr val="FBBF24"/>
                </a:solidFill>
                <a:latin typeface="Malgun Gothic" pitchFamily="34" charset="0"/>
                <a:ea typeface="Malgun Gothic" pitchFamily="34" charset="-122"/>
                <a:cs typeface="Malgun Gothic" pitchFamily="34" charset="-120"/>
              </a:rPr>
              <a:t>대표 기업</a:t>
            </a:r>
            <a:endParaRPr lang="en-US" sz="1150" dirty="0"/>
          </a:p>
        </p:txBody>
      </p:sp>
      <p:sp>
        <p:nvSpPr>
          <p:cNvPr id="25" name="Text 21"/>
          <p:cNvSpPr/>
          <p:nvPr/>
        </p:nvSpPr>
        <p:spPr>
          <a:xfrm>
            <a:off x="822960" y="6108192"/>
            <a:ext cx="4526280" cy="384048"/>
          </a:xfrm>
          <a:prstGeom prst="rect">
            <a:avLst/>
          </a:prstGeom>
          <a:noFill/>
          <a:ln/>
        </p:spPr>
        <p:txBody>
          <a:bodyPr wrap="square" lIns="0" tIns="0" rIns="0" bIns="0" rtlCol="0" anchor="ctr"/>
          <a:lstStyle/>
          <a:p>
            <a:pPr indent="0" marL="0">
              <a:lnSpc>
                <a:spcPct val="105000"/>
              </a:lnSpc>
              <a:buNone/>
            </a:pPr>
            <a:r>
              <a:rPr lang="en-US" sz="1000" dirty="0">
                <a:solidFill>
                  <a:srgbClr val="B7C4DC"/>
                </a:solidFill>
                <a:latin typeface="Malgun Gothic" pitchFamily="34" charset="0"/>
                <a:ea typeface="Malgun Gothic" pitchFamily="34" charset="-122"/>
                <a:cs typeface="Malgun Gothic" pitchFamily="34" charset="-120"/>
              </a:rPr>
              <a:t>Microsoft (Three Mile Island), Amazon, Meta+Oklo, Google+Kairos</a:t>
            </a:r>
            <a:endParaRPr lang="en-US" sz="1000" dirty="0"/>
          </a:p>
        </p:txBody>
      </p:sp>
      <p:sp>
        <p:nvSpPr>
          <p:cNvPr id="26" name="Text 22"/>
          <p:cNvSpPr/>
          <p:nvPr/>
        </p:nvSpPr>
        <p:spPr>
          <a:xfrm>
            <a:off x="5897880" y="2395728"/>
            <a:ext cx="5742432" cy="274320"/>
          </a:xfrm>
          <a:prstGeom prst="rect">
            <a:avLst/>
          </a:prstGeom>
          <a:noFill/>
          <a:ln/>
        </p:spPr>
        <p:txBody>
          <a:bodyPr wrap="square" lIns="0" tIns="0" rIns="0" bIns="0" rtlCol="0" anchor="ctr"/>
          <a:lstStyle/>
          <a:p>
            <a:pPr algn="l" indent="0" marL="0">
              <a:buNone/>
            </a:pPr>
            <a:r>
              <a:rPr lang="en-US" sz="1150" b="1" dirty="0">
                <a:solidFill>
                  <a:srgbClr val="FBBF24"/>
                </a:solidFill>
                <a:latin typeface="Malgun Gothic" pitchFamily="34" charset="0"/>
                <a:ea typeface="Malgun Gothic" pitchFamily="34" charset="-122"/>
                <a:cs typeface="Malgun Gothic" pitchFamily="34" charset="-120"/>
              </a:rPr>
              <a:t>왜 필요한가</a:t>
            </a:r>
            <a:endParaRPr lang="en-US" sz="1150" dirty="0"/>
          </a:p>
        </p:txBody>
      </p:sp>
      <p:sp>
        <p:nvSpPr>
          <p:cNvPr id="27" name="Text 23"/>
          <p:cNvSpPr/>
          <p:nvPr/>
        </p:nvSpPr>
        <p:spPr>
          <a:xfrm>
            <a:off x="5897880" y="2651760"/>
            <a:ext cx="5742432" cy="1143000"/>
          </a:xfrm>
          <a:prstGeom prst="rect">
            <a:avLst/>
          </a:prstGeom>
          <a:noFill/>
          <a:ln/>
        </p:spPr>
        <p:txBody>
          <a:bodyPr wrap="square" lIns="0" tIns="0" rIns="0" bIns="0" rtlCol="0" anchor="ctr"/>
          <a:lstStyle/>
          <a:p>
            <a:pPr indent="0" marL="0">
              <a:lnSpc>
                <a:spcPct val="122000"/>
              </a:lnSpc>
              <a:buNone/>
            </a:pPr>
            <a:r>
              <a:rPr lang="en-US" sz="1250" dirty="0">
                <a:solidFill>
                  <a:srgbClr val="B7C4DC"/>
                </a:solidFill>
                <a:latin typeface="Malgun Gothic" pitchFamily="34" charset="0"/>
                <a:ea typeface="Malgun Gothic" pitchFamily="34" charset="-122"/>
                <a:cs typeface="Malgun Gothic" pitchFamily="34" charset="-120"/>
              </a:rPr>
              <a:t>데이터센터 한 개가 도시 하나만큼 전기를 먹기 시작했습니다. 전기를 못 구하면 아무리 좋은 칩도 못 켭니다. 그래서 빅테크들이 직접 발전소(특히 소형 원전 SMR)에 수십억 달러를 약속하고 있습니다.</a:t>
            </a:r>
            <a:endParaRPr lang="en-US" sz="1250" dirty="0"/>
          </a:p>
        </p:txBody>
      </p:sp>
      <p:sp>
        <p:nvSpPr>
          <p:cNvPr id="28" name="Text 24"/>
          <p:cNvSpPr/>
          <p:nvPr/>
        </p:nvSpPr>
        <p:spPr>
          <a:xfrm>
            <a:off x="5897880" y="3931920"/>
            <a:ext cx="5742432" cy="274320"/>
          </a:xfrm>
          <a:prstGeom prst="rect">
            <a:avLst/>
          </a:prstGeom>
          <a:noFill/>
          <a:ln/>
        </p:spPr>
        <p:txBody>
          <a:bodyPr wrap="square" lIns="0" tIns="0" rIns="0" bIns="0" rtlCol="0" anchor="ctr"/>
          <a:lstStyle/>
          <a:p>
            <a:pPr algn="l" indent="0" marL="0">
              <a:buNone/>
            </a:pPr>
            <a:r>
              <a:rPr lang="en-US" sz="1150" b="1" dirty="0">
                <a:solidFill>
                  <a:srgbClr val="FBBF24"/>
                </a:solidFill>
                <a:latin typeface="Malgun Gothic" pitchFamily="34" charset="0"/>
                <a:ea typeface="Malgun Gothic" pitchFamily="34" charset="-122"/>
                <a:cs typeface="Malgun Gothic" pitchFamily="34" charset="-120"/>
              </a:rPr>
              <a:t>핵심 기술</a:t>
            </a:r>
            <a:endParaRPr lang="en-US" sz="1150" dirty="0"/>
          </a:p>
        </p:txBody>
      </p:sp>
      <p:sp>
        <p:nvSpPr>
          <p:cNvPr id="29" name="Text 25"/>
          <p:cNvSpPr/>
          <p:nvPr/>
        </p:nvSpPr>
        <p:spPr>
          <a:xfrm>
            <a:off x="5897880" y="4187952"/>
            <a:ext cx="5742432" cy="777240"/>
          </a:xfrm>
          <a:prstGeom prst="rect">
            <a:avLst/>
          </a:prstGeom>
          <a:noFill/>
          <a:ln/>
        </p:spPr>
        <p:txBody>
          <a:bodyPr wrap="square" lIns="0" tIns="0" rIns="0" bIns="0" rtlCol="0" anchor="ctr"/>
          <a:lstStyle/>
          <a:p>
            <a:pPr indent="0" marL="0">
              <a:lnSpc>
                <a:spcPct val="125000"/>
              </a:lnSpc>
              <a:buNone/>
            </a:pPr>
            <a:r>
              <a:rPr lang="en-US" sz="1200" dirty="0">
                <a:solidFill>
                  <a:srgbClr val="B7C4DC"/>
                </a:solidFill>
                <a:latin typeface="Malgun Gothic" pitchFamily="34" charset="0"/>
                <a:ea typeface="Malgun Gothic" pitchFamily="34" charset="-122"/>
                <a:cs typeface="Malgun Gothic" pitchFamily="34" charset="-120"/>
              </a:rPr>
              <a:t>데이터센터 전력   ·   전력 효율 칩   ·   SMR   ·   핵융합   ·   재생에너지+저장</a:t>
            </a:r>
            <a:endParaRPr lang="en-US" sz="1200" dirty="0"/>
          </a:p>
        </p:txBody>
      </p:sp>
      <p:sp>
        <p:nvSpPr>
          <p:cNvPr id="30" name="Text 26"/>
          <p:cNvSpPr/>
          <p:nvPr/>
        </p:nvSpPr>
        <p:spPr>
          <a:xfrm>
            <a:off x="5897880" y="5074920"/>
            <a:ext cx="5742432" cy="274320"/>
          </a:xfrm>
          <a:prstGeom prst="rect">
            <a:avLst/>
          </a:prstGeom>
          <a:noFill/>
          <a:ln/>
        </p:spPr>
        <p:txBody>
          <a:bodyPr wrap="square" lIns="0" tIns="0" rIns="0" bIns="0" rtlCol="0" anchor="ctr"/>
          <a:lstStyle/>
          <a:p>
            <a:pPr algn="l" indent="0" marL="0">
              <a:buNone/>
            </a:pPr>
            <a:r>
              <a:rPr lang="en-US" sz="1150" b="1" dirty="0">
                <a:solidFill>
                  <a:srgbClr val="FBBF24"/>
                </a:solidFill>
                <a:latin typeface="Malgun Gothic" pitchFamily="34" charset="0"/>
                <a:ea typeface="Malgun Gothic" pitchFamily="34" charset="-122"/>
                <a:cs typeface="Malgun Gothic" pitchFamily="34" charset="-120"/>
              </a:rPr>
              <a:t>2035 전망</a:t>
            </a:r>
            <a:endParaRPr lang="en-US" sz="1150" dirty="0"/>
          </a:p>
        </p:txBody>
      </p:sp>
      <p:sp>
        <p:nvSpPr>
          <p:cNvPr id="31" name="Text 27"/>
          <p:cNvSpPr/>
          <p:nvPr/>
        </p:nvSpPr>
        <p:spPr>
          <a:xfrm>
            <a:off x="5897880" y="5330952"/>
            <a:ext cx="5742432" cy="1188720"/>
          </a:xfrm>
          <a:prstGeom prst="rect">
            <a:avLst/>
          </a:prstGeom>
          <a:noFill/>
          <a:ln/>
        </p:spPr>
        <p:txBody>
          <a:bodyPr wrap="square" lIns="0" tIns="0" rIns="0" bIns="0" rtlCol="0" anchor="ctr"/>
          <a:lstStyle/>
          <a:p>
            <a:pPr indent="0" marL="0">
              <a:lnSpc>
                <a:spcPct val="122000"/>
              </a:lnSpc>
              <a:buNone/>
            </a:pPr>
            <a:r>
              <a:rPr lang="en-US" sz="1250" dirty="0">
                <a:solidFill>
                  <a:srgbClr val="B7C4DC"/>
                </a:solidFill>
                <a:latin typeface="Malgun Gothic" pitchFamily="34" charset="0"/>
                <a:ea typeface="Malgun Gothic" pitchFamily="34" charset="-122"/>
                <a:cs typeface="Malgun Gothic" pitchFamily="34" charset="-120"/>
              </a:rPr>
              <a:t>대형 데이터센터 상당수가 전용 SMR을 끼고 운영되고, 칩의 전력 효율 개선이 동시에 진행돼 'AI 1단위당 전력'이 크게 떨어집니다.</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548640" y="502920"/>
            <a:ext cx="868680" cy="868680"/>
          </a:xfrm>
          <a:prstGeom prst="ellipse">
            <a:avLst/>
          </a:prstGeom>
          <a:solidFill>
            <a:srgbClr val="18223A"/>
          </a:solidFill>
          <a:ln w="22225">
            <a:solidFill>
              <a:srgbClr val="F43F8E"/>
            </a:solidFill>
            <a:prstDash val="solid"/>
          </a:ln>
        </p:spPr>
      </p:sp>
      <p:pic>
        <p:nvPicPr>
          <p:cNvPr id="3" name="Image 0" descr="assets/icon_trust.png">    </p:cNvPr>
          <p:cNvPicPr>
            <a:picLocks noChangeAspect="1"/>
          </p:cNvPicPr>
          <p:nvPr/>
        </p:nvPicPr>
        <p:blipFill>
          <a:blip r:embed="rId1"/>
          <a:stretch>
            <a:fillRect/>
          </a:stretch>
        </p:blipFill>
        <p:spPr>
          <a:xfrm>
            <a:off x="713689" y="667969"/>
            <a:ext cx="538582" cy="538582"/>
          </a:xfrm>
          <a:prstGeom prst="rect">
            <a:avLst/>
          </a:prstGeom>
        </p:spPr>
      </p:pic>
      <p:sp>
        <p:nvSpPr>
          <p:cNvPr id="4" name="Text 1"/>
          <p:cNvSpPr/>
          <p:nvPr/>
        </p:nvSpPr>
        <p:spPr>
          <a:xfrm>
            <a:off x="1600200" y="475488"/>
            <a:ext cx="2743200" cy="292608"/>
          </a:xfrm>
          <a:prstGeom prst="rect">
            <a:avLst/>
          </a:prstGeom>
          <a:noFill/>
          <a:ln/>
        </p:spPr>
        <p:txBody>
          <a:bodyPr wrap="square" lIns="0" tIns="0" rIns="0" bIns="0" rtlCol="0" anchor="ctr"/>
          <a:lstStyle/>
          <a:p>
            <a:pPr indent="0" marL="0">
              <a:buNone/>
            </a:pPr>
            <a:r>
              <a:rPr lang="en-US" sz="1400" b="1" dirty="0">
                <a:solidFill>
                  <a:srgbClr val="F43F8E"/>
                </a:solidFill>
                <a:latin typeface="Consolas" pitchFamily="34" charset="0"/>
                <a:ea typeface="Consolas" pitchFamily="34" charset="-122"/>
                <a:cs typeface="Consolas" pitchFamily="34" charset="-120"/>
              </a:rPr>
              <a:t>08</a:t>
            </a:r>
            <a:endParaRPr lang="en-US" sz="1400" dirty="0"/>
          </a:p>
        </p:txBody>
      </p:sp>
      <p:sp>
        <p:nvSpPr>
          <p:cNvPr id="5" name="Text 2"/>
          <p:cNvSpPr/>
          <p:nvPr/>
        </p:nvSpPr>
        <p:spPr>
          <a:xfrm>
            <a:off x="1572768" y="713232"/>
            <a:ext cx="6858000" cy="658368"/>
          </a:xfrm>
          <a:prstGeom prst="rect">
            <a:avLst/>
          </a:prstGeom>
          <a:noFill/>
          <a:ln/>
        </p:spPr>
        <p:txBody>
          <a:bodyPr wrap="square" lIns="0" tIns="0" rIns="0" bIns="0" rtlCol="0" anchor="ctr"/>
          <a:lstStyle/>
          <a:p>
            <a:pPr indent="0" marL="0">
              <a:buNone/>
            </a:pPr>
            <a:r>
              <a:rPr lang="en-US" sz="3300" b="1" dirty="0">
                <a:solidFill>
                  <a:srgbClr val="EAF0FF"/>
                </a:solidFill>
                <a:latin typeface="Malgun Gothic" pitchFamily="34" charset="0"/>
                <a:ea typeface="Malgun Gothic" pitchFamily="34" charset="-122"/>
                <a:cs typeface="Malgun Gothic" pitchFamily="34" charset="-120"/>
              </a:rPr>
              <a:t>신뢰</a:t>
            </a:r>
            <a:endParaRPr lang="en-US" sz="3300" dirty="0"/>
          </a:p>
        </p:txBody>
      </p:sp>
      <p:sp>
        <p:nvSpPr>
          <p:cNvPr id="6" name="Text 3"/>
          <p:cNvSpPr/>
          <p:nvPr/>
        </p:nvSpPr>
        <p:spPr>
          <a:xfrm>
            <a:off x="1600200" y="1371600"/>
            <a:ext cx="8229600" cy="292608"/>
          </a:xfrm>
          <a:prstGeom prst="rect">
            <a:avLst/>
          </a:prstGeom>
          <a:noFill/>
          <a:ln/>
        </p:spPr>
        <p:txBody>
          <a:bodyPr wrap="square" lIns="0" tIns="0" rIns="0" bIns="0" rtlCol="0" anchor="ctr"/>
          <a:lstStyle/>
          <a:p>
            <a:pPr indent="0" marL="0">
              <a:buNone/>
            </a:pPr>
            <a:r>
              <a:rPr lang="en-US" sz="1300" dirty="0">
                <a:solidFill>
                  <a:srgbClr val="8493AE"/>
                </a:solidFill>
                <a:latin typeface="Malgun Gothic" pitchFamily="34" charset="0"/>
                <a:ea typeface="Malgun Gothic" pitchFamily="34" charset="-122"/>
                <a:cs typeface="Malgun Gothic" pitchFamily="34" charset="-120"/>
              </a:rPr>
              <a:t>Trust · AI 생성물·계산 증명</a:t>
            </a:r>
            <a:endParaRPr lang="en-US" sz="1300" dirty="0"/>
          </a:p>
        </p:txBody>
      </p:sp>
      <p:sp>
        <p:nvSpPr>
          <p:cNvPr id="7" name="Text 4"/>
          <p:cNvSpPr/>
          <p:nvPr/>
        </p:nvSpPr>
        <p:spPr>
          <a:xfrm>
            <a:off x="1600200" y="1700784"/>
            <a:ext cx="8869680" cy="457200"/>
          </a:xfrm>
          <a:prstGeom prst="rect">
            <a:avLst/>
          </a:prstGeom>
          <a:noFill/>
          <a:ln/>
        </p:spPr>
        <p:txBody>
          <a:bodyPr wrap="square" lIns="0" tIns="0" rIns="0" bIns="0" rtlCol="0" anchor="ctr"/>
          <a:lstStyle/>
          <a:p>
            <a:pPr indent="0" marL="0">
              <a:buNone/>
            </a:pPr>
            <a:r>
              <a:rPr lang="en-US" sz="1350" i="1" dirty="0">
                <a:solidFill>
                  <a:srgbClr val="B7C4DC"/>
                </a:solidFill>
                <a:latin typeface="Malgun Gothic" pitchFamily="34" charset="0"/>
                <a:ea typeface="Malgun Gothic" pitchFamily="34" charset="-122"/>
                <a:cs typeface="Malgun Gothic" pitchFamily="34" charset="-120"/>
              </a:rPr>
              <a:t>AI 결과물의 출처·근거·보안을 '암호로 증명'하는 단계.</a:t>
            </a:r>
            <a:endParaRPr lang="en-US" sz="1350" dirty="0"/>
          </a:p>
        </p:txBody>
      </p:sp>
      <p:pic>
        <p:nvPicPr>
          <p:cNvPr id="8" name="Image 1" descr="assets/loc_trust.png">    </p:cNvPr>
          <p:cNvPicPr>
            <a:picLocks noChangeAspect="1"/>
          </p:cNvPicPr>
          <p:nvPr/>
        </p:nvPicPr>
        <p:blipFill>
          <a:blip r:embed="rId2"/>
          <a:stretch>
            <a:fillRect/>
          </a:stretch>
        </p:blipFill>
        <p:spPr>
          <a:xfrm>
            <a:off x="10972800" y="457200"/>
            <a:ext cx="914400" cy="1600200"/>
          </a:xfrm>
          <a:prstGeom prst="rect">
            <a:avLst/>
          </a:prstGeom>
        </p:spPr>
      </p:pic>
      <p:sp>
        <p:nvSpPr>
          <p:cNvPr id="9" name="Text 5"/>
          <p:cNvSpPr/>
          <p:nvPr/>
        </p:nvSpPr>
        <p:spPr>
          <a:xfrm>
            <a:off x="10607040" y="2075688"/>
            <a:ext cx="1645920" cy="228600"/>
          </a:xfrm>
          <a:prstGeom prst="rect">
            <a:avLst/>
          </a:prstGeom>
          <a:noFill/>
          <a:ln/>
        </p:spPr>
        <p:txBody>
          <a:bodyPr wrap="square" lIns="0" tIns="0" rIns="0" bIns="0" rtlCol="0" anchor="ctr"/>
          <a:lstStyle/>
          <a:p>
            <a:pPr algn="ctr" indent="0" marL="0">
              <a:buNone/>
            </a:pPr>
            <a:r>
              <a:rPr lang="en-US" sz="900" dirty="0">
                <a:solidFill>
                  <a:srgbClr val="8493AE"/>
                </a:solidFill>
                <a:latin typeface="Malgun Gothic" pitchFamily="34" charset="0"/>
                <a:ea typeface="Malgun Gothic" pitchFamily="34" charset="-122"/>
                <a:cs typeface="Malgun Gothic" pitchFamily="34" charset="-120"/>
              </a:rPr>
              <a:t>몸의 위치</a:t>
            </a:r>
            <a:endParaRPr lang="en-US" sz="900" dirty="0"/>
          </a:p>
        </p:txBody>
      </p:sp>
      <p:sp>
        <p:nvSpPr>
          <p:cNvPr id="10" name="Shape 6"/>
          <p:cNvSpPr/>
          <p:nvPr/>
        </p:nvSpPr>
        <p:spPr>
          <a:xfrm>
            <a:off x="548640" y="2331720"/>
            <a:ext cx="5074920" cy="4224528"/>
          </a:xfrm>
          <a:prstGeom prst="roundRect">
            <a:avLst>
              <a:gd name="adj" fmla="val 1948"/>
            </a:avLst>
          </a:prstGeom>
          <a:solidFill>
            <a:srgbClr val="121A2E"/>
          </a:solidFill>
          <a:ln w="12700">
            <a:solidFill>
              <a:srgbClr val="2A3756"/>
            </a:solidFill>
            <a:prstDash val="solid"/>
          </a:ln>
          <a:effectLst>
            <a:outerShdw sx="100000" sy="100000" kx="0" ky="0" algn="bl" rotWithShape="0" blurRad="114300" dist="38100" dir="5400000">
              <a:srgbClr val="000000">
                <a:alpha val="35000"/>
              </a:srgbClr>
            </a:outerShdw>
          </a:effectLst>
        </p:spPr>
      </p:sp>
      <p:sp>
        <p:nvSpPr>
          <p:cNvPr id="11" name="Text 7"/>
          <p:cNvSpPr/>
          <p:nvPr/>
        </p:nvSpPr>
        <p:spPr>
          <a:xfrm>
            <a:off x="822960" y="2542032"/>
            <a:ext cx="4526280" cy="274320"/>
          </a:xfrm>
          <a:prstGeom prst="rect">
            <a:avLst/>
          </a:prstGeom>
          <a:noFill/>
          <a:ln/>
        </p:spPr>
        <p:txBody>
          <a:bodyPr wrap="square" lIns="0" tIns="0" rIns="0" bIns="0" rtlCol="0" anchor="ctr"/>
          <a:lstStyle/>
          <a:p>
            <a:pPr algn="l" indent="0" marL="0">
              <a:buNone/>
            </a:pPr>
            <a:r>
              <a:rPr lang="en-US" sz="1150" b="1" dirty="0">
                <a:solidFill>
                  <a:srgbClr val="F43F8E"/>
                </a:solidFill>
                <a:latin typeface="Malgun Gothic" pitchFamily="34" charset="0"/>
                <a:ea typeface="Malgun Gothic" pitchFamily="34" charset="-122"/>
                <a:cs typeface="Malgun Gothic" pitchFamily="34" charset="-120"/>
              </a:rPr>
              <a:t>쉬운 비유</a:t>
            </a:r>
            <a:endParaRPr lang="en-US" sz="1150" dirty="0"/>
          </a:p>
        </p:txBody>
      </p:sp>
      <p:sp>
        <p:nvSpPr>
          <p:cNvPr id="12" name="Text 8"/>
          <p:cNvSpPr/>
          <p:nvPr/>
        </p:nvSpPr>
        <p:spPr>
          <a:xfrm>
            <a:off x="822960" y="2798064"/>
            <a:ext cx="4526280" cy="365760"/>
          </a:xfrm>
          <a:prstGeom prst="rect">
            <a:avLst/>
          </a:prstGeom>
          <a:noFill/>
          <a:ln/>
        </p:spPr>
        <p:txBody>
          <a:bodyPr wrap="square" lIns="0" tIns="0" rIns="0" bIns="0" rtlCol="0" anchor="ctr"/>
          <a:lstStyle/>
          <a:p>
            <a:pPr indent="0" marL="0">
              <a:buNone/>
            </a:pPr>
            <a:r>
              <a:rPr lang="en-US" sz="1550" b="1" dirty="0">
                <a:solidFill>
                  <a:srgbClr val="EAF0FF"/>
                </a:solidFill>
                <a:latin typeface="Malgun Gothic" pitchFamily="34" charset="0"/>
                <a:ea typeface="Malgun Gothic" pitchFamily="34" charset="-122"/>
                <a:cs typeface="Malgun Gothic" pitchFamily="34" charset="-120"/>
              </a:rPr>
              <a:t>누가 만들었나 → cryptographic 도장</a:t>
            </a:r>
            <a:endParaRPr lang="en-US" sz="1550" dirty="0"/>
          </a:p>
        </p:txBody>
      </p:sp>
      <p:sp>
        <p:nvSpPr>
          <p:cNvPr id="13" name="Text 9"/>
          <p:cNvSpPr/>
          <p:nvPr/>
        </p:nvSpPr>
        <p:spPr>
          <a:xfrm>
            <a:off x="822960" y="3200400"/>
            <a:ext cx="4526280" cy="822960"/>
          </a:xfrm>
          <a:prstGeom prst="rect">
            <a:avLst/>
          </a:prstGeom>
          <a:noFill/>
          <a:ln/>
        </p:spPr>
        <p:txBody>
          <a:bodyPr wrap="square" lIns="0" tIns="0" rIns="0" bIns="0" rtlCol="0" anchor="ctr"/>
          <a:lstStyle/>
          <a:p>
            <a:pPr indent="0" marL="0">
              <a:lnSpc>
                <a:spcPct val="116000"/>
              </a:lnSpc>
              <a:buNone/>
            </a:pPr>
            <a:r>
              <a:rPr lang="en-US" sz="1150" dirty="0">
                <a:solidFill>
                  <a:srgbClr val="B7C4DC"/>
                </a:solidFill>
                <a:latin typeface="Malgun Gothic" pitchFamily="34" charset="0"/>
                <a:ea typeface="Malgun Gothic" pitchFamily="34" charset="-122"/>
                <a:cs typeface="Malgun Gothic" pitchFamily="34" charset="-120"/>
              </a:rPr>
              <a:t>워터마크는 지우개로 지워지는 사인, C2PA·PQC는 위조 불가능한 공인 도장 — '믿어달라'가 아니라 '증명한다'로 바뀝니다.</a:t>
            </a:r>
            <a:endParaRPr lang="en-US" sz="1150" dirty="0"/>
          </a:p>
        </p:txBody>
      </p:sp>
      <p:sp>
        <p:nvSpPr>
          <p:cNvPr id="14" name="Text 10"/>
          <p:cNvSpPr/>
          <p:nvPr/>
        </p:nvSpPr>
        <p:spPr>
          <a:xfrm>
            <a:off x="822960" y="4078224"/>
            <a:ext cx="4526280" cy="274320"/>
          </a:xfrm>
          <a:prstGeom prst="rect">
            <a:avLst/>
          </a:prstGeom>
          <a:noFill/>
          <a:ln/>
        </p:spPr>
        <p:txBody>
          <a:bodyPr wrap="square" lIns="0" tIns="0" rIns="0" bIns="0" rtlCol="0" anchor="ctr"/>
          <a:lstStyle/>
          <a:p>
            <a:pPr algn="l" indent="0" marL="0">
              <a:buNone/>
            </a:pPr>
            <a:r>
              <a:rPr lang="en-US" sz="1150" b="1" dirty="0">
                <a:solidFill>
                  <a:srgbClr val="F43F8E"/>
                </a:solidFill>
                <a:latin typeface="Malgun Gothic" pitchFamily="34" charset="0"/>
                <a:ea typeface="Malgun Gothic" pitchFamily="34" charset="-122"/>
                <a:cs typeface="Malgun Gothic" pitchFamily="34" charset="-120"/>
              </a:rPr>
              <a:t>진화 단계</a:t>
            </a:r>
            <a:endParaRPr lang="en-US" sz="1150" dirty="0"/>
          </a:p>
        </p:txBody>
      </p:sp>
      <p:sp>
        <p:nvSpPr>
          <p:cNvPr id="15" name="Shape 11"/>
          <p:cNvSpPr/>
          <p:nvPr/>
        </p:nvSpPr>
        <p:spPr>
          <a:xfrm>
            <a:off x="822960" y="4425696"/>
            <a:ext cx="118872" cy="118872"/>
          </a:xfrm>
          <a:prstGeom prst="ellipse">
            <a:avLst/>
          </a:prstGeom>
          <a:solidFill>
            <a:srgbClr val="8493AE"/>
          </a:solidFill>
          <a:ln w="15875">
            <a:solidFill>
              <a:srgbClr val="8493AE"/>
            </a:solidFill>
            <a:prstDash val="solid"/>
          </a:ln>
        </p:spPr>
      </p:sp>
      <p:sp>
        <p:nvSpPr>
          <p:cNvPr id="16" name="Text 12"/>
          <p:cNvSpPr/>
          <p:nvPr/>
        </p:nvSpPr>
        <p:spPr>
          <a:xfrm>
            <a:off x="1060704" y="4370832"/>
            <a:ext cx="3291840" cy="292608"/>
          </a:xfrm>
          <a:prstGeom prst="rect">
            <a:avLst/>
          </a:prstGeom>
          <a:noFill/>
          <a:ln/>
        </p:spPr>
        <p:txBody>
          <a:bodyPr wrap="square" lIns="0" tIns="0" rIns="0" bIns="0" rtlCol="0" anchor="ctr"/>
          <a:lstStyle/>
          <a:p>
            <a:pPr indent="0" marL="0">
              <a:buNone/>
            </a:pPr>
            <a:r>
              <a:rPr lang="en-US" sz="1150" dirty="0">
                <a:solidFill>
                  <a:srgbClr val="8493AE"/>
                </a:solidFill>
                <a:latin typeface="Malgun Gothic" pitchFamily="34" charset="0"/>
                <a:ea typeface="Malgun Gothic" pitchFamily="34" charset="-122"/>
                <a:cs typeface="Malgun Gothic" pitchFamily="34" charset="-120"/>
              </a:rPr>
              <a:t>Watermark (제거 가능)</a:t>
            </a:r>
            <a:endParaRPr lang="en-US" sz="1150" dirty="0"/>
          </a:p>
        </p:txBody>
      </p:sp>
      <p:sp>
        <p:nvSpPr>
          <p:cNvPr id="17" name="Text 13"/>
          <p:cNvSpPr/>
          <p:nvPr/>
        </p:nvSpPr>
        <p:spPr>
          <a:xfrm>
            <a:off x="4160520" y="4370832"/>
            <a:ext cx="1188720" cy="292608"/>
          </a:xfrm>
          <a:prstGeom prst="rect">
            <a:avLst/>
          </a:prstGeom>
          <a:noFill/>
          <a:ln/>
        </p:spPr>
        <p:txBody>
          <a:bodyPr wrap="square" lIns="0" tIns="0" rIns="0" bIns="0" rtlCol="0" anchor="ctr"/>
          <a:lstStyle/>
          <a:p>
            <a:pPr algn="r" indent="0" marL="0">
              <a:buNone/>
            </a:pPr>
            <a:r>
              <a:rPr lang="en-US" sz="1000" dirty="0">
                <a:solidFill>
                  <a:srgbClr val="8493AE"/>
                </a:solidFill>
                <a:latin typeface="Consolas" pitchFamily="34" charset="0"/>
                <a:ea typeface="Consolas" pitchFamily="34" charset="-122"/>
                <a:cs typeface="Consolas" pitchFamily="34" charset="-120"/>
              </a:rPr>
              <a:t>~2025</a:t>
            </a:r>
            <a:endParaRPr lang="en-US" sz="1000" dirty="0"/>
          </a:p>
        </p:txBody>
      </p:sp>
      <p:sp>
        <p:nvSpPr>
          <p:cNvPr id="18" name="Shape 14"/>
          <p:cNvSpPr/>
          <p:nvPr/>
        </p:nvSpPr>
        <p:spPr>
          <a:xfrm>
            <a:off x="822960" y="4718304"/>
            <a:ext cx="118872" cy="118872"/>
          </a:xfrm>
          <a:prstGeom prst="ellipse">
            <a:avLst/>
          </a:prstGeom>
          <a:solidFill>
            <a:srgbClr val="F43F8E"/>
          </a:solidFill>
          <a:ln w="15875">
            <a:solidFill>
              <a:srgbClr val="F43F8E"/>
            </a:solidFill>
            <a:prstDash val="solid"/>
          </a:ln>
        </p:spPr>
      </p:sp>
      <p:sp>
        <p:nvSpPr>
          <p:cNvPr id="19" name="Text 15"/>
          <p:cNvSpPr/>
          <p:nvPr/>
        </p:nvSpPr>
        <p:spPr>
          <a:xfrm>
            <a:off x="1060704" y="4663440"/>
            <a:ext cx="3291840" cy="292608"/>
          </a:xfrm>
          <a:prstGeom prst="rect">
            <a:avLst/>
          </a:prstGeom>
          <a:noFill/>
          <a:ln/>
        </p:spPr>
        <p:txBody>
          <a:bodyPr wrap="square" lIns="0" tIns="0" rIns="0" bIns="0" rtlCol="0" anchor="ctr"/>
          <a:lstStyle/>
          <a:p>
            <a:pPr indent="0" marL="0">
              <a:buNone/>
            </a:pPr>
            <a:r>
              <a:rPr lang="en-US" sz="1150" b="1" dirty="0">
                <a:solidFill>
                  <a:srgbClr val="F43F8E"/>
                </a:solidFill>
                <a:latin typeface="Malgun Gothic" pitchFamily="34" charset="0"/>
                <a:ea typeface="Malgun Gothic" pitchFamily="34" charset="-122"/>
                <a:cs typeface="Malgun Gothic" pitchFamily="34" charset="-120"/>
              </a:rPr>
              <a:t>C2PA (출처 증명)</a:t>
            </a:r>
            <a:endParaRPr lang="en-US" sz="1150" dirty="0"/>
          </a:p>
        </p:txBody>
      </p:sp>
      <p:sp>
        <p:nvSpPr>
          <p:cNvPr id="20" name="Text 16"/>
          <p:cNvSpPr/>
          <p:nvPr/>
        </p:nvSpPr>
        <p:spPr>
          <a:xfrm>
            <a:off x="4160520" y="4663440"/>
            <a:ext cx="1188720" cy="292608"/>
          </a:xfrm>
          <a:prstGeom prst="rect">
            <a:avLst/>
          </a:prstGeom>
          <a:noFill/>
          <a:ln/>
        </p:spPr>
        <p:txBody>
          <a:bodyPr wrap="square" lIns="0" tIns="0" rIns="0" bIns="0" rtlCol="0" anchor="ctr"/>
          <a:lstStyle/>
          <a:p>
            <a:pPr algn="r" indent="0" marL="0">
              <a:buNone/>
            </a:pPr>
            <a:r>
              <a:rPr lang="en-US" sz="1000" dirty="0">
                <a:solidFill>
                  <a:srgbClr val="F43F8E"/>
                </a:solidFill>
                <a:latin typeface="Consolas" pitchFamily="34" charset="0"/>
                <a:ea typeface="Consolas" pitchFamily="34" charset="-122"/>
                <a:cs typeface="Consolas" pitchFamily="34" charset="-120"/>
              </a:rPr>
              <a:t>2026  ★</a:t>
            </a:r>
            <a:endParaRPr lang="en-US" sz="1000" dirty="0"/>
          </a:p>
        </p:txBody>
      </p:sp>
      <p:sp>
        <p:nvSpPr>
          <p:cNvPr id="21" name="Shape 17"/>
          <p:cNvSpPr/>
          <p:nvPr/>
        </p:nvSpPr>
        <p:spPr>
          <a:xfrm>
            <a:off x="822960" y="5010912"/>
            <a:ext cx="118872" cy="118872"/>
          </a:xfrm>
          <a:prstGeom prst="ellipse">
            <a:avLst/>
          </a:prstGeom>
          <a:solidFill>
            <a:srgbClr val="F43F8E"/>
          </a:solidFill>
          <a:ln w="15875">
            <a:solidFill>
              <a:srgbClr val="F43F8E"/>
            </a:solidFill>
            <a:prstDash val="solid"/>
          </a:ln>
        </p:spPr>
      </p:sp>
      <p:sp>
        <p:nvSpPr>
          <p:cNvPr id="22" name="Text 18"/>
          <p:cNvSpPr/>
          <p:nvPr/>
        </p:nvSpPr>
        <p:spPr>
          <a:xfrm>
            <a:off x="1060704" y="4956048"/>
            <a:ext cx="3291840" cy="292608"/>
          </a:xfrm>
          <a:prstGeom prst="rect">
            <a:avLst/>
          </a:prstGeom>
          <a:noFill/>
          <a:ln/>
        </p:spPr>
        <p:txBody>
          <a:bodyPr wrap="square" lIns="0" tIns="0" rIns="0" bIns="0" rtlCol="0" anchor="ctr"/>
          <a:lstStyle/>
          <a:p>
            <a:pPr indent="0" marL="0">
              <a:buNone/>
            </a:pPr>
            <a:r>
              <a:rPr lang="en-US" sz="1150" b="1" dirty="0">
                <a:solidFill>
                  <a:srgbClr val="F43F8E"/>
                </a:solidFill>
                <a:latin typeface="Malgun Gothic" pitchFamily="34" charset="0"/>
                <a:ea typeface="Malgun Gothic" pitchFamily="34" charset="-122"/>
                <a:cs typeface="Malgun Gothic" pitchFamily="34" charset="-120"/>
              </a:rPr>
              <a:t>PQC (양자내성 암호)</a:t>
            </a:r>
            <a:endParaRPr lang="en-US" sz="1150" dirty="0"/>
          </a:p>
        </p:txBody>
      </p:sp>
      <p:sp>
        <p:nvSpPr>
          <p:cNvPr id="23" name="Text 19"/>
          <p:cNvSpPr/>
          <p:nvPr/>
        </p:nvSpPr>
        <p:spPr>
          <a:xfrm>
            <a:off x="4160520" y="4956048"/>
            <a:ext cx="1188720" cy="292608"/>
          </a:xfrm>
          <a:prstGeom prst="rect">
            <a:avLst/>
          </a:prstGeom>
          <a:noFill/>
          <a:ln/>
        </p:spPr>
        <p:txBody>
          <a:bodyPr wrap="square" lIns="0" tIns="0" rIns="0" bIns="0" rtlCol="0" anchor="ctr"/>
          <a:lstStyle/>
          <a:p>
            <a:pPr algn="r" indent="0" marL="0">
              <a:buNone/>
            </a:pPr>
            <a:r>
              <a:rPr lang="en-US" sz="1000" dirty="0">
                <a:solidFill>
                  <a:srgbClr val="F43F8E"/>
                </a:solidFill>
                <a:latin typeface="Consolas" pitchFamily="34" charset="0"/>
                <a:ea typeface="Consolas" pitchFamily="34" charset="-122"/>
                <a:cs typeface="Consolas" pitchFamily="34" charset="-120"/>
              </a:rPr>
              <a:t>2026-28  ★</a:t>
            </a:r>
            <a:endParaRPr lang="en-US" sz="1000" dirty="0"/>
          </a:p>
        </p:txBody>
      </p:sp>
      <p:sp>
        <p:nvSpPr>
          <p:cNvPr id="24" name="Shape 20"/>
          <p:cNvSpPr/>
          <p:nvPr/>
        </p:nvSpPr>
        <p:spPr>
          <a:xfrm>
            <a:off x="822960" y="5303520"/>
            <a:ext cx="118872" cy="118872"/>
          </a:xfrm>
          <a:prstGeom prst="ellipse">
            <a:avLst/>
          </a:prstGeom>
          <a:solidFill>
            <a:srgbClr val="0B0F1A"/>
          </a:solidFill>
          <a:ln w="15875">
            <a:solidFill>
              <a:srgbClr val="F43F8E"/>
            </a:solidFill>
            <a:prstDash val="solid"/>
          </a:ln>
        </p:spPr>
      </p:sp>
      <p:sp>
        <p:nvSpPr>
          <p:cNvPr id="25" name="Text 21"/>
          <p:cNvSpPr/>
          <p:nvPr/>
        </p:nvSpPr>
        <p:spPr>
          <a:xfrm>
            <a:off x="1060704" y="5248656"/>
            <a:ext cx="3291840" cy="292608"/>
          </a:xfrm>
          <a:prstGeom prst="rect">
            <a:avLst/>
          </a:prstGeom>
          <a:noFill/>
          <a:ln/>
        </p:spPr>
        <p:txBody>
          <a:bodyPr wrap="square" lIns="0" tIns="0" rIns="0" bIns="0" rtlCol="0" anchor="ctr"/>
          <a:lstStyle/>
          <a:p>
            <a:pPr indent="0" marL="0">
              <a:buNone/>
            </a:pPr>
            <a:r>
              <a:rPr lang="en-US" sz="1150" dirty="0">
                <a:solidFill>
                  <a:srgbClr val="B7C4DC"/>
                </a:solidFill>
                <a:latin typeface="Malgun Gothic" pitchFamily="34" charset="0"/>
                <a:ea typeface="Malgun Gothic" pitchFamily="34" charset="-122"/>
                <a:cs typeface="Malgun Gothic" pitchFamily="34" charset="-120"/>
              </a:rPr>
              <a:t>동형암호·ZKP</a:t>
            </a:r>
            <a:endParaRPr lang="en-US" sz="1150" dirty="0"/>
          </a:p>
        </p:txBody>
      </p:sp>
      <p:sp>
        <p:nvSpPr>
          <p:cNvPr id="26" name="Text 22"/>
          <p:cNvSpPr/>
          <p:nvPr/>
        </p:nvSpPr>
        <p:spPr>
          <a:xfrm>
            <a:off x="4160520" y="5248656"/>
            <a:ext cx="1188720" cy="292608"/>
          </a:xfrm>
          <a:prstGeom prst="rect">
            <a:avLst/>
          </a:prstGeom>
          <a:noFill/>
          <a:ln/>
        </p:spPr>
        <p:txBody>
          <a:bodyPr wrap="square" lIns="0" tIns="0" rIns="0" bIns="0" rtlCol="0" anchor="ctr"/>
          <a:lstStyle/>
          <a:p>
            <a:pPr algn="r" indent="0" marL="0">
              <a:buNone/>
            </a:pPr>
            <a:r>
              <a:rPr lang="en-US" sz="1000" dirty="0">
                <a:solidFill>
                  <a:srgbClr val="8493AE"/>
                </a:solidFill>
                <a:latin typeface="Consolas" pitchFamily="34" charset="0"/>
                <a:ea typeface="Consolas" pitchFamily="34" charset="-122"/>
                <a:cs typeface="Consolas" pitchFamily="34" charset="-120"/>
              </a:rPr>
              <a:t>2028+</a:t>
            </a:r>
            <a:endParaRPr lang="en-US" sz="1000" dirty="0"/>
          </a:p>
        </p:txBody>
      </p:sp>
      <p:sp>
        <p:nvSpPr>
          <p:cNvPr id="27" name="Text 23"/>
          <p:cNvSpPr/>
          <p:nvPr/>
        </p:nvSpPr>
        <p:spPr>
          <a:xfrm>
            <a:off x="822960" y="5870448"/>
            <a:ext cx="4526280" cy="274320"/>
          </a:xfrm>
          <a:prstGeom prst="rect">
            <a:avLst/>
          </a:prstGeom>
          <a:noFill/>
          <a:ln/>
        </p:spPr>
        <p:txBody>
          <a:bodyPr wrap="square" lIns="0" tIns="0" rIns="0" bIns="0" rtlCol="0" anchor="ctr"/>
          <a:lstStyle/>
          <a:p>
            <a:pPr algn="l" indent="0" marL="0">
              <a:buNone/>
            </a:pPr>
            <a:r>
              <a:rPr lang="en-US" sz="1150" b="1" dirty="0">
                <a:solidFill>
                  <a:srgbClr val="F43F8E"/>
                </a:solidFill>
                <a:latin typeface="Malgun Gothic" pitchFamily="34" charset="0"/>
                <a:ea typeface="Malgun Gothic" pitchFamily="34" charset="-122"/>
                <a:cs typeface="Malgun Gothic" pitchFamily="34" charset="-120"/>
              </a:rPr>
              <a:t>대표 기업</a:t>
            </a:r>
            <a:endParaRPr lang="en-US" sz="1150" dirty="0"/>
          </a:p>
        </p:txBody>
      </p:sp>
      <p:sp>
        <p:nvSpPr>
          <p:cNvPr id="28" name="Text 24"/>
          <p:cNvSpPr/>
          <p:nvPr/>
        </p:nvSpPr>
        <p:spPr>
          <a:xfrm>
            <a:off x="822960" y="6108192"/>
            <a:ext cx="4526280" cy="384048"/>
          </a:xfrm>
          <a:prstGeom prst="rect">
            <a:avLst/>
          </a:prstGeom>
          <a:noFill/>
          <a:ln/>
        </p:spPr>
        <p:txBody>
          <a:bodyPr wrap="square" lIns="0" tIns="0" rIns="0" bIns="0" rtlCol="0" anchor="ctr"/>
          <a:lstStyle/>
          <a:p>
            <a:pPr indent="0" marL="0">
              <a:lnSpc>
                <a:spcPct val="105000"/>
              </a:lnSpc>
              <a:buNone/>
            </a:pPr>
            <a:r>
              <a:rPr lang="en-US" sz="1000" dirty="0">
                <a:solidFill>
                  <a:srgbClr val="B7C4DC"/>
                </a:solidFill>
                <a:latin typeface="Malgun Gothic" pitchFamily="34" charset="0"/>
                <a:ea typeface="Malgun Gothic" pitchFamily="34" charset="-122"/>
                <a:cs typeface="Malgun Gothic" pitchFamily="34" charset="-120"/>
              </a:rPr>
              <a:t>Adobe C2PA, NIST FIPS 203/204/205, 주요 클라우드 보안 벤더</a:t>
            </a:r>
            <a:endParaRPr lang="en-US" sz="1000" dirty="0"/>
          </a:p>
        </p:txBody>
      </p:sp>
      <p:sp>
        <p:nvSpPr>
          <p:cNvPr id="29" name="Text 25"/>
          <p:cNvSpPr/>
          <p:nvPr/>
        </p:nvSpPr>
        <p:spPr>
          <a:xfrm>
            <a:off x="5897880" y="2395728"/>
            <a:ext cx="5742432" cy="274320"/>
          </a:xfrm>
          <a:prstGeom prst="rect">
            <a:avLst/>
          </a:prstGeom>
          <a:noFill/>
          <a:ln/>
        </p:spPr>
        <p:txBody>
          <a:bodyPr wrap="square" lIns="0" tIns="0" rIns="0" bIns="0" rtlCol="0" anchor="ctr"/>
          <a:lstStyle/>
          <a:p>
            <a:pPr algn="l" indent="0" marL="0">
              <a:buNone/>
            </a:pPr>
            <a:r>
              <a:rPr lang="en-US" sz="1150" b="1" dirty="0">
                <a:solidFill>
                  <a:srgbClr val="F43F8E"/>
                </a:solidFill>
                <a:latin typeface="Malgun Gothic" pitchFamily="34" charset="0"/>
                <a:ea typeface="Malgun Gothic" pitchFamily="34" charset="-122"/>
                <a:cs typeface="Malgun Gothic" pitchFamily="34" charset="-120"/>
              </a:rPr>
              <a:t>왜 필요한가</a:t>
            </a:r>
            <a:endParaRPr lang="en-US" sz="1150" dirty="0"/>
          </a:p>
        </p:txBody>
      </p:sp>
      <p:sp>
        <p:nvSpPr>
          <p:cNvPr id="30" name="Text 26"/>
          <p:cNvSpPr/>
          <p:nvPr/>
        </p:nvSpPr>
        <p:spPr>
          <a:xfrm>
            <a:off x="5897880" y="2651760"/>
            <a:ext cx="5742432" cy="1143000"/>
          </a:xfrm>
          <a:prstGeom prst="rect">
            <a:avLst/>
          </a:prstGeom>
          <a:noFill/>
          <a:ln/>
        </p:spPr>
        <p:txBody>
          <a:bodyPr wrap="square" lIns="0" tIns="0" rIns="0" bIns="0" rtlCol="0" anchor="ctr"/>
          <a:lstStyle/>
          <a:p>
            <a:pPr indent="0" marL="0">
              <a:lnSpc>
                <a:spcPct val="122000"/>
              </a:lnSpc>
              <a:buNone/>
            </a:pPr>
            <a:r>
              <a:rPr lang="en-US" sz="1250" dirty="0">
                <a:solidFill>
                  <a:srgbClr val="B7C4DC"/>
                </a:solidFill>
                <a:latin typeface="Malgun Gothic" pitchFamily="34" charset="0"/>
                <a:ea typeface="Malgun Gothic" pitchFamily="34" charset="-122"/>
                <a:cs typeface="Malgun Gothic" pitchFamily="34" charset="-120"/>
              </a:rPr>
              <a:t>AI가 가짜 영상·문서를 쏟아내면서 '누가, 무엇으로 만들었나'를 못 믿게 됐습니다. 게다가 양자컴퓨터가 곧 기존 암호를 깰 수 있어, 출처 증명(C2PA)과 양자내성 암호(PQC)가 동시에 급해졌습니다.</a:t>
            </a:r>
            <a:endParaRPr lang="en-US" sz="1250" dirty="0"/>
          </a:p>
        </p:txBody>
      </p:sp>
      <p:sp>
        <p:nvSpPr>
          <p:cNvPr id="31" name="Text 27"/>
          <p:cNvSpPr/>
          <p:nvPr/>
        </p:nvSpPr>
        <p:spPr>
          <a:xfrm>
            <a:off x="5897880" y="3931920"/>
            <a:ext cx="5742432" cy="274320"/>
          </a:xfrm>
          <a:prstGeom prst="rect">
            <a:avLst/>
          </a:prstGeom>
          <a:noFill/>
          <a:ln/>
        </p:spPr>
        <p:txBody>
          <a:bodyPr wrap="square" lIns="0" tIns="0" rIns="0" bIns="0" rtlCol="0" anchor="ctr"/>
          <a:lstStyle/>
          <a:p>
            <a:pPr algn="l" indent="0" marL="0">
              <a:buNone/>
            </a:pPr>
            <a:r>
              <a:rPr lang="en-US" sz="1150" b="1" dirty="0">
                <a:solidFill>
                  <a:srgbClr val="F43F8E"/>
                </a:solidFill>
                <a:latin typeface="Malgun Gothic" pitchFamily="34" charset="0"/>
                <a:ea typeface="Malgun Gothic" pitchFamily="34" charset="-122"/>
                <a:cs typeface="Malgun Gothic" pitchFamily="34" charset="-120"/>
              </a:rPr>
              <a:t>핵심 기술</a:t>
            </a:r>
            <a:endParaRPr lang="en-US" sz="1150" dirty="0"/>
          </a:p>
        </p:txBody>
      </p:sp>
      <p:sp>
        <p:nvSpPr>
          <p:cNvPr id="32" name="Text 28"/>
          <p:cNvSpPr/>
          <p:nvPr/>
        </p:nvSpPr>
        <p:spPr>
          <a:xfrm>
            <a:off x="5897880" y="4187952"/>
            <a:ext cx="5742432" cy="777240"/>
          </a:xfrm>
          <a:prstGeom prst="rect">
            <a:avLst/>
          </a:prstGeom>
          <a:noFill/>
          <a:ln/>
        </p:spPr>
        <p:txBody>
          <a:bodyPr wrap="square" lIns="0" tIns="0" rIns="0" bIns="0" rtlCol="0" anchor="ctr"/>
          <a:lstStyle/>
          <a:p>
            <a:pPr indent="0" marL="0">
              <a:lnSpc>
                <a:spcPct val="125000"/>
              </a:lnSpc>
              <a:buNone/>
            </a:pPr>
            <a:r>
              <a:rPr lang="en-US" sz="1200" dirty="0">
                <a:solidFill>
                  <a:srgbClr val="B7C4DC"/>
                </a:solidFill>
                <a:latin typeface="Malgun Gothic" pitchFamily="34" charset="0"/>
                <a:ea typeface="Malgun Gothic" pitchFamily="34" charset="-122"/>
                <a:cs typeface="Malgun Gothic" pitchFamily="34" charset="-120"/>
              </a:rPr>
              <a:t>XAI   ·   C2PA   ·   AI Governance   ·   AI Audit   ·   Confidential Computing   ·   PET   ·   PQC   ·   Zero Trust</a:t>
            </a:r>
            <a:endParaRPr lang="en-US" sz="1200" dirty="0"/>
          </a:p>
        </p:txBody>
      </p:sp>
      <p:sp>
        <p:nvSpPr>
          <p:cNvPr id="33" name="Text 29"/>
          <p:cNvSpPr/>
          <p:nvPr/>
        </p:nvSpPr>
        <p:spPr>
          <a:xfrm>
            <a:off x="5897880" y="5074920"/>
            <a:ext cx="5742432" cy="274320"/>
          </a:xfrm>
          <a:prstGeom prst="rect">
            <a:avLst/>
          </a:prstGeom>
          <a:noFill/>
          <a:ln/>
        </p:spPr>
        <p:txBody>
          <a:bodyPr wrap="square" lIns="0" tIns="0" rIns="0" bIns="0" rtlCol="0" anchor="ctr"/>
          <a:lstStyle/>
          <a:p>
            <a:pPr algn="l" indent="0" marL="0">
              <a:buNone/>
            </a:pPr>
            <a:r>
              <a:rPr lang="en-US" sz="1150" b="1" dirty="0">
                <a:solidFill>
                  <a:srgbClr val="F43F8E"/>
                </a:solidFill>
                <a:latin typeface="Malgun Gothic" pitchFamily="34" charset="0"/>
                <a:ea typeface="Malgun Gothic" pitchFamily="34" charset="-122"/>
                <a:cs typeface="Malgun Gothic" pitchFamily="34" charset="-120"/>
              </a:rPr>
              <a:t>2035 전망</a:t>
            </a:r>
            <a:endParaRPr lang="en-US" sz="1150" dirty="0"/>
          </a:p>
        </p:txBody>
      </p:sp>
      <p:sp>
        <p:nvSpPr>
          <p:cNvPr id="34" name="Text 30"/>
          <p:cNvSpPr/>
          <p:nvPr/>
        </p:nvSpPr>
        <p:spPr>
          <a:xfrm>
            <a:off x="5897880" y="5330952"/>
            <a:ext cx="5742432" cy="1188720"/>
          </a:xfrm>
          <a:prstGeom prst="rect">
            <a:avLst/>
          </a:prstGeom>
          <a:noFill/>
          <a:ln/>
        </p:spPr>
        <p:txBody>
          <a:bodyPr wrap="square" lIns="0" tIns="0" rIns="0" bIns="0" rtlCol="0" anchor="ctr"/>
          <a:lstStyle/>
          <a:p>
            <a:pPr indent="0" marL="0">
              <a:lnSpc>
                <a:spcPct val="122000"/>
              </a:lnSpc>
              <a:buNone/>
            </a:pPr>
            <a:r>
              <a:rPr lang="en-US" sz="1250" dirty="0">
                <a:solidFill>
                  <a:srgbClr val="B7C4DC"/>
                </a:solidFill>
                <a:latin typeface="Malgun Gothic" pitchFamily="34" charset="0"/>
                <a:ea typeface="Malgun Gothic" pitchFamily="34" charset="-122"/>
                <a:cs typeface="Malgun Gothic" pitchFamily="34" charset="-120"/>
              </a:rPr>
              <a:t>콘텐츠·모델·의사결정 모두에 '검증 가능한 증적'이 기본으로 붙고, 기관 시스템은 PQC로 재무장한 Zero Trust가 표준이 됩니다.</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548640" y="502920"/>
            <a:ext cx="868680" cy="868680"/>
          </a:xfrm>
          <a:prstGeom prst="ellipse">
            <a:avLst/>
          </a:prstGeom>
          <a:solidFill>
            <a:srgbClr val="18223A"/>
          </a:solidFill>
          <a:ln w="22225">
            <a:solidFill>
              <a:srgbClr val="4DB8FF"/>
            </a:solidFill>
            <a:prstDash val="solid"/>
          </a:ln>
        </p:spPr>
      </p:sp>
      <p:pic>
        <p:nvPicPr>
          <p:cNvPr id="3" name="Image 0" descr="assets/icon_agency.png">    </p:cNvPr>
          <p:cNvPicPr>
            <a:picLocks noChangeAspect="1"/>
          </p:cNvPicPr>
          <p:nvPr/>
        </p:nvPicPr>
        <p:blipFill>
          <a:blip r:embed="rId1"/>
          <a:stretch>
            <a:fillRect/>
          </a:stretch>
        </p:blipFill>
        <p:spPr>
          <a:xfrm>
            <a:off x="713689" y="667969"/>
            <a:ext cx="538582" cy="538582"/>
          </a:xfrm>
          <a:prstGeom prst="rect">
            <a:avLst/>
          </a:prstGeom>
        </p:spPr>
      </p:pic>
      <p:sp>
        <p:nvSpPr>
          <p:cNvPr id="4" name="Text 1"/>
          <p:cNvSpPr/>
          <p:nvPr/>
        </p:nvSpPr>
        <p:spPr>
          <a:xfrm>
            <a:off x="1600200" y="475488"/>
            <a:ext cx="2743200" cy="292608"/>
          </a:xfrm>
          <a:prstGeom prst="rect">
            <a:avLst/>
          </a:prstGeom>
          <a:noFill/>
          <a:ln/>
        </p:spPr>
        <p:txBody>
          <a:bodyPr wrap="square" lIns="0" tIns="0" rIns="0" bIns="0" rtlCol="0" anchor="ctr"/>
          <a:lstStyle/>
          <a:p>
            <a:pPr indent="0" marL="0">
              <a:buNone/>
            </a:pPr>
            <a:r>
              <a:rPr lang="en-US" sz="1400" b="1" dirty="0">
                <a:solidFill>
                  <a:srgbClr val="4DB8FF"/>
                </a:solidFill>
                <a:latin typeface="Consolas" pitchFamily="34" charset="0"/>
                <a:ea typeface="Consolas" pitchFamily="34" charset="-122"/>
                <a:cs typeface="Consolas" pitchFamily="34" charset="-120"/>
              </a:rPr>
              <a:t>09</a:t>
            </a:r>
            <a:endParaRPr lang="en-US" sz="1400" dirty="0"/>
          </a:p>
        </p:txBody>
      </p:sp>
      <p:sp>
        <p:nvSpPr>
          <p:cNvPr id="5" name="Text 2"/>
          <p:cNvSpPr/>
          <p:nvPr/>
        </p:nvSpPr>
        <p:spPr>
          <a:xfrm>
            <a:off x="1572768" y="713232"/>
            <a:ext cx="6858000" cy="658368"/>
          </a:xfrm>
          <a:prstGeom prst="rect">
            <a:avLst/>
          </a:prstGeom>
          <a:noFill/>
          <a:ln/>
        </p:spPr>
        <p:txBody>
          <a:bodyPr wrap="square" lIns="0" tIns="0" rIns="0" bIns="0" rtlCol="0" anchor="ctr"/>
          <a:lstStyle/>
          <a:p>
            <a:pPr indent="0" marL="0">
              <a:buNone/>
            </a:pPr>
            <a:r>
              <a:rPr lang="en-US" sz="3300" b="1" dirty="0">
                <a:solidFill>
                  <a:srgbClr val="EAF0FF"/>
                </a:solidFill>
                <a:latin typeface="Malgun Gothic" pitchFamily="34" charset="0"/>
                <a:ea typeface="Malgun Gothic" pitchFamily="34" charset="-122"/>
                <a:cs typeface="Malgun Gothic" pitchFamily="34" charset="-120"/>
              </a:rPr>
              <a:t>행위</a:t>
            </a:r>
            <a:endParaRPr lang="en-US" sz="3300" dirty="0"/>
          </a:p>
        </p:txBody>
      </p:sp>
      <p:sp>
        <p:nvSpPr>
          <p:cNvPr id="6" name="Text 3"/>
          <p:cNvSpPr/>
          <p:nvPr/>
        </p:nvSpPr>
        <p:spPr>
          <a:xfrm>
            <a:off x="1600200" y="1371600"/>
            <a:ext cx="8229600" cy="292608"/>
          </a:xfrm>
          <a:prstGeom prst="rect">
            <a:avLst/>
          </a:prstGeom>
          <a:noFill/>
          <a:ln/>
        </p:spPr>
        <p:txBody>
          <a:bodyPr wrap="square" lIns="0" tIns="0" rIns="0" bIns="0" rtlCol="0" anchor="ctr"/>
          <a:lstStyle/>
          <a:p>
            <a:pPr indent="0" marL="0">
              <a:buNone/>
            </a:pPr>
            <a:r>
              <a:rPr lang="en-US" sz="1300" dirty="0">
                <a:solidFill>
                  <a:srgbClr val="8493AE"/>
                </a:solidFill>
                <a:latin typeface="Malgun Gothic" pitchFamily="34" charset="0"/>
                <a:ea typeface="Malgun Gothic" pitchFamily="34" charset="-122"/>
                <a:cs typeface="Malgun Gothic" pitchFamily="34" charset="-120"/>
              </a:rPr>
              <a:t>Agency · AI가 스스로 일하고 협업</a:t>
            </a:r>
            <a:endParaRPr lang="en-US" sz="1300" dirty="0"/>
          </a:p>
        </p:txBody>
      </p:sp>
      <p:sp>
        <p:nvSpPr>
          <p:cNvPr id="7" name="Text 4"/>
          <p:cNvSpPr/>
          <p:nvPr/>
        </p:nvSpPr>
        <p:spPr>
          <a:xfrm>
            <a:off x="1600200" y="1700784"/>
            <a:ext cx="8869680" cy="457200"/>
          </a:xfrm>
          <a:prstGeom prst="rect">
            <a:avLst/>
          </a:prstGeom>
          <a:noFill/>
          <a:ln/>
        </p:spPr>
        <p:txBody>
          <a:bodyPr wrap="square" lIns="0" tIns="0" rIns="0" bIns="0" rtlCol="0" anchor="ctr"/>
          <a:lstStyle/>
          <a:p>
            <a:pPr indent="0" marL="0">
              <a:buNone/>
            </a:pPr>
            <a:r>
              <a:rPr lang="en-US" sz="1350" i="1" dirty="0">
                <a:solidFill>
                  <a:srgbClr val="B7C4DC"/>
                </a:solidFill>
                <a:latin typeface="Malgun Gothic" pitchFamily="34" charset="0"/>
                <a:ea typeface="Malgun Gothic" pitchFamily="34" charset="-122"/>
                <a:cs typeface="Malgun Gothic" pitchFamily="34" charset="-120"/>
              </a:rPr>
              <a:t>AI가 '대답'을 넘어 도구를 쓰고, 여러 AI가 팀으로 일하는 단계.</a:t>
            </a:r>
            <a:endParaRPr lang="en-US" sz="1350" dirty="0"/>
          </a:p>
        </p:txBody>
      </p:sp>
      <p:pic>
        <p:nvPicPr>
          <p:cNvPr id="8" name="Image 1" descr="assets/loc_agency.png">    </p:cNvPr>
          <p:cNvPicPr>
            <a:picLocks noChangeAspect="1"/>
          </p:cNvPicPr>
          <p:nvPr/>
        </p:nvPicPr>
        <p:blipFill>
          <a:blip r:embed="rId2"/>
          <a:stretch>
            <a:fillRect/>
          </a:stretch>
        </p:blipFill>
        <p:spPr>
          <a:xfrm>
            <a:off x="10972800" y="457200"/>
            <a:ext cx="914400" cy="1600200"/>
          </a:xfrm>
          <a:prstGeom prst="rect">
            <a:avLst/>
          </a:prstGeom>
        </p:spPr>
      </p:pic>
      <p:sp>
        <p:nvSpPr>
          <p:cNvPr id="9" name="Text 5"/>
          <p:cNvSpPr/>
          <p:nvPr/>
        </p:nvSpPr>
        <p:spPr>
          <a:xfrm>
            <a:off x="10607040" y="2075688"/>
            <a:ext cx="1645920" cy="228600"/>
          </a:xfrm>
          <a:prstGeom prst="rect">
            <a:avLst/>
          </a:prstGeom>
          <a:noFill/>
          <a:ln/>
        </p:spPr>
        <p:txBody>
          <a:bodyPr wrap="square" lIns="0" tIns="0" rIns="0" bIns="0" rtlCol="0" anchor="ctr"/>
          <a:lstStyle/>
          <a:p>
            <a:pPr algn="ctr" indent="0" marL="0">
              <a:buNone/>
            </a:pPr>
            <a:r>
              <a:rPr lang="en-US" sz="900" dirty="0">
                <a:solidFill>
                  <a:srgbClr val="8493AE"/>
                </a:solidFill>
                <a:latin typeface="Malgun Gothic" pitchFamily="34" charset="0"/>
                <a:ea typeface="Malgun Gothic" pitchFamily="34" charset="-122"/>
                <a:cs typeface="Malgun Gothic" pitchFamily="34" charset="-120"/>
              </a:rPr>
              <a:t>몸의 위치</a:t>
            </a:r>
            <a:endParaRPr lang="en-US" sz="900" dirty="0"/>
          </a:p>
        </p:txBody>
      </p:sp>
      <p:sp>
        <p:nvSpPr>
          <p:cNvPr id="10" name="Shape 6"/>
          <p:cNvSpPr/>
          <p:nvPr/>
        </p:nvSpPr>
        <p:spPr>
          <a:xfrm>
            <a:off x="548640" y="2331720"/>
            <a:ext cx="5074920" cy="4224528"/>
          </a:xfrm>
          <a:prstGeom prst="roundRect">
            <a:avLst>
              <a:gd name="adj" fmla="val 1948"/>
            </a:avLst>
          </a:prstGeom>
          <a:solidFill>
            <a:srgbClr val="121A2E"/>
          </a:solidFill>
          <a:ln w="12700">
            <a:solidFill>
              <a:srgbClr val="2A3756"/>
            </a:solidFill>
            <a:prstDash val="solid"/>
          </a:ln>
          <a:effectLst>
            <a:outerShdw sx="100000" sy="100000" kx="0" ky="0" algn="bl" rotWithShape="0" blurRad="114300" dist="38100" dir="5400000">
              <a:srgbClr val="000000">
                <a:alpha val="35000"/>
              </a:srgbClr>
            </a:outerShdw>
          </a:effectLst>
        </p:spPr>
      </p:sp>
      <p:sp>
        <p:nvSpPr>
          <p:cNvPr id="11" name="Text 7"/>
          <p:cNvSpPr/>
          <p:nvPr/>
        </p:nvSpPr>
        <p:spPr>
          <a:xfrm>
            <a:off x="822960" y="2542032"/>
            <a:ext cx="4526280" cy="274320"/>
          </a:xfrm>
          <a:prstGeom prst="rect">
            <a:avLst/>
          </a:prstGeom>
          <a:noFill/>
          <a:ln/>
        </p:spPr>
        <p:txBody>
          <a:bodyPr wrap="square" lIns="0" tIns="0" rIns="0" bIns="0" rtlCol="0" anchor="ctr"/>
          <a:lstStyle/>
          <a:p>
            <a:pPr algn="l" indent="0" marL="0">
              <a:buNone/>
            </a:pPr>
            <a:r>
              <a:rPr lang="en-US" sz="1150" b="1" dirty="0">
                <a:solidFill>
                  <a:srgbClr val="4DB8FF"/>
                </a:solidFill>
                <a:latin typeface="Malgun Gothic" pitchFamily="34" charset="0"/>
                <a:ea typeface="Malgun Gothic" pitchFamily="34" charset="-122"/>
                <a:cs typeface="Malgun Gothic" pitchFamily="34" charset="-120"/>
              </a:rPr>
              <a:t>쉬운 비유</a:t>
            </a:r>
            <a:endParaRPr lang="en-US" sz="1150" dirty="0"/>
          </a:p>
        </p:txBody>
      </p:sp>
      <p:sp>
        <p:nvSpPr>
          <p:cNvPr id="12" name="Text 8"/>
          <p:cNvSpPr/>
          <p:nvPr/>
        </p:nvSpPr>
        <p:spPr>
          <a:xfrm>
            <a:off x="822960" y="2798064"/>
            <a:ext cx="4526280" cy="365760"/>
          </a:xfrm>
          <a:prstGeom prst="rect">
            <a:avLst/>
          </a:prstGeom>
          <a:noFill/>
          <a:ln/>
        </p:spPr>
        <p:txBody>
          <a:bodyPr wrap="square" lIns="0" tIns="0" rIns="0" bIns="0" rtlCol="0" anchor="ctr"/>
          <a:lstStyle/>
          <a:p>
            <a:pPr indent="0" marL="0">
              <a:buNone/>
            </a:pPr>
            <a:r>
              <a:rPr lang="en-US" sz="1550" b="1" dirty="0">
                <a:solidFill>
                  <a:srgbClr val="EAF0FF"/>
                </a:solidFill>
                <a:latin typeface="Malgun Gothic" pitchFamily="34" charset="0"/>
                <a:ea typeface="Malgun Gothic" pitchFamily="34" charset="-122"/>
                <a:cs typeface="Malgun Gothic" pitchFamily="34" charset="-120"/>
              </a:rPr>
              <a:t>혼자 → 팀 → AI Society</a:t>
            </a:r>
            <a:endParaRPr lang="en-US" sz="1550" dirty="0"/>
          </a:p>
        </p:txBody>
      </p:sp>
      <p:sp>
        <p:nvSpPr>
          <p:cNvPr id="13" name="Text 9"/>
          <p:cNvSpPr/>
          <p:nvPr/>
        </p:nvSpPr>
        <p:spPr>
          <a:xfrm>
            <a:off x="822960" y="3200400"/>
            <a:ext cx="4526280" cy="822960"/>
          </a:xfrm>
          <a:prstGeom prst="rect">
            <a:avLst/>
          </a:prstGeom>
          <a:noFill/>
          <a:ln/>
        </p:spPr>
        <p:txBody>
          <a:bodyPr wrap="square" lIns="0" tIns="0" rIns="0" bIns="0" rtlCol="0" anchor="ctr"/>
          <a:lstStyle/>
          <a:p>
            <a:pPr indent="0" marL="0">
              <a:lnSpc>
                <a:spcPct val="116000"/>
              </a:lnSpc>
              <a:buNone/>
            </a:pPr>
            <a:r>
              <a:rPr lang="en-US" sz="1150" dirty="0">
                <a:solidFill>
                  <a:srgbClr val="B7C4DC"/>
                </a:solidFill>
                <a:latin typeface="Malgun Gothic" pitchFamily="34" charset="0"/>
                <a:ea typeface="Malgun Gothic" pitchFamily="34" charset="-122"/>
                <a:cs typeface="Malgun Gothic" pitchFamily="34" charset="-120"/>
              </a:rPr>
              <a:t>단일 LLM은 혼자 답하는 사람, Multi-Agent는 기획·실행·검수가 나뉜 팀, AI Society는 그 팀들이 모인 작은 사회입니다.</a:t>
            </a:r>
            <a:endParaRPr lang="en-US" sz="1150" dirty="0"/>
          </a:p>
        </p:txBody>
      </p:sp>
      <p:sp>
        <p:nvSpPr>
          <p:cNvPr id="14" name="Text 10"/>
          <p:cNvSpPr/>
          <p:nvPr/>
        </p:nvSpPr>
        <p:spPr>
          <a:xfrm>
            <a:off x="822960" y="4078224"/>
            <a:ext cx="4526280" cy="274320"/>
          </a:xfrm>
          <a:prstGeom prst="rect">
            <a:avLst/>
          </a:prstGeom>
          <a:noFill/>
          <a:ln/>
        </p:spPr>
        <p:txBody>
          <a:bodyPr wrap="square" lIns="0" tIns="0" rIns="0" bIns="0" rtlCol="0" anchor="ctr"/>
          <a:lstStyle/>
          <a:p>
            <a:pPr algn="l" indent="0" marL="0">
              <a:buNone/>
            </a:pPr>
            <a:r>
              <a:rPr lang="en-US" sz="1150" b="1" dirty="0">
                <a:solidFill>
                  <a:srgbClr val="4DB8FF"/>
                </a:solidFill>
                <a:latin typeface="Malgun Gothic" pitchFamily="34" charset="0"/>
                <a:ea typeface="Malgun Gothic" pitchFamily="34" charset="-122"/>
                <a:cs typeface="Malgun Gothic" pitchFamily="34" charset="-120"/>
              </a:rPr>
              <a:t>진화 단계</a:t>
            </a:r>
            <a:endParaRPr lang="en-US" sz="1150" dirty="0"/>
          </a:p>
        </p:txBody>
      </p:sp>
      <p:sp>
        <p:nvSpPr>
          <p:cNvPr id="15" name="Shape 11"/>
          <p:cNvSpPr/>
          <p:nvPr/>
        </p:nvSpPr>
        <p:spPr>
          <a:xfrm>
            <a:off x="822960" y="4425696"/>
            <a:ext cx="118872" cy="118872"/>
          </a:xfrm>
          <a:prstGeom prst="ellipse">
            <a:avLst/>
          </a:prstGeom>
          <a:solidFill>
            <a:srgbClr val="8493AE"/>
          </a:solidFill>
          <a:ln w="15875">
            <a:solidFill>
              <a:srgbClr val="8493AE"/>
            </a:solidFill>
            <a:prstDash val="solid"/>
          </a:ln>
        </p:spPr>
      </p:sp>
      <p:sp>
        <p:nvSpPr>
          <p:cNvPr id="16" name="Text 12"/>
          <p:cNvSpPr/>
          <p:nvPr/>
        </p:nvSpPr>
        <p:spPr>
          <a:xfrm>
            <a:off x="1060704" y="4370832"/>
            <a:ext cx="3291840" cy="292608"/>
          </a:xfrm>
          <a:prstGeom prst="rect">
            <a:avLst/>
          </a:prstGeom>
          <a:noFill/>
          <a:ln/>
        </p:spPr>
        <p:txBody>
          <a:bodyPr wrap="square" lIns="0" tIns="0" rIns="0" bIns="0" rtlCol="0" anchor="ctr"/>
          <a:lstStyle/>
          <a:p>
            <a:pPr indent="0" marL="0">
              <a:buNone/>
            </a:pPr>
            <a:r>
              <a:rPr lang="en-US" sz="1150" dirty="0">
                <a:solidFill>
                  <a:srgbClr val="8493AE"/>
                </a:solidFill>
                <a:latin typeface="Malgun Gothic" pitchFamily="34" charset="0"/>
                <a:ea typeface="Malgun Gothic" pitchFamily="34" charset="-122"/>
                <a:cs typeface="Malgun Gothic" pitchFamily="34" charset="-120"/>
              </a:rPr>
              <a:t>단일 LLM (ChatGPT)</a:t>
            </a:r>
            <a:endParaRPr lang="en-US" sz="1150" dirty="0"/>
          </a:p>
        </p:txBody>
      </p:sp>
      <p:sp>
        <p:nvSpPr>
          <p:cNvPr id="17" name="Text 13"/>
          <p:cNvSpPr/>
          <p:nvPr/>
        </p:nvSpPr>
        <p:spPr>
          <a:xfrm>
            <a:off x="4160520" y="4370832"/>
            <a:ext cx="1188720" cy="292608"/>
          </a:xfrm>
          <a:prstGeom prst="rect">
            <a:avLst/>
          </a:prstGeom>
          <a:noFill/>
          <a:ln/>
        </p:spPr>
        <p:txBody>
          <a:bodyPr wrap="square" lIns="0" tIns="0" rIns="0" bIns="0" rtlCol="0" anchor="ctr"/>
          <a:lstStyle/>
          <a:p>
            <a:pPr algn="r" indent="0" marL="0">
              <a:buNone/>
            </a:pPr>
            <a:r>
              <a:rPr lang="en-US" sz="1000" dirty="0">
                <a:solidFill>
                  <a:srgbClr val="8493AE"/>
                </a:solidFill>
                <a:latin typeface="Consolas" pitchFamily="34" charset="0"/>
                <a:ea typeface="Consolas" pitchFamily="34" charset="-122"/>
                <a:cs typeface="Consolas" pitchFamily="34" charset="-120"/>
              </a:rPr>
              <a:t>~2024</a:t>
            </a:r>
            <a:endParaRPr lang="en-US" sz="1000" dirty="0"/>
          </a:p>
        </p:txBody>
      </p:sp>
      <p:sp>
        <p:nvSpPr>
          <p:cNvPr id="18" name="Shape 14"/>
          <p:cNvSpPr/>
          <p:nvPr/>
        </p:nvSpPr>
        <p:spPr>
          <a:xfrm>
            <a:off x="822960" y="4718304"/>
            <a:ext cx="118872" cy="118872"/>
          </a:xfrm>
          <a:prstGeom prst="ellipse">
            <a:avLst/>
          </a:prstGeom>
          <a:solidFill>
            <a:srgbClr val="4DB8FF"/>
          </a:solidFill>
          <a:ln w="15875">
            <a:solidFill>
              <a:srgbClr val="4DB8FF"/>
            </a:solidFill>
            <a:prstDash val="solid"/>
          </a:ln>
        </p:spPr>
      </p:sp>
      <p:sp>
        <p:nvSpPr>
          <p:cNvPr id="19" name="Text 15"/>
          <p:cNvSpPr/>
          <p:nvPr/>
        </p:nvSpPr>
        <p:spPr>
          <a:xfrm>
            <a:off x="1060704" y="4663440"/>
            <a:ext cx="3291840" cy="292608"/>
          </a:xfrm>
          <a:prstGeom prst="rect">
            <a:avLst/>
          </a:prstGeom>
          <a:noFill/>
          <a:ln/>
        </p:spPr>
        <p:txBody>
          <a:bodyPr wrap="square" lIns="0" tIns="0" rIns="0" bIns="0" rtlCol="0" anchor="ctr"/>
          <a:lstStyle/>
          <a:p>
            <a:pPr indent="0" marL="0">
              <a:buNone/>
            </a:pPr>
            <a:r>
              <a:rPr lang="en-US" sz="1150" b="1" dirty="0">
                <a:solidFill>
                  <a:srgbClr val="4DB8FF"/>
                </a:solidFill>
                <a:latin typeface="Malgun Gothic" pitchFamily="34" charset="0"/>
                <a:ea typeface="Malgun Gothic" pitchFamily="34" charset="-122"/>
                <a:cs typeface="Malgun Gothic" pitchFamily="34" charset="-120"/>
              </a:rPr>
              <a:t>Multi-agent (team)</a:t>
            </a:r>
            <a:endParaRPr lang="en-US" sz="1150" dirty="0"/>
          </a:p>
        </p:txBody>
      </p:sp>
      <p:sp>
        <p:nvSpPr>
          <p:cNvPr id="20" name="Text 16"/>
          <p:cNvSpPr/>
          <p:nvPr/>
        </p:nvSpPr>
        <p:spPr>
          <a:xfrm>
            <a:off x="4160520" y="4663440"/>
            <a:ext cx="1188720" cy="292608"/>
          </a:xfrm>
          <a:prstGeom prst="rect">
            <a:avLst/>
          </a:prstGeom>
          <a:noFill/>
          <a:ln/>
        </p:spPr>
        <p:txBody>
          <a:bodyPr wrap="square" lIns="0" tIns="0" rIns="0" bIns="0" rtlCol="0" anchor="ctr"/>
          <a:lstStyle/>
          <a:p>
            <a:pPr algn="r" indent="0" marL="0">
              <a:buNone/>
            </a:pPr>
            <a:r>
              <a:rPr lang="en-US" sz="1000" dirty="0">
                <a:solidFill>
                  <a:srgbClr val="4DB8FF"/>
                </a:solidFill>
                <a:latin typeface="Consolas" pitchFamily="34" charset="0"/>
                <a:ea typeface="Consolas" pitchFamily="34" charset="-122"/>
                <a:cs typeface="Consolas" pitchFamily="34" charset="-120"/>
              </a:rPr>
              <a:t>2026  ★</a:t>
            </a:r>
            <a:endParaRPr lang="en-US" sz="1000" dirty="0"/>
          </a:p>
        </p:txBody>
      </p:sp>
      <p:sp>
        <p:nvSpPr>
          <p:cNvPr id="21" name="Shape 17"/>
          <p:cNvSpPr/>
          <p:nvPr/>
        </p:nvSpPr>
        <p:spPr>
          <a:xfrm>
            <a:off x="822960" y="5010912"/>
            <a:ext cx="118872" cy="118872"/>
          </a:xfrm>
          <a:prstGeom prst="ellipse">
            <a:avLst/>
          </a:prstGeom>
          <a:solidFill>
            <a:srgbClr val="4DB8FF"/>
          </a:solidFill>
          <a:ln w="15875">
            <a:solidFill>
              <a:srgbClr val="4DB8FF"/>
            </a:solidFill>
            <a:prstDash val="solid"/>
          </a:ln>
        </p:spPr>
      </p:sp>
      <p:sp>
        <p:nvSpPr>
          <p:cNvPr id="22" name="Text 18"/>
          <p:cNvSpPr/>
          <p:nvPr/>
        </p:nvSpPr>
        <p:spPr>
          <a:xfrm>
            <a:off x="1060704" y="4956048"/>
            <a:ext cx="3291840" cy="292608"/>
          </a:xfrm>
          <a:prstGeom prst="rect">
            <a:avLst/>
          </a:prstGeom>
          <a:noFill/>
          <a:ln/>
        </p:spPr>
        <p:txBody>
          <a:bodyPr wrap="square" lIns="0" tIns="0" rIns="0" bIns="0" rtlCol="0" anchor="ctr"/>
          <a:lstStyle/>
          <a:p>
            <a:pPr indent="0" marL="0">
              <a:buNone/>
            </a:pPr>
            <a:r>
              <a:rPr lang="en-US" sz="1150" b="1" dirty="0">
                <a:solidFill>
                  <a:srgbClr val="4DB8FF"/>
                </a:solidFill>
                <a:latin typeface="Malgun Gothic" pitchFamily="34" charset="0"/>
                <a:ea typeface="Malgun Gothic" pitchFamily="34" charset="-122"/>
                <a:cs typeface="Malgun Gothic" pitchFamily="34" charset="-120"/>
              </a:rPr>
              <a:t>Autonomous agent</a:t>
            </a:r>
            <a:endParaRPr lang="en-US" sz="1150" dirty="0"/>
          </a:p>
        </p:txBody>
      </p:sp>
      <p:sp>
        <p:nvSpPr>
          <p:cNvPr id="23" name="Text 19"/>
          <p:cNvSpPr/>
          <p:nvPr/>
        </p:nvSpPr>
        <p:spPr>
          <a:xfrm>
            <a:off x="4160520" y="4956048"/>
            <a:ext cx="1188720" cy="292608"/>
          </a:xfrm>
          <a:prstGeom prst="rect">
            <a:avLst/>
          </a:prstGeom>
          <a:noFill/>
          <a:ln/>
        </p:spPr>
        <p:txBody>
          <a:bodyPr wrap="square" lIns="0" tIns="0" rIns="0" bIns="0" rtlCol="0" anchor="ctr"/>
          <a:lstStyle/>
          <a:p>
            <a:pPr algn="r" indent="0" marL="0">
              <a:buNone/>
            </a:pPr>
            <a:r>
              <a:rPr lang="en-US" sz="1000" dirty="0">
                <a:solidFill>
                  <a:srgbClr val="4DB8FF"/>
                </a:solidFill>
                <a:latin typeface="Consolas" pitchFamily="34" charset="0"/>
                <a:ea typeface="Consolas" pitchFamily="34" charset="-122"/>
                <a:cs typeface="Consolas" pitchFamily="34" charset="-120"/>
              </a:rPr>
              <a:t>2026-27  ★</a:t>
            </a:r>
            <a:endParaRPr lang="en-US" sz="1000" dirty="0"/>
          </a:p>
        </p:txBody>
      </p:sp>
      <p:sp>
        <p:nvSpPr>
          <p:cNvPr id="24" name="Shape 20"/>
          <p:cNvSpPr/>
          <p:nvPr/>
        </p:nvSpPr>
        <p:spPr>
          <a:xfrm>
            <a:off x="822960" y="5303520"/>
            <a:ext cx="118872" cy="118872"/>
          </a:xfrm>
          <a:prstGeom prst="ellipse">
            <a:avLst/>
          </a:prstGeom>
          <a:solidFill>
            <a:srgbClr val="0B0F1A"/>
          </a:solidFill>
          <a:ln w="15875">
            <a:solidFill>
              <a:srgbClr val="4DB8FF"/>
            </a:solidFill>
            <a:prstDash val="solid"/>
          </a:ln>
        </p:spPr>
      </p:sp>
      <p:sp>
        <p:nvSpPr>
          <p:cNvPr id="25" name="Text 21"/>
          <p:cNvSpPr/>
          <p:nvPr/>
        </p:nvSpPr>
        <p:spPr>
          <a:xfrm>
            <a:off x="1060704" y="5248656"/>
            <a:ext cx="3291840" cy="292608"/>
          </a:xfrm>
          <a:prstGeom prst="rect">
            <a:avLst/>
          </a:prstGeom>
          <a:noFill/>
          <a:ln/>
        </p:spPr>
        <p:txBody>
          <a:bodyPr wrap="square" lIns="0" tIns="0" rIns="0" bIns="0" rtlCol="0" anchor="ctr"/>
          <a:lstStyle/>
          <a:p>
            <a:pPr indent="0" marL="0">
              <a:buNone/>
            </a:pPr>
            <a:r>
              <a:rPr lang="en-US" sz="1150" dirty="0">
                <a:solidFill>
                  <a:srgbClr val="B7C4DC"/>
                </a:solidFill>
                <a:latin typeface="Malgun Gothic" pitchFamily="34" charset="0"/>
                <a:ea typeface="Malgun Gothic" pitchFamily="34" charset="-122"/>
                <a:cs typeface="Malgun Gothic" pitchFamily="34" charset="-120"/>
              </a:rPr>
              <a:t>AI Society</a:t>
            </a:r>
            <a:endParaRPr lang="en-US" sz="1150" dirty="0"/>
          </a:p>
        </p:txBody>
      </p:sp>
      <p:sp>
        <p:nvSpPr>
          <p:cNvPr id="26" name="Text 22"/>
          <p:cNvSpPr/>
          <p:nvPr/>
        </p:nvSpPr>
        <p:spPr>
          <a:xfrm>
            <a:off x="4160520" y="5248656"/>
            <a:ext cx="1188720" cy="292608"/>
          </a:xfrm>
          <a:prstGeom prst="rect">
            <a:avLst/>
          </a:prstGeom>
          <a:noFill/>
          <a:ln/>
        </p:spPr>
        <p:txBody>
          <a:bodyPr wrap="square" lIns="0" tIns="0" rIns="0" bIns="0" rtlCol="0" anchor="ctr"/>
          <a:lstStyle/>
          <a:p>
            <a:pPr algn="r" indent="0" marL="0">
              <a:buNone/>
            </a:pPr>
            <a:r>
              <a:rPr lang="en-US" sz="1000" dirty="0">
                <a:solidFill>
                  <a:srgbClr val="8493AE"/>
                </a:solidFill>
                <a:latin typeface="Consolas" pitchFamily="34" charset="0"/>
                <a:ea typeface="Consolas" pitchFamily="34" charset="-122"/>
                <a:cs typeface="Consolas" pitchFamily="34" charset="-120"/>
              </a:rPr>
              <a:t>2028+</a:t>
            </a:r>
            <a:endParaRPr lang="en-US" sz="1000" dirty="0"/>
          </a:p>
        </p:txBody>
      </p:sp>
      <p:sp>
        <p:nvSpPr>
          <p:cNvPr id="27" name="Text 23"/>
          <p:cNvSpPr/>
          <p:nvPr/>
        </p:nvSpPr>
        <p:spPr>
          <a:xfrm>
            <a:off x="822960" y="5870448"/>
            <a:ext cx="4526280" cy="274320"/>
          </a:xfrm>
          <a:prstGeom prst="rect">
            <a:avLst/>
          </a:prstGeom>
          <a:noFill/>
          <a:ln/>
        </p:spPr>
        <p:txBody>
          <a:bodyPr wrap="square" lIns="0" tIns="0" rIns="0" bIns="0" rtlCol="0" anchor="ctr"/>
          <a:lstStyle/>
          <a:p>
            <a:pPr algn="l" indent="0" marL="0">
              <a:buNone/>
            </a:pPr>
            <a:r>
              <a:rPr lang="en-US" sz="1150" b="1" dirty="0">
                <a:solidFill>
                  <a:srgbClr val="4DB8FF"/>
                </a:solidFill>
                <a:latin typeface="Malgun Gothic" pitchFamily="34" charset="0"/>
                <a:ea typeface="Malgun Gothic" pitchFamily="34" charset="-122"/>
                <a:cs typeface="Malgun Gothic" pitchFamily="34" charset="-120"/>
              </a:rPr>
              <a:t>대표 기업</a:t>
            </a:r>
            <a:endParaRPr lang="en-US" sz="1150" dirty="0"/>
          </a:p>
        </p:txBody>
      </p:sp>
      <p:sp>
        <p:nvSpPr>
          <p:cNvPr id="28" name="Text 24"/>
          <p:cNvSpPr/>
          <p:nvPr/>
        </p:nvSpPr>
        <p:spPr>
          <a:xfrm>
            <a:off x="822960" y="6108192"/>
            <a:ext cx="4526280" cy="384048"/>
          </a:xfrm>
          <a:prstGeom prst="rect">
            <a:avLst/>
          </a:prstGeom>
          <a:noFill/>
          <a:ln/>
        </p:spPr>
        <p:txBody>
          <a:bodyPr wrap="square" lIns="0" tIns="0" rIns="0" bIns="0" rtlCol="0" anchor="ctr"/>
          <a:lstStyle/>
          <a:p>
            <a:pPr indent="0" marL="0">
              <a:lnSpc>
                <a:spcPct val="105000"/>
              </a:lnSpc>
              <a:buNone/>
            </a:pPr>
            <a:r>
              <a:rPr lang="en-US" sz="1000" dirty="0">
                <a:solidFill>
                  <a:srgbClr val="B7C4DC"/>
                </a:solidFill>
                <a:latin typeface="Malgun Gothic" pitchFamily="34" charset="0"/>
                <a:ea typeface="Malgun Gothic" pitchFamily="34" charset="-122"/>
                <a:cs typeface="Malgun Gothic" pitchFamily="34" charset="-120"/>
              </a:rPr>
              <a:t>Anthropic Claude Code, OpenAI Swarm, Microsoft AutoGen</a:t>
            </a:r>
            <a:endParaRPr lang="en-US" sz="1000" dirty="0"/>
          </a:p>
        </p:txBody>
      </p:sp>
      <p:sp>
        <p:nvSpPr>
          <p:cNvPr id="29" name="Text 25"/>
          <p:cNvSpPr/>
          <p:nvPr/>
        </p:nvSpPr>
        <p:spPr>
          <a:xfrm>
            <a:off x="5897880" y="2395728"/>
            <a:ext cx="5742432" cy="274320"/>
          </a:xfrm>
          <a:prstGeom prst="rect">
            <a:avLst/>
          </a:prstGeom>
          <a:noFill/>
          <a:ln/>
        </p:spPr>
        <p:txBody>
          <a:bodyPr wrap="square" lIns="0" tIns="0" rIns="0" bIns="0" rtlCol="0" anchor="ctr"/>
          <a:lstStyle/>
          <a:p>
            <a:pPr algn="l" indent="0" marL="0">
              <a:buNone/>
            </a:pPr>
            <a:r>
              <a:rPr lang="en-US" sz="1150" b="1" dirty="0">
                <a:solidFill>
                  <a:srgbClr val="4DB8FF"/>
                </a:solidFill>
                <a:latin typeface="Malgun Gothic" pitchFamily="34" charset="0"/>
                <a:ea typeface="Malgun Gothic" pitchFamily="34" charset="-122"/>
                <a:cs typeface="Malgun Gothic" pitchFamily="34" charset="-120"/>
              </a:rPr>
              <a:t>왜 필요한가</a:t>
            </a:r>
            <a:endParaRPr lang="en-US" sz="1150" dirty="0"/>
          </a:p>
        </p:txBody>
      </p:sp>
      <p:sp>
        <p:nvSpPr>
          <p:cNvPr id="30" name="Text 26"/>
          <p:cNvSpPr/>
          <p:nvPr/>
        </p:nvSpPr>
        <p:spPr>
          <a:xfrm>
            <a:off x="5897880" y="2651760"/>
            <a:ext cx="5742432" cy="1143000"/>
          </a:xfrm>
          <a:prstGeom prst="rect">
            <a:avLst/>
          </a:prstGeom>
          <a:noFill/>
          <a:ln/>
        </p:spPr>
        <p:txBody>
          <a:bodyPr wrap="square" lIns="0" tIns="0" rIns="0" bIns="0" rtlCol="0" anchor="ctr"/>
          <a:lstStyle/>
          <a:p>
            <a:pPr indent="0" marL="0">
              <a:lnSpc>
                <a:spcPct val="122000"/>
              </a:lnSpc>
              <a:buNone/>
            </a:pPr>
            <a:r>
              <a:rPr lang="en-US" sz="1250" dirty="0">
                <a:solidFill>
                  <a:srgbClr val="B7C4DC"/>
                </a:solidFill>
                <a:latin typeface="Malgun Gothic" pitchFamily="34" charset="0"/>
                <a:ea typeface="Malgun Gothic" pitchFamily="34" charset="-122"/>
                <a:cs typeface="Malgun Gothic" pitchFamily="34" charset="-120"/>
              </a:rPr>
              <a:t>진짜 일은 '말'이 아니라 '실행'입니다. AI가 도구를 직접 호출하고(Tool Calling), 역할을 나눠 협업하면(Multi-Agent) 업무 한 건을 끝까지 처리합니다. Gartner는 이 분야를 가장 공격적인 채택 곡선으로 봅니다.</a:t>
            </a:r>
            <a:endParaRPr lang="en-US" sz="1250" dirty="0"/>
          </a:p>
        </p:txBody>
      </p:sp>
      <p:sp>
        <p:nvSpPr>
          <p:cNvPr id="31" name="Text 27"/>
          <p:cNvSpPr/>
          <p:nvPr/>
        </p:nvSpPr>
        <p:spPr>
          <a:xfrm>
            <a:off x="5897880" y="3931920"/>
            <a:ext cx="5742432" cy="274320"/>
          </a:xfrm>
          <a:prstGeom prst="rect">
            <a:avLst/>
          </a:prstGeom>
          <a:noFill/>
          <a:ln/>
        </p:spPr>
        <p:txBody>
          <a:bodyPr wrap="square" lIns="0" tIns="0" rIns="0" bIns="0" rtlCol="0" anchor="ctr"/>
          <a:lstStyle/>
          <a:p>
            <a:pPr algn="l" indent="0" marL="0">
              <a:buNone/>
            </a:pPr>
            <a:r>
              <a:rPr lang="en-US" sz="1150" b="1" dirty="0">
                <a:solidFill>
                  <a:srgbClr val="4DB8FF"/>
                </a:solidFill>
                <a:latin typeface="Malgun Gothic" pitchFamily="34" charset="0"/>
                <a:ea typeface="Malgun Gothic" pitchFamily="34" charset="-122"/>
                <a:cs typeface="Malgun Gothic" pitchFamily="34" charset="-120"/>
              </a:rPr>
              <a:t>핵심 기술</a:t>
            </a:r>
            <a:endParaRPr lang="en-US" sz="1150" dirty="0"/>
          </a:p>
        </p:txBody>
      </p:sp>
      <p:sp>
        <p:nvSpPr>
          <p:cNvPr id="32" name="Text 28"/>
          <p:cNvSpPr/>
          <p:nvPr/>
        </p:nvSpPr>
        <p:spPr>
          <a:xfrm>
            <a:off x="5897880" y="4187952"/>
            <a:ext cx="5742432" cy="777240"/>
          </a:xfrm>
          <a:prstGeom prst="rect">
            <a:avLst/>
          </a:prstGeom>
          <a:noFill/>
          <a:ln/>
        </p:spPr>
        <p:txBody>
          <a:bodyPr wrap="square" lIns="0" tIns="0" rIns="0" bIns="0" rtlCol="0" anchor="ctr"/>
          <a:lstStyle/>
          <a:p>
            <a:pPr indent="0" marL="0">
              <a:lnSpc>
                <a:spcPct val="125000"/>
              </a:lnSpc>
              <a:buNone/>
            </a:pPr>
            <a:r>
              <a:rPr lang="en-US" sz="1200" dirty="0">
                <a:solidFill>
                  <a:srgbClr val="B7C4DC"/>
                </a:solidFill>
                <a:latin typeface="Malgun Gothic" pitchFamily="34" charset="0"/>
                <a:ea typeface="Malgun Gothic" pitchFamily="34" charset="-122"/>
                <a:cs typeface="Malgun Gothic" pitchFamily="34" charset="-120"/>
              </a:rPr>
              <a:t>Tool / Function Calling   ·   Workflow   ·   Agent   ·   Multi-Agent   ·   Autonomous Agent   ·   MCP   ·   A2A   ·   Orchestrator/Planner/Executor   ·   Browser Agent   ·   RPA vs Agent</a:t>
            </a:r>
            <a:endParaRPr lang="en-US" sz="1200" dirty="0"/>
          </a:p>
        </p:txBody>
      </p:sp>
      <p:sp>
        <p:nvSpPr>
          <p:cNvPr id="33" name="Text 29"/>
          <p:cNvSpPr/>
          <p:nvPr/>
        </p:nvSpPr>
        <p:spPr>
          <a:xfrm>
            <a:off x="5897880" y="5074920"/>
            <a:ext cx="5742432" cy="274320"/>
          </a:xfrm>
          <a:prstGeom prst="rect">
            <a:avLst/>
          </a:prstGeom>
          <a:noFill/>
          <a:ln/>
        </p:spPr>
        <p:txBody>
          <a:bodyPr wrap="square" lIns="0" tIns="0" rIns="0" bIns="0" rtlCol="0" anchor="ctr"/>
          <a:lstStyle/>
          <a:p>
            <a:pPr algn="l" indent="0" marL="0">
              <a:buNone/>
            </a:pPr>
            <a:r>
              <a:rPr lang="en-US" sz="1150" b="1" dirty="0">
                <a:solidFill>
                  <a:srgbClr val="4DB8FF"/>
                </a:solidFill>
                <a:latin typeface="Malgun Gothic" pitchFamily="34" charset="0"/>
                <a:ea typeface="Malgun Gothic" pitchFamily="34" charset="-122"/>
                <a:cs typeface="Malgun Gothic" pitchFamily="34" charset="-120"/>
              </a:rPr>
              <a:t>2035 전망</a:t>
            </a:r>
            <a:endParaRPr lang="en-US" sz="1150" dirty="0"/>
          </a:p>
        </p:txBody>
      </p:sp>
      <p:sp>
        <p:nvSpPr>
          <p:cNvPr id="34" name="Text 30"/>
          <p:cNvSpPr/>
          <p:nvPr/>
        </p:nvSpPr>
        <p:spPr>
          <a:xfrm>
            <a:off x="5897880" y="5330952"/>
            <a:ext cx="5742432" cy="1188720"/>
          </a:xfrm>
          <a:prstGeom prst="rect">
            <a:avLst/>
          </a:prstGeom>
          <a:noFill/>
          <a:ln/>
        </p:spPr>
        <p:txBody>
          <a:bodyPr wrap="square" lIns="0" tIns="0" rIns="0" bIns="0" rtlCol="0" anchor="ctr"/>
          <a:lstStyle/>
          <a:p>
            <a:pPr indent="0" marL="0">
              <a:lnSpc>
                <a:spcPct val="122000"/>
              </a:lnSpc>
              <a:buNone/>
            </a:pPr>
            <a:r>
              <a:rPr lang="en-US" sz="1250" dirty="0">
                <a:solidFill>
                  <a:srgbClr val="B7C4DC"/>
                </a:solidFill>
                <a:latin typeface="Malgun Gothic" pitchFamily="34" charset="0"/>
                <a:ea typeface="Malgun Gothic" pitchFamily="34" charset="-122"/>
                <a:cs typeface="Malgun Gothic" pitchFamily="34" charset="-120"/>
              </a:rPr>
              <a:t>대부분의 디지털 업무는 사람 1명이 여러 에이전트 팀을 '감독'하는 형태로 바뀌고, MCP·A2A 같은 표준 위에서 에이전트들이 서로 일을 주고받습니다.</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548640" y="502920"/>
            <a:ext cx="868680" cy="868680"/>
          </a:xfrm>
          <a:prstGeom prst="ellipse">
            <a:avLst/>
          </a:prstGeom>
          <a:solidFill>
            <a:srgbClr val="18223A"/>
          </a:solidFill>
          <a:ln w="22225">
            <a:solidFill>
              <a:srgbClr val="D24BFF"/>
            </a:solidFill>
            <a:prstDash val="solid"/>
          </a:ln>
        </p:spPr>
      </p:sp>
      <p:pic>
        <p:nvPicPr>
          <p:cNvPr id="3" name="Image 0" descr="assets/icon_embodiment.png">    </p:cNvPr>
          <p:cNvPicPr>
            <a:picLocks noChangeAspect="1"/>
          </p:cNvPicPr>
          <p:nvPr/>
        </p:nvPicPr>
        <p:blipFill>
          <a:blip r:embed="rId1"/>
          <a:stretch>
            <a:fillRect/>
          </a:stretch>
        </p:blipFill>
        <p:spPr>
          <a:xfrm>
            <a:off x="713689" y="667969"/>
            <a:ext cx="538582" cy="538582"/>
          </a:xfrm>
          <a:prstGeom prst="rect">
            <a:avLst/>
          </a:prstGeom>
        </p:spPr>
      </p:pic>
      <p:sp>
        <p:nvSpPr>
          <p:cNvPr id="4" name="Text 1"/>
          <p:cNvSpPr/>
          <p:nvPr/>
        </p:nvSpPr>
        <p:spPr>
          <a:xfrm>
            <a:off x="1600200" y="475488"/>
            <a:ext cx="2743200" cy="292608"/>
          </a:xfrm>
          <a:prstGeom prst="rect">
            <a:avLst/>
          </a:prstGeom>
          <a:noFill/>
          <a:ln/>
        </p:spPr>
        <p:txBody>
          <a:bodyPr wrap="square" lIns="0" tIns="0" rIns="0" bIns="0" rtlCol="0" anchor="ctr"/>
          <a:lstStyle/>
          <a:p>
            <a:pPr indent="0" marL="0">
              <a:buNone/>
            </a:pPr>
            <a:r>
              <a:rPr lang="en-US" sz="1400" b="1" dirty="0">
                <a:solidFill>
                  <a:srgbClr val="D24BFF"/>
                </a:solidFill>
                <a:latin typeface="Consolas" pitchFamily="34" charset="0"/>
                <a:ea typeface="Consolas" pitchFamily="34" charset="-122"/>
                <a:cs typeface="Consolas" pitchFamily="34" charset="-120"/>
              </a:rPr>
              <a:t>10</a:t>
            </a:r>
            <a:endParaRPr lang="en-US" sz="1400" dirty="0"/>
          </a:p>
        </p:txBody>
      </p:sp>
      <p:sp>
        <p:nvSpPr>
          <p:cNvPr id="5" name="Text 2"/>
          <p:cNvSpPr/>
          <p:nvPr/>
        </p:nvSpPr>
        <p:spPr>
          <a:xfrm>
            <a:off x="1572768" y="713232"/>
            <a:ext cx="6858000" cy="658368"/>
          </a:xfrm>
          <a:prstGeom prst="rect">
            <a:avLst/>
          </a:prstGeom>
          <a:noFill/>
          <a:ln/>
        </p:spPr>
        <p:txBody>
          <a:bodyPr wrap="square" lIns="0" tIns="0" rIns="0" bIns="0" rtlCol="0" anchor="ctr"/>
          <a:lstStyle/>
          <a:p>
            <a:pPr indent="0" marL="0">
              <a:buNone/>
            </a:pPr>
            <a:r>
              <a:rPr lang="en-US" sz="3300" b="1" dirty="0">
                <a:solidFill>
                  <a:srgbClr val="EAF0FF"/>
                </a:solidFill>
                <a:latin typeface="Malgun Gothic" pitchFamily="34" charset="0"/>
                <a:ea typeface="Malgun Gothic" pitchFamily="34" charset="-122"/>
                <a:cs typeface="Malgun Gothic" pitchFamily="34" charset="-120"/>
              </a:rPr>
              <a:t>체화</a:t>
            </a:r>
            <a:endParaRPr lang="en-US" sz="3300" dirty="0"/>
          </a:p>
        </p:txBody>
      </p:sp>
      <p:sp>
        <p:nvSpPr>
          <p:cNvPr id="6" name="Text 3"/>
          <p:cNvSpPr/>
          <p:nvPr/>
        </p:nvSpPr>
        <p:spPr>
          <a:xfrm>
            <a:off x="1600200" y="1371600"/>
            <a:ext cx="8229600" cy="292608"/>
          </a:xfrm>
          <a:prstGeom prst="rect">
            <a:avLst/>
          </a:prstGeom>
          <a:noFill/>
          <a:ln/>
        </p:spPr>
        <p:txBody>
          <a:bodyPr wrap="square" lIns="0" tIns="0" rIns="0" bIns="0" rtlCol="0" anchor="ctr"/>
          <a:lstStyle/>
          <a:p>
            <a:pPr indent="0" marL="0">
              <a:buNone/>
            </a:pPr>
            <a:r>
              <a:rPr lang="en-US" sz="1300" dirty="0">
                <a:solidFill>
                  <a:srgbClr val="8493AE"/>
                </a:solidFill>
                <a:latin typeface="Malgun Gothic" pitchFamily="34" charset="0"/>
                <a:ea typeface="Malgun Gothic" pitchFamily="34" charset="-122"/>
                <a:cs typeface="Malgun Gothic" pitchFamily="34" charset="-120"/>
              </a:rPr>
              <a:t>Embodiment · AI가 몸을 얻는다</a:t>
            </a:r>
            <a:endParaRPr lang="en-US" sz="1300" dirty="0"/>
          </a:p>
        </p:txBody>
      </p:sp>
      <p:sp>
        <p:nvSpPr>
          <p:cNvPr id="7" name="Text 4"/>
          <p:cNvSpPr/>
          <p:nvPr/>
        </p:nvSpPr>
        <p:spPr>
          <a:xfrm>
            <a:off x="1600200" y="1700784"/>
            <a:ext cx="8869680" cy="457200"/>
          </a:xfrm>
          <a:prstGeom prst="rect">
            <a:avLst/>
          </a:prstGeom>
          <a:noFill/>
          <a:ln/>
        </p:spPr>
        <p:txBody>
          <a:bodyPr wrap="square" lIns="0" tIns="0" rIns="0" bIns="0" rtlCol="0" anchor="ctr"/>
          <a:lstStyle/>
          <a:p>
            <a:pPr indent="0" marL="0">
              <a:buNone/>
            </a:pPr>
            <a:r>
              <a:rPr lang="en-US" sz="1350" i="1" dirty="0">
                <a:solidFill>
                  <a:srgbClr val="B7C4DC"/>
                </a:solidFill>
                <a:latin typeface="Malgun Gothic" pitchFamily="34" charset="0"/>
                <a:ea typeface="Malgun Gothic" pitchFamily="34" charset="-122"/>
                <a:cs typeface="Malgun Gothic" pitchFamily="34" charset="-120"/>
              </a:rPr>
              <a:t>화면 속 AI가 로봇이라는 '몸'을 얻어 물리세계로 나오는 단계.</a:t>
            </a:r>
            <a:endParaRPr lang="en-US" sz="1350" dirty="0"/>
          </a:p>
        </p:txBody>
      </p:sp>
      <p:pic>
        <p:nvPicPr>
          <p:cNvPr id="8" name="Image 1" descr="assets/loc_embodiment.png">    </p:cNvPr>
          <p:cNvPicPr>
            <a:picLocks noChangeAspect="1"/>
          </p:cNvPicPr>
          <p:nvPr/>
        </p:nvPicPr>
        <p:blipFill>
          <a:blip r:embed="rId2"/>
          <a:stretch>
            <a:fillRect/>
          </a:stretch>
        </p:blipFill>
        <p:spPr>
          <a:xfrm>
            <a:off x="10972800" y="457200"/>
            <a:ext cx="914400" cy="1600200"/>
          </a:xfrm>
          <a:prstGeom prst="rect">
            <a:avLst/>
          </a:prstGeom>
        </p:spPr>
      </p:pic>
      <p:sp>
        <p:nvSpPr>
          <p:cNvPr id="9" name="Text 5"/>
          <p:cNvSpPr/>
          <p:nvPr/>
        </p:nvSpPr>
        <p:spPr>
          <a:xfrm>
            <a:off x="10607040" y="2075688"/>
            <a:ext cx="1645920" cy="228600"/>
          </a:xfrm>
          <a:prstGeom prst="rect">
            <a:avLst/>
          </a:prstGeom>
          <a:noFill/>
          <a:ln/>
        </p:spPr>
        <p:txBody>
          <a:bodyPr wrap="square" lIns="0" tIns="0" rIns="0" bIns="0" rtlCol="0" anchor="ctr"/>
          <a:lstStyle/>
          <a:p>
            <a:pPr algn="ctr" indent="0" marL="0">
              <a:buNone/>
            </a:pPr>
            <a:r>
              <a:rPr lang="en-US" sz="900" dirty="0">
                <a:solidFill>
                  <a:srgbClr val="8493AE"/>
                </a:solidFill>
                <a:latin typeface="Malgun Gothic" pitchFamily="34" charset="0"/>
                <a:ea typeface="Malgun Gothic" pitchFamily="34" charset="-122"/>
                <a:cs typeface="Malgun Gothic" pitchFamily="34" charset="-120"/>
              </a:rPr>
              <a:t>몸의 위치</a:t>
            </a:r>
            <a:endParaRPr lang="en-US" sz="900" dirty="0"/>
          </a:p>
        </p:txBody>
      </p:sp>
      <p:sp>
        <p:nvSpPr>
          <p:cNvPr id="10" name="Shape 6"/>
          <p:cNvSpPr/>
          <p:nvPr/>
        </p:nvSpPr>
        <p:spPr>
          <a:xfrm>
            <a:off x="548640" y="2331720"/>
            <a:ext cx="5074920" cy="4224528"/>
          </a:xfrm>
          <a:prstGeom prst="roundRect">
            <a:avLst>
              <a:gd name="adj" fmla="val 1948"/>
            </a:avLst>
          </a:prstGeom>
          <a:solidFill>
            <a:srgbClr val="121A2E"/>
          </a:solidFill>
          <a:ln w="12700">
            <a:solidFill>
              <a:srgbClr val="2A3756"/>
            </a:solidFill>
            <a:prstDash val="solid"/>
          </a:ln>
          <a:effectLst>
            <a:outerShdw sx="100000" sy="100000" kx="0" ky="0" algn="bl" rotWithShape="0" blurRad="114300" dist="38100" dir="5400000">
              <a:srgbClr val="000000">
                <a:alpha val="35000"/>
              </a:srgbClr>
            </a:outerShdw>
          </a:effectLst>
        </p:spPr>
      </p:sp>
      <p:sp>
        <p:nvSpPr>
          <p:cNvPr id="11" name="Text 7"/>
          <p:cNvSpPr/>
          <p:nvPr/>
        </p:nvSpPr>
        <p:spPr>
          <a:xfrm>
            <a:off x="822960" y="2542032"/>
            <a:ext cx="4526280" cy="274320"/>
          </a:xfrm>
          <a:prstGeom prst="rect">
            <a:avLst/>
          </a:prstGeom>
          <a:noFill/>
          <a:ln/>
        </p:spPr>
        <p:txBody>
          <a:bodyPr wrap="square" lIns="0" tIns="0" rIns="0" bIns="0" rtlCol="0" anchor="ctr"/>
          <a:lstStyle/>
          <a:p>
            <a:pPr algn="l" indent="0" marL="0">
              <a:buNone/>
            </a:pPr>
            <a:r>
              <a:rPr lang="en-US" sz="1150" b="1" dirty="0">
                <a:solidFill>
                  <a:srgbClr val="D24BFF"/>
                </a:solidFill>
                <a:latin typeface="Malgun Gothic" pitchFamily="34" charset="0"/>
                <a:ea typeface="Malgun Gothic" pitchFamily="34" charset="-122"/>
                <a:cs typeface="Malgun Gothic" pitchFamily="34" charset="-120"/>
              </a:rPr>
              <a:t>쉬운 비유</a:t>
            </a:r>
            <a:endParaRPr lang="en-US" sz="1150" dirty="0"/>
          </a:p>
        </p:txBody>
      </p:sp>
      <p:sp>
        <p:nvSpPr>
          <p:cNvPr id="12" name="Text 8"/>
          <p:cNvSpPr/>
          <p:nvPr/>
        </p:nvSpPr>
        <p:spPr>
          <a:xfrm>
            <a:off x="822960" y="2798064"/>
            <a:ext cx="4526280" cy="365760"/>
          </a:xfrm>
          <a:prstGeom prst="rect">
            <a:avLst/>
          </a:prstGeom>
          <a:noFill/>
          <a:ln/>
        </p:spPr>
        <p:txBody>
          <a:bodyPr wrap="square" lIns="0" tIns="0" rIns="0" bIns="0" rtlCol="0" anchor="ctr"/>
          <a:lstStyle/>
          <a:p>
            <a:pPr indent="0" marL="0">
              <a:buNone/>
            </a:pPr>
            <a:r>
              <a:rPr lang="en-US" sz="1550" b="1" dirty="0">
                <a:solidFill>
                  <a:srgbClr val="EAF0FF"/>
                </a:solidFill>
                <a:latin typeface="Malgun Gothic" pitchFamily="34" charset="0"/>
                <a:ea typeface="Malgun Gothic" pitchFamily="34" charset="-122"/>
                <a:cs typeface="Malgun Gothic" pitchFamily="34" charset="-120"/>
              </a:rPr>
              <a:t>글 → 그림 → 영상 → 로봇</a:t>
            </a:r>
            <a:endParaRPr lang="en-US" sz="1550" dirty="0"/>
          </a:p>
        </p:txBody>
      </p:sp>
      <p:sp>
        <p:nvSpPr>
          <p:cNvPr id="13" name="Text 9"/>
          <p:cNvSpPr/>
          <p:nvPr/>
        </p:nvSpPr>
        <p:spPr>
          <a:xfrm>
            <a:off x="822960" y="3200400"/>
            <a:ext cx="4526280" cy="822960"/>
          </a:xfrm>
          <a:prstGeom prst="rect">
            <a:avLst/>
          </a:prstGeom>
          <a:noFill/>
          <a:ln/>
        </p:spPr>
        <p:txBody>
          <a:bodyPr wrap="square" lIns="0" tIns="0" rIns="0" bIns="0" rtlCol="0" anchor="ctr"/>
          <a:lstStyle/>
          <a:p>
            <a:pPr indent="0" marL="0">
              <a:lnSpc>
                <a:spcPct val="116000"/>
              </a:lnSpc>
              <a:buNone/>
            </a:pPr>
            <a:r>
              <a:rPr lang="en-US" sz="1150" dirty="0">
                <a:solidFill>
                  <a:srgbClr val="B7C4DC"/>
                </a:solidFill>
                <a:latin typeface="Malgun Gothic" pitchFamily="34" charset="0"/>
                <a:ea typeface="Malgun Gothic" pitchFamily="34" charset="-122"/>
                <a:cs typeface="Malgun Gothic" pitchFamily="34" charset="-120"/>
              </a:rPr>
              <a:t>글→그림→영상은 AI가 표현할 수 있는 '매체'가 넓어진 과정이고, 로봇은 그 끝에서 AI가 현실에 손과 발을 갖는 단계입니다.</a:t>
            </a:r>
            <a:endParaRPr lang="en-US" sz="1150" dirty="0"/>
          </a:p>
        </p:txBody>
      </p:sp>
      <p:sp>
        <p:nvSpPr>
          <p:cNvPr id="14" name="Text 10"/>
          <p:cNvSpPr/>
          <p:nvPr/>
        </p:nvSpPr>
        <p:spPr>
          <a:xfrm>
            <a:off x="822960" y="4078224"/>
            <a:ext cx="4526280" cy="274320"/>
          </a:xfrm>
          <a:prstGeom prst="rect">
            <a:avLst/>
          </a:prstGeom>
          <a:noFill/>
          <a:ln/>
        </p:spPr>
        <p:txBody>
          <a:bodyPr wrap="square" lIns="0" tIns="0" rIns="0" bIns="0" rtlCol="0" anchor="ctr"/>
          <a:lstStyle/>
          <a:p>
            <a:pPr algn="l" indent="0" marL="0">
              <a:buNone/>
            </a:pPr>
            <a:r>
              <a:rPr lang="en-US" sz="1150" b="1" dirty="0">
                <a:solidFill>
                  <a:srgbClr val="D24BFF"/>
                </a:solidFill>
                <a:latin typeface="Malgun Gothic" pitchFamily="34" charset="0"/>
                <a:ea typeface="Malgun Gothic" pitchFamily="34" charset="-122"/>
                <a:cs typeface="Malgun Gothic" pitchFamily="34" charset="-120"/>
              </a:rPr>
              <a:t>진화 단계</a:t>
            </a:r>
            <a:endParaRPr lang="en-US" sz="1150" dirty="0"/>
          </a:p>
        </p:txBody>
      </p:sp>
      <p:sp>
        <p:nvSpPr>
          <p:cNvPr id="15" name="Shape 11"/>
          <p:cNvSpPr/>
          <p:nvPr/>
        </p:nvSpPr>
        <p:spPr>
          <a:xfrm>
            <a:off x="822960" y="4425696"/>
            <a:ext cx="118872" cy="118872"/>
          </a:xfrm>
          <a:prstGeom prst="ellipse">
            <a:avLst/>
          </a:prstGeom>
          <a:solidFill>
            <a:srgbClr val="8493AE"/>
          </a:solidFill>
          <a:ln w="15875">
            <a:solidFill>
              <a:srgbClr val="8493AE"/>
            </a:solidFill>
            <a:prstDash val="solid"/>
          </a:ln>
        </p:spPr>
      </p:sp>
      <p:sp>
        <p:nvSpPr>
          <p:cNvPr id="16" name="Text 12"/>
          <p:cNvSpPr/>
          <p:nvPr/>
        </p:nvSpPr>
        <p:spPr>
          <a:xfrm>
            <a:off x="1060704" y="4370832"/>
            <a:ext cx="3291840" cy="292608"/>
          </a:xfrm>
          <a:prstGeom prst="rect">
            <a:avLst/>
          </a:prstGeom>
          <a:noFill/>
          <a:ln/>
        </p:spPr>
        <p:txBody>
          <a:bodyPr wrap="square" lIns="0" tIns="0" rIns="0" bIns="0" rtlCol="0" anchor="ctr"/>
          <a:lstStyle/>
          <a:p>
            <a:pPr indent="0" marL="0">
              <a:buNone/>
            </a:pPr>
            <a:r>
              <a:rPr lang="en-US" sz="1150" dirty="0">
                <a:solidFill>
                  <a:srgbClr val="8493AE"/>
                </a:solidFill>
                <a:latin typeface="Malgun Gothic" pitchFamily="34" charset="0"/>
                <a:ea typeface="Malgun Gothic" pitchFamily="34" charset="-122"/>
                <a:cs typeface="Malgun Gothic" pitchFamily="34" charset="-120"/>
              </a:rPr>
              <a:t>텍스트·이미지</a:t>
            </a:r>
            <a:endParaRPr lang="en-US" sz="1150" dirty="0"/>
          </a:p>
        </p:txBody>
      </p:sp>
      <p:sp>
        <p:nvSpPr>
          <p:cNvPr id="17" name="Text 13"/>
          <p:cNvSpPr/>
          <p:nvPr/>
        </p:nvSpPr>
        <p:spPr>
          <a:xfrm>
            <a:off x="4160520" y="4370832"/>
            <a:ext cx="1188720" cy="292608"/>
          </a:xfrm>
          <a:prstGeom prst="rect">
            <a:avLst/>
          </a:prstGeom>
          <a:noFill/>
          <a:ln/>
        </p:spPr>
        <p:txBody>
          <a:bodyPr wrap="square" lIns="0" tIns="0" rIns="0" bIns="0" rtlCol="0" anchor="ctr"/>
          <a:lstStyle/>
          <a:p>
            <a:pPr algn="r" indent="0" marL="0">
              <a:buNone/>
            </a:pPr>
            <a:r>
              <a:rPr lang="en-US" sz="1000" dirty="0">
                <a:solidFill>
                  <a:srgbClr val="8493AE"/>
                </a:solidFill>
                <a:latin typeface="Consolas" pitchFamily="34" charset="0"/>
                <a:ea typeface="Consolas" pitchFamily="34" charset="-122"/>
                <a:cs typeface="Consolas" pitchFamily="34" charset="-120"/>
              </a:rPr>
              <a:t>~2024</a:t>
            </a:r>
            <a:endParaRPr lang="en-US" sz="1000" dirty="0"/>
          </a:p>
        </p:txBody>
      </p:sp>
      <p:sp>
        <p:nvSpPr>
          <p:cNvPr id="18" name="Shape 14"/>
          <p:cNvSpPr/>
          <p:nvPr/>
        </p:nvSpPr>
        <p:spPr>
          <a:xfrm>
            <a:off x="822960" y="4718304"/>
            <a:ext cx="118872" cy="118872"/>
          </a:xfrm>
          <a:prstGeom prst="ellipse">
            <a:avLst/>
          </a:prstGeom>
          <a:solidFill>
            <a:srgbClr val="D24BFF"/>
          </a:solidFill>
          <a:ln w="15875">
            <a:solidFill>
              <a:srgbClr val="D24BFF"/>
            </a:solidFill>
            <a:prstDash val="solid"/>
          </a:ln>
        </p:spPr>
      </p:sp>
      <p:sp>
        <p:nvSpPr>
          <p:cNvPr id="19" name="Text 15"/>
          <p:cNvSpPr/>
          <p:nvPr/>
        </p:nvSpPr>
        <p:spPr>
          <a:xfrm>
            <a:off x="1060704" y="4663440"/>
            <a:ext cx="3291840" cy="292608"/>
          </a:xfrm>
          <a:prstGeom prst="rect">
            <a:avLst/>
          </a:prstGeom>
          <a:noFill/>
          <a:ln/>
        </p:spPr>
        <p:txBody>
          <a:bodyPr wrap="square" lIns="0" tIns="0" rIns="0" bIns="0" rtlCol="0" anchor="ctr"/>
          <a:lstStyle/>
          <a:p>
            <a:pPr indent="0" marL="0">
              <a:buNone/>
            </a:pPr>
            <a:r>
              <a:rPr lang="en-US" sz="1150" b="1" dirty="0">
                <a:solidFill>
                  <a:srgbClr val="D24BFF"/>
                </a:solidFill>
                <a:latin typeface="Malgun Gothic" pitchFamily="34" charset="0"/>
                <a:ea typeface="Malgun Gothic" pitchFamily="34" charset="-122"/>
                <a:cs typeface="Malgun Gothic" pitchFamily="34" charset="-120"/>
              </a:rPr>
              <a:t>멀티모달 (영상까지)</a:t>
            </a:r>
            <a:endParaRPr lang="en-US" sz="1150" dirty="0"/>
          </a:p>
        </p:txBody>
      </p:sp>
      <p:sp>
        <p:nvSpPr>
          <p:cNvPr id="20" name="Text 16"/>
          <p:cNvSpPr/>
          <p:nvPr/>
        </p:nvSpPr>
        <p:spPr>
          <a:xfrm>
            <a:off x="4160520" y="4663440"/>
            <a:ext cx="1188720" cy="292608"/>
          </a:xfrm>
          <a:prstGeom prst="rect">
            <a:avLst/>
          </a:prstGeom>
          <a:noFill/>
          <a:ln/>
        </p:spPr>
        <p:txBody>
          <a:bodyPr wrap="square" lIns="0" tIns="0" rIns="0" bIns="0" rtlCol="0" anchor="ctr"/>
          <a:lstStyle/>
          <a:p>
            <a:pPr algn="r" indent="0" marL="0">
              <a:buNone/>
            </a:pPr>
            <a:r>
              <a:rPr lang="en-US" sz="1000" dirty="0">
                <a:solidFill>
                  <a:srgbClr val="D24BFF"/>
                </a:solidFill>
                <a:latin typeface="Consolas" pitchFamily="34" charset="0"/>
                <a:ea typeface="Consolas" pitchFamily="34" charset="-122"/>
                <a:cs typeface="Consolas" pitchFamily="34" charset="-120"/>
              </a:rPr>
              <a:t>2026  ★</a:t>
            </a:r>
            <a:endParaRPr lang="en-US" sz="1000" dirty="0"/>
          </a:p>
        </p:txBody>
      </p:sp>
      <p:sp>
        <p:nvSpPr>
          <p:cNvPr id="21" name="Shape 17"/>
          <p:cNvSpPr/>
          <p:nvPr/>
        </p:nvSpPr>
        <p:spPr>
          <a:xfrm>
            <a:off x="822960" y="5010912"/>
            <a:ext cx="118872" cy="118872"/>
          </a:xfrm>
          <a:prstGeom prst="ellipse">
            <a:avLst/>
          </a:prstGeom>
          <a:solidFill>
            <a:srgbClr val="D24BFF"/>
          </a:solidFill>
          <a:ln w="15875">
            <a:solidFill>
              <a:srgbClr val="D24BFF"/>
            </a:solidFill>
            <a:prstDash val="solid"/>
          </a:ln>
        </p:spPr>
      </p:sp>
      <p:sp>
        <p:nvSpPr>
          <p:cNvPr id="22" name="Text 18"/>
          <p:cNvSpPr/>
          <p:nvPr/>
        </p:nvSpPr>
        <p:spPr>
          <a:xfrm>
            <a:off x="1060704" y="4956048"/>
            <a:ext cx="3291840" cy="292608"/>
          </a:xfrm>
          <a:prstGeom prst="rect">
            <a:avLst/>
          </a:prstGeom>
          <a:noFill/>
          <a:ln/>
        </p:spPr>
        <p:txBody>
          <a:bodyPr wrap="square" lIns="0" tIns="0" rIns="0" bIns="0" rtlCol="0" anchor="ctr"/>
          <a:lstStyle/>
          <a:p>
            <a:pPr indent="0" marL="0">
              <a:buNone/>
            </a:pPr>
            <a:r>
              <a:rPr lang="en-US" sz="1150" b="1" dirty="0">
                <a:solidFill>
                  <a:srgbClr val="D24BFF"/>
                </a:solidFill>
                <a:latin typeface="Malgun Gothic" pitchFamily="34" charset="0"/>
                <a:ea typeface="Malgun Gothic" pitchFamily="34" charset="-122"/>
                <a:cs typeface="Malgun Gothic" pitchFamily="34" charset="-120"/>
              </a:rPr>
              <a:t>Physical AI (로봇)</a:t>
            </a:r>
            <a:endParaRPr lang="en-US" sz="1150" dirty="0"/>
          </a:p>
        </p:txBody>
      </p:sp>
      <p:sp>
        <p:nvSpPr>
          <p:cNvPr id="23" name="Text 19"/>
          <p:cNvSpPr/>
          <p:nvPr/>
        </p:nvSpPr>
        <p:spPr>
          <a:xfrm>
            <a:off x="4160520" y="4956048"/>
            <a:ext cx="1188720" cy="292608"/>
          </a:xfrm>
          <a:prstGeom prst="rect">
            <a:avLst/>
          </a:prstGeom>
          <a:noFill/>
          <a:ln/>
        </p:spPr>
        <p:txBody>
          <a:bodyPr wrap="square" lIns="0" tIns="0" rIns="0" bIns="0" rtlCol="0" anchor="ctr"/>
          <a:lstStyle/>
          <a:p>
            <a:pPr algn="r" indent="0" marL="0">
              <a:buNone/>
            </a:pPr>
            <a:r>
              <a:rPr lang="en-US" sz="1000" dirty="0">
                <a:solidFill>
                  <a:srgbClr val="D24BFF"/>
                </a:solidFill>
                <a:latin typeface="Consolas" pitchFamily="34" charset="0"/>
                <a:ea typeface="Consolas" pitchFamily="34" charset="-122"/>
                <a:cs typeface="Consolas" pitchFamily="34" charset="-120"/>
              </a:rPr>
              <a:t>2026  ★</a:t>
            </a:r>
            <a:endParaRPr lang="en-US" sz="1000" dirty="0"/>
          </a:p>
        </p:txBody>
      </p:sp>
      <p:sp>
        <p:nvSpPr>
          <p:cNvPr id="24" name="Shape 20"/>
          <p:cNvSpPr/>
          <p:nvPr/>
        </p:nvSpPr>
        <p:spPr>
          <a:xfrm>
            <a:off x="822960" y="5303520"/>
            <a:ext cx="118872" cy="118872"/>
          </a:xfrm>
          <a:prstGeom prst="ellipse">
            <a:avLst/>
          </a:prstGeom>
          <a:solidFill>
            <a:srgbClr val="0B0F1A"/>
          </a:solidFill>
          <a:ln w="15875">
            <a:solidFill>
              <a:srgbClr val="D24BFF"/>
            </a:solidFill>
            <a:prstDash val="solid"/>
          </a:ln>
        </p:spPr>
      </p:sp>
      <p:sp>
        <p:nvSpPr>
          <p:cNvPr id="25" name="Text 21"/>
          <p:cNvSpPr/>
          <p:nvPr/>
        </p:nvSpPr>
        <p:spPr>
          <a:xfrm>
            <a:off x="1060704" y="5248656"/>
            <a:ext cx="3291840" cy="292608"/>
          </a:xfrm>
          <a:prstGeom prst="rect">
            <a:avLst/>
          </a:prstGeom>
          <a:noFill/>
          <a:ln/>
        </p:spPr>
        <p:txBody>
          <a:bodyPr wrap="square" lIns="0" tIns="0" rIns="0" bIns="0" rtlCol="0" anchor="ctr"/>
          <a:lstStyle/>
          <a:p>
            <a:pPr indent="0" marL="0">
              <a:buNone/>
            </a:pPr>
            <a:r>
              <a:rPr lang="en-US" sz="1150" dirty="0">
                <a:solidFill>
                  <a:srgbClr val="B7C4DC"/>
                </a:solidFill>
                <a:latin typeface="Malgun Gothic" pitchFamily="34" charset="0"/>
                <a:ea typeface="Malgun Gothic" pitchFamily="34" charset="-122"/>
                <a:cs typeface="Malgun Gothic" pitchFamily="34" charset="-120"/>
              </a:rPr>
              <a:t>가정 휴머노이드 $20K</a:t>
            </a:r>
            <a:endParaRPr lang="en-US" sz="1150" dirty="0"/>
          </a:p>
        </p:txBody>
      </p:sp>
      <p:sp>
        <p:nvSpPr>
          <p:cNvPr id="26" name="Text 22"/>
          <p:cNvSpPr/>
          <p:nvPr/>
        </p:nvSpPr>
        <p:spPr>
          <a:xfrm>
            <a:off x="4160520" y="5248656"/>
            <a:ext cx="1188720" cy="292608"/>
          </a:xfrm>
          <a:prstGeom prst="rect">
            <a:avLst/>
          </a:prstGeom>
          <a:noFill/>
          <a:ln/>
        </p:spPr>
        <p:txBody>
          <a:bodyPr wrap="square" lIns="0" tIns="0" rIns="0" bIns="0" rtlCol="0" anchor="ctr"/>
          <a:lstStyle/>
          <a:p>
            <a:pPr algn="r" indent="0" marL="0">
              <a:buNone/>
            </a:pPr>
            <a:r>
              <a:rPr lang="en-US" sz="1000" dirty="0">
                <a:solidFill>
                  <a:srgbClr val="8493AE"/>
                </a:solidFill>
                <a:latin typeface="Consolas" pitchFamily="34" charset="0"/>
                <a:ea typeface="Consolas" pitchFamily="34" charset="-122"/>
                <a:cs typeface="Consolas" pitchFamily="34" charset="-120"/>
              </a:rPr>
              <a:t>2028+</a:t>
            </a:r>
            <a:endParaRPr lang="en-US" sz="1000" dirty="0"/>
          </a:p>
        </p:txBody>
      </p:sp>
      <p:sp>
        <p:nvSpPr>
          <p:cNvPr id="27" name="Text 23"/>
          <p:cNvSpPr/>
          <p:nvPr/>
        </p:nvSpPr>
        <p:spPr>
          <a:xfrm>
            <a:off x="822960" y="5870448"/>
            <a:ext cx="4526280" cy="274320"/>
          </a:xfrm>
          <a:prstGeom prst="rect">
            <a:avLst/>
          </a:prstGeom>
          <a:noFill/>
          <a:ln/>
        </p:spPr>
        <p:txBody>
          <a:bodyPr wrap="square" lIns="0" tIns="0" rIns="0" bIns="0" rtlCol="0" anchor="ctr"/>
          <a:lstStyle/>
          <a:p>
            <a:pPr algn="l" indent="0" marL="0">
              <a:buNone/>
            </a:pPr>
            <a:r>
              <a:rPr lang="en-US" sz="1150" b="1" dirty="0">
                <a:solidFill>
                  <a:srgbClr val="D24BFF"/>
                </a:solidFill>
                <a:latin typeface="Malgun Gothic" pitchFamily="34" charset="0"/>
                <a:ea typeface="Malgun Gothic" pitchFamily="34" charset="-122"/>
                <a:cs typeface="Malgun Gothic" pitchFamily="34" charset="-120"/>
              </a:rPr>
              <a:t>대표 기업</a:t>
            </a:r>
            <a:endParaRPr lang="en-US" sz="1150" dirty="0"/>
          </a:p>
        </p:txBody>
      </p:sp>
      <p:sp>
        <p:nvSpPr>
          <p:cNvPr id="28" name="Text 24"/>
          <p:cNvSpPr/>
          <p:nvPr/>
        </p:nvSpPr>
        <p:spPr>
          <a:xfrm>
            <a:off x="822960" y="6108192"/>
            <a:ext cx="4526280" cy="384048"/>
          </a:xfrm>
          <a:prstGeom prst="rect">
            <a:avLst/>
          </a:prstGeom>
          <a:noFill/>
          <a:ln/>
        </p:spPr>
        <p:txBody>
          <a:bodyPr wrap="square" lIns="0" tIns="0" rIns="0" bIns="0" rtlCol="0" anchor="ctr"/>
          <a:lstStyle/>
          <a:p>
            <a:pPr indent="0" marL="0">
              <a:lnSpc>
                <a:spcPct val="105000"/>
              </a:lnSpc>
              <a:buNone/>
            </a:pPr>
            <a:r>
              <a:rPr lang="en-US" sz="1000" dirty="0">
                <a:solidFill>
                  <a:srgbClr val="B7C4DC"/>
                </a:solidFill>
                <a:latin typeface="Malgun Gothic" pitchFamily="34" charset="0"/>
                <a:ea typeface="Malgun Gothic" pitchFamily="34" charset="-122"/>
                <a:cs typeface="Malgun Gothic" pitchFamily="34" charset="-120"/>
              </a:rPr>
              <a:t>LG CLOiD, Apptronik, Figure AI, Tesla Optimus</a:t>
            </a:r>
            <a:endParaRPr lang="en-US" sz="1000" dirty="0"/>
          </a:p>
        </p:txBody>
      </p:sp>
      <p:sp>
        <p:nvSpPr>
          <p:cNvPr id="29" name="Text 25"/>
          <p:cNvSpPr/>
          <p:nvPr/>
        </p:nvSpPr>
        <p:spPr>
          <a:xfrm>
            <a:off x="5897880" y="2395728"/>
            <a:ext cx="5742432" cy="274320"/>
          </a:xfrm>
          <a:prstGeom prst="rect">
            <a:avLst/>
          </a:prstGeom>
          <a:noFill/>
          <a:ln/>
        </p:spPr>
        <p:txBody>
          <a:bodyPr wrap="square" lIns="0" tIns="0" rIns="0" bIns="0" rtlCol="0" anchor="ctr"/>
          <a:lstStyle/>
          <a:p>
            <a:pPr algn="l" indent="0" marL="0">
              <a:buNone/>
            </a:pPr>
            <a:r>
              <a:rPr lang="en-US" sz="1150" b="1" dirty="0">
                <a:solidFill>
                  <a:srgbClr val="D24BFF"/>
                </a:solidFill>
                <a:latin typeface="Malgun Gothic" pitchFamily="34" charset="0"/>
                <a:ea typeface="Malgun Gothic" pitchFamily="34" charset="-122"/>
                <a:cs typeface="Malgun Gothic" pitchFamily="34" charset="-120"/>
              </a:rPr>
              <a:t>왜 필요한가</a:t>
            </a:r>
            <a:endParaRPr lang="en-US" sz="1150" dirty="0"/>
          </a:p>
        </p:txBody>
      </p:sp>
      <p:sp>
        <p:nvSpPr>
          <p:cNvPr id="30" name="Text 26"/>
          <p:cNvSpPr/>
          <p:nvPr/>
        </p:nvSpPr>
        <p:spPr>
          <a:xfrm>
            <a:off x="5897880" y="2651760"/>
            <a:ext cx="5742432" cy="1143000"/>
          </a:xfrm>
          <a:prstGeom prst="rect">
            <a:avLst/>
          </a:prstGeom>
          <a:noFill/>
          <a:ln/>
        </p:spPr>
        <p:txBody>
          <a:bodyPr wrap="square" lIns="0" tIns="0" rIns="0" bIns="0" rtlCol="0" anchor="ctr"/>
          <a:lstStyle/>
          <a:p>
            <a:pPr indent="0" marL="0">
              <a:lnSpc>
                <a:spcPct val="122000"/>
              </a:lnSpc>
              <a:buNone/>
            </a:pPr>
            <a:r>
              <a:rPr lang="en-US" sz="1250" dirty="0">
                <a:solidFill>
                  <a:srgbClr val="B7C4DC"/>
                </a:solidFill>
                <a:latin typeface="Malgun Gothic" pitchFamily="34" charset="0"/>
                <a:ea typeface="Malgun Gothic" pitchFamily="34" charset="-122"/>
                <a:cs typeface="Malgun Gothic" pitchFamily="34" charset="-120"/>
              </a:rPr>
              <a:t>1956년 지능 모방이 시작된 지 약 70년 만에, AI가 드디어 '신체'를 얻습니다. 텍스트→이미지→영상으로 넓어진 AI가 이제 로봇으로 현실에서 물건을 들고 움직입니다.</a:t>
            </a:r>
            <a:endParaRPr lang="en-US" sz="1250" dirty="0"/>
          </a:p>
        </p:txBody>
      </p:sp>
      <p:sp>
        <p:nvSpPr>
          <p:cNvPr id="31" name="Text 27"/>
          <p:cNvSpPr/>
          <p:nvPr/>
        </p:nvSpPr>
        <p:spPr>
          <a:xfrm>
            <a:off x="5897880" y="3931920"/>
            <a:ext cx="5742432" cy="274320"/>
          </a:xfrm>
          <a:prstGeom prst="rect">
            <a:avLst/>
          </a:prstGeom>
          <a:noFill/>
          <a:ln/>
        </p:spPr>
        <p:txBody>
          <a:bodyPr wrap="square" lIns="0" tIns="0" rIns="0" bIns="0" rtlCol="0" anchor="ctr"/>
          <a:lstStyle/>
          <a:p>
            <a:pPr algn="l" indent="0" marL="0">
              <a:buNone/>
            </a:pPr>
            <a:r>
              <a:rPr lang="en-US" sz="1150" b="1" dirty="0">
                <a:solidFill>
                  <a:srgbClr val="D24BFF"/>
                </a:solidFill>
                <a:latin typeface="Malgun Gothic" pitchFamily="34" charset="0"/>
                <a:ea typeface="Malgun Gothic" pitchFamily="34" charset="-122"/>
                <a:cs typeface="Malgun Gothic" pitchFamily="34" charset="-120"/>
              </a:rPr>
              <a:t>핵심 기술</a:t>
            </a:r>
            <a:endParaRPr lang="en-US" sz="1150" dirty="0"/>
          </a:p>
        </p:txBody>
      </p:sp>
      <p:sp>
        <p:nvSpPr>
          <p:cNvPr id="32" name="Text 28"/>
          <p:cNvSpPr/>
          <p:nvPr/>
        </p:nvSpPr>
        <p:spPr>
          <a:xfrm>
            <a:off x="5897880" y="4187952"/>
            <a:ext cx="5742432" cy="777240"/>
          </a:xfrm>
          <a:prstGeom prst="rect">
            <a:avLst/>
          </a:prstGeom>
          <a:noFill/>
          <a:ln/>
        </p:spPr>
        <p:txBody>
          <a:bodyPr wrap="square" lIns="0" tIns="0" rIns="0" bIns="0" rtlCol="0" anchor="ctr"/>
          <a:lstStyle/>
          <a:p>
            <a:pPr indent="0" marL="0">
              <a:lnSpc>
                <a:spcPct val="125000"/>
              </a:lnSpc>
              <a:buNone/>
            </a:pPr>
            <a:r>
              <a:rPr lang="en-US" sz="1200" dirty="0">
                <a:solidFill>
                  <a:srgbClr val="B7C4DC"/>
                </a:solidFill>
                <a:latin typeface="Malgun Gothic" pitchFamily="34" charset="0"/>
                <a:ea typeface="Malgun Gothic" pitchFamily="34" charset="-122"/>
                <a:cs typeface="Malgun Gothic" pitchFamily="34" charset="-120"/>
              </a:rPr>
              <a:t>Physical AI   ·   Robot Foundation Model   ·   Robot Learning   ·   Humanoid   ·   ROS2   ·   Fleet Management   ·   Robot Blackbox</a:t>
            </a:r>
            <a:endParaRPr lang="en-US" sz="1200" dirty="0"/>
          </a:p>
        </p:txBody>
      </p:sp>
      <p:sp>
        <p:nvSpPr>
          <p:cNvPr id="33" name="Text 29"/>
          <p:cNvSpPr/>
          <p:nvPr/>
        </p:nvSpPr>
        <p:spPr>
          <a:xfrm>
            <a:off x="5897880" y="5074920"/>
            <a:ext cx="5742432" cy="274320"/>
          </a:xfrm>
          <a:prstGeom prst="rect">
            <a:avLst/>
          </a:prstGeom>
          <a:noFill/>
          <a:ln/>
        </p:spPr>
        <p:txBody>
          <a:bodyPr wrap="square" lIns="0" tIns="0" rIns="0" bIns="0" rtlCol="0" anchor="ctr"/>
          <a:lstStyle/>
          <a:p>
            <a:pPr algn="l" indent="0" marL="0">
              <a:buNone/>
            </a:pPr>
            <a:r>
              <a:rPr lang="en-US" sz="1150" b="1" dirty="0">
                <a:solidFill>
                  <a:srgbClr val="D24BFF"/>
                </a:solidFill>
                <a:latin typeface="Malgun Gothic" pitchFamily="34" charset="0"/>
                <a:ea typeface="Malgun Gothic" pitchFamily="34" charset="-122"/>
                <a:cs typeface="Malgun Gothic" pitchFamily="34" charset="-120"/>
              </a:rPr>
              <a:t>2035 전망</a:t>
            </a:r>
            <a:endParaRPr lang="en-US" sz="1150" dirty="0"/>
          </a:p>
        </p:txBody>
      </p:sp>
      <p:sp>
        <p:nvSpPr>
          <p:cNvPr id="34" name="Text 30"/>
          <p:cNvSpPr/>
          <p:nvPr/>
        </p:nvSpPr>
        <p:spPr>
          <a:xfrm>
            <a:off x="5897880" y="5330952"/>
            <a:ext cx="5742432" cy="1188720"/>
          </a:xfrm>
          <a:prstGeom prst="rect">
            <a:avLst/>
          </a:prstGeom>
          <a:noFill/>
          <a:ln/>
        </p:spPr>
        <p:txBody>
          <a:bodyPr wrap="square" lIns="0" tIns="0" rIns="0" bIns="0" rtlCol="0" anchor="ctr"/>
          <a:lstStyle/>
          <a:p>
            <a:pPr indent="0" marL="0">
              <a:lnSpc>
                <a:spcPct val="122000"/>
              </a:lnSpc>
              <a:buNone/>
            </a:pPr>
            <a:r>
              <a:rPr lang="en-US" sz="1250" dirty="0">
                <a:solidFill>
                  <a:srgbClr val="B7C4DC"/>
                </a:solidFill>
                <a:latin typeface="Malgun Gothic" pitchFamily="34" charset="0"/>
                <a:ea typeface="Malgun Gothic" pitchFamily="34" charset="-122"/>
                <a:cs typeface="Malgun Gothic" pitchFamily="34" charset="-120"/>
              </a:rPr>
              <a:t>산업 현장에서 휴머노이드가 보편화되고, 가정용도 가격이 떨어지며 보급기에 진입합니다. 로봇을 한 대씩이 아니라 '떼(Fleet)'로 운영·관제하는 것이 핵심 역량이 됩니다.</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548640" y="502920"/>
            <a:ext cx="868680" cy="868680"/>
          </a:xfrm>
          <a:prstGeom prst="ellipse">
            <a:avLst/>
          </a:prstGeom>
          <a:solidFill>
            <a:srgbClr val="18223A"/>
          </a:solidFill>
          <a:ln w="22225">
            <a:solidFill>
              <a:srgbClr val="2DD4BF"/>
            </a:solidFill>
            <a:prstDash val="solid"/>
          </a:ln>
        </p:spPr>
      </p:sp>
      <p:pic>
        <p:nvPicPr>
          <p:cNvPr id="3" name="Image 0" descr="assets/icon_simulation.png">    </p:cNvPr>
          <p:cNvPicPr>
            <a:picLocks noChangeAspect="1"/>
          </p:cNvPicPr>
          <p:nvPr/>
        </p:nvPicPr>
        <p:blipFill>
          <a:blip r:embed="rId1"/>
          <a:stretch>
            <a:fillRect/>
          </a:stretch>
        </p:blipFill>
        <p:spPr>
          <a:xfrm>
            <a:off x="713689" y="667969"/>
            <a:ext cx="538582" cy="538582"/>
          </a:xfrm>
          <a:prstGeom prst="rect">
            <a:avLst/>
          </a:prstGeom>
        </p:spPr>
      </p:pic>
      <p:sp>
        <p:nvSpPr>
          <p:cNvPr id="4" name="Text 1"/>
          <p:cNvSpPr/>
          <p:nvPr/>
        </p:nvSpPr>
        <p:spPr>
          <a:xfrm>
            <a:off x="1600200" y="475488"/>
            <a:ext cx="2743200" cy="292608"/>
          </a:xfrm>
          <a:prstGeom prst="rect">
            <a:avLst/>
          </a:prstGeom>
          <a:noFill/>
          <a:ln/>
        </p:spPr>
        <p:txBody>
          <a:bodyPr wrap="square" lIns="0" tIns="0" rIns="0" bIns="0" rtlCol="0" anchor="ctr"/>
          <a:lstStyle/>
          <a:p>
            <a:pPr indent="0" marL="0">
              <a:buNone/>
            </a:pPr>
            <a:r>
              <a:rPr lang="en-US" sz="1400" b="1" dirty="0">
                <a:solidFill>
                  <a:srgbClr val="2DD4BF"/>
                </a:solidFill>
                <a:latin typeface="Consolas" pitchFamily="34" charset="0"/>
                <a:ea typeface="Consolas" pitchFamily="34" charset="-122"/>
                <a:cs typeface="Consolas" pitchFamily="34" charset="-120"/>
              </a:rPr>
              <a:t>11</a:t>
            </a:r>
            <a:endParaRPr lang="en-US" sz="1400" dirty="0"/>
          </a:p>
        </p:txBody>
      </p:sp>
      <p:sp>
        <p:nvSpPr>
          <p:cNvPr id="5" name="Text 2"/>
          <p:cNvSpPr/>
          <p:nvPr/>
        </p:nvSpPr>
        <p:spPr>
          <a:xfrm>
            <a:off x="1572768" y="713232"/>
            <a:ext cx="6858000" cy="658368"/>
          </a:xfrm>
          <a:prstGeom prst="rect">
            <a:avLst/>
          </a:prstGeom>
          <a:noFill/>
          <a:ln/>
        </p:spPr>
        <p:txBody>
          <a:bodyPr wrap="square" lIns="0" tIns="0" rIns="0" bIns="0" rtlCol="0" anchor="ctr"/>
          <a:lstStyle/>
          <a:p>
            <a:pPr indent="0" marL="0">
              <a:buNone/>
            </a:pPr>
            <a:r>
              <a:rPr lang="en-US" sz="3300" b="1" dirty="0">
                <a:solidFill>
                  <a:srgbClr val="EAF0FF"/>
                </a:solidFill>
                <a:latin typeface="Malgun Gothic" pitchFamily="34" charset="0"/>
                <a:ea typeface="Malgun Gothic" pitchFamily="34" charset="-122"/>
                <a:cs typeface="Malgun Gothic" pitchFamily="34" charset="-120"/>
              </a:rPr>
              <a:t>시뮬레이션</a:t>
            </a:r>
            <a:endParaRPr lang="en-US" sz="3300" dirty="0"/>
          </a:p>
        </p:txBody>
      </p:sp>
      <p:sp>
        <p:nvSpPr>
          <p:cNvPr id="6" name="Text 3"/>
          <p:cNvSpPr/>
          <p:nvPr/>
        </p:nvSpPr>
        <p:spPr>
          <a:xfrm>
            <a:off x="1600200" y="1371600"/>
            <a:ext cx="8229600" cy="292608"/>
          </a:xfrm>
          <a:prstGeom prst="rect">
            <a:avLst/>
          </a:prstGeom>
          <a:noFill/>
          <a:ln/>
        </p:spPr>
        <p:txBody>
          <a:bodyPr wrap="square" lIns="0" tIns="0" rIns="0" bIns="0" rtlCol="0" anchor="ctr"/>
          <a:lstStyle/>
          <a:p>
            <a:pPr indent="0" marL="0">
              <a:buNone/>
            </a:pPr>
            <a:r>
              <a:rPr lang="en-US" sz="1300" dirty="0">
                <a:solidFill>
                  <a:srgbClr val="8493AE"/>
                </a:solidFill>
                <a:latin typeface="Malgun Gothic" pitchFamily="34" charset="0"/>
                <a:ea typeface="Malgun Gothic" pitchFamily="34" charset="-122"/>
                <a:cs typeface="Malgun Gothic" pitchFamily="34" charset="-120"/>
              </a:rPr>
              <a:t>Simulation · 현실을 미리 돌려보는 AI</a:t>
            </a:r>
            <a:endParaRPr lang="en-US" sz="1300" dirty="0"/>
          </a:p>
        </p:txBody>
      </p:sp>
      <p:sp>
        <p:nvSpPr>
          <p:cNvPr id="7" name="Text 4"/>
          <p:cNvSpPr/>
          <p:nvPr/>
        </p:nvSpPr>
        <p:spPr>
          <a:xfrm>
            <a:off x="1600200" y="1700784"/>
            <a:ext cx="8869680" cy="457200"/>
          </a:xfrm>
          <a:prstGeom prst="rect">
            <a:avLst/>
          </a:prstGeom>
          <a:noFill/>
          <a:ln/>
        </p:spPr>
        <p:txBody>
          <a:bodyPr wrap="square" lIns="0" tIns="0" rIns="0" bIns="0" rtlCol="0" anchor="ctr"/>
          <a:lstStyle/>
          <a:p>
            <a:pPr indent="0" marL="0">
              <a:buNone/>
            </a:pPr>
            <a:r>
              <a:rPr lang="en-US" sz="1350" i="1" dirty="0">
                <a:solidFill>
                  <a:srgbClr val="B7C4DC"/>
                </a:solidFill>
                <a:latin typeface="Malgun Gothic" pitchFamily="34" charset="0"/>
                <a:ea typeface="Malgun Gothic" pitchFamily="34" charset="-122"/>
                <a:cs typeface="Malgun Gothic" pitchFamily="34" charset="-120"/>
              </a:rPr>
              <a:t>현실에서 하면 비싸고 위험한 일을, 가상에서 수백만 번 먼저 해보는 단계.</a:t>
            </a:r>
            <a:endParaRPr lang="en-US" sz="1350" dirty="0"/>
          </a:p>
        </p:txBody>
      </p:sp>
      <p:pic>
        <p:nvPicPr>
          <p:cNvPr id="8" name="Image 1" descr="assets/loc_simulation.png">    </p:cNvPr>
          <p:cNvPicPr>
            <a:picLocks noChangeAspect="1"/>
          </p:cNvPicPr>
          <p:nvPr/>
        </p:nvPicPr>
        <p:blipFill>
          <a:blip r:embed="rId2"/>
          <a:stretch>
            <a:fillRect/>
          </a:stretch>
        </p:blipFill>
        <p:spPr>
          <a:xfrm>
            <a:off x="10972800" y="457200"/>
            <a:ext cx="914400" cy="1600200"/>
          </a:xfrm>
          <a:prstGeom prst="rect">
            <a:avLst/>
          </a:prstGeom>
        </p:spPr>
      </p:pic>
      <p:sp>
        <p:nvSpPr>
          <p:cNvPr id="9" name="Text 5"/>
          <p:cNvSpPr/>
          <p:nvPr/>
        </p:nvSpPr>
        <p:spPr>
          <a:xfrm>
            <a:off x="10607040" y="2075688"/>
            <a:ext cx="1645920" cy="228600"/>
          </a:xfrm>
          <a:prstGeom prst="rect">
            <a:avLst/>
          </a:prstGeom>
          <a:noFill/>
          <a:ln/>
        </p:spPr>
        <p:txBody>
          <a:bodyPr wrap="square" lIns="0" tIns="0" rIns="0" bIns="0" rtlCol="0" anchor="ctr"/>
          <a:lstStyle/>
          <a:p>
            <a:pPr algn="ctr" indent="0" marL="0">
              <a:buNone/>
            </a:pPr>
            <a:r>
              <a:rPr lang="en-US" sz="900" dirty="0">
                <a:solidFill>
                  <a:srgbClr val="8493AE"/>
                </a:solidFill>
                <a:latin typeface="Malgun Gothic" pitchFamily="34" charset="0"/>
                <a:ea typeface="Malgun Gothic" pitchFamily="34" charset="-122"/>
                <a:cs typeface="Malgun Gothic" pitchFamily="34" charset="-120"/>
              </a:rPr>
              <a:t>몸의 위치</a:t>
            </a:r>
            <a:endParaRPr lang="en-US" sz="900" dirty="0"/>
          </a:p>
        </p:txBody>
      </p:sp>
      <p:sp>
        <p:nvSpPr>
          <p:cNvPr id="10" name="Shape 6"/>
          <p:cNvSpPr/>
          <p:nvPr/>
        </p:nvSpPr>
        <p:spPr>
          <a:xfrm>
            <a:off x="548640" y="2331720"/>
            <a:ext cx="5074920" cy="4224528"/>
          </a:xfrm>
          <a:prstGeom prst="roundRect">
            <a:avLst>
              <a:gd name="adj" fmla="val 1948"/>
            </a:avLst>
          </a:prstGeom>
          <a:solidFill>
            <a:srgbClr val="121A2E"/>
          </a:solidFill>
          <a:ln w="12700">
            <a:solidFill>
              <a:srgbClr val="2A3756"/>
            </a:solidFill>
            <a:prstDash val="solid"/>
          </a:ln>
          <a:effectLst>
            <a:outerShdw sx="100000" sy="100000" kx="0" ky="0" algn="bl" rotWithShape="0" blurRad="114300" dist="38100" dir="5400000">
              <a:srgbClr val="000000">
                <a:alpha val="35000"/>
              </a:srgbClr>
            </a:outerShdw>
          </a:effectLst>
        </p:spPr>
      </p:sp>
      <p:sp>
        <p:nvSpPr>
          <p:cNvPr id="11" name="Text 7"/>
          <p:cNvSpPr/>
          <p:nvPr/>
        </p:nvSpPr>
        <p:spPr>
          <a:xfrm>
            <a:off x="822960" y="2542032"/>
            <a:ext cx="4526280" cy="274320"/>
          </a:xfrm>
          <a:prstGeom prst="rect">
            <a:avLst/>
          </a:prstGeom>
          <a:noFill/>
          <a:ln/>
        </p:spPr>
        <p:txBody>
          <a:bodyPr wrap="square" lIns="0" tIns="0" rIns="0" bIns="0" rtlCol="0" anchor="ctr"/>
          <a:lstStyle/>
          <a:p>
            <a:pPr algn="l" indent="0" marL="0">
              <a:buNone/>
            </a:pPr>
            <a:r>
              <a:rPr lang="en-US" sz="1150" b="1" dirty="0">
                <a:solidFill>
                  <a:srgbClr val="2DD4BF"/>
                </a:solidFill>
                <a:latin typeface="Malgun Gothic" pitchFamily="34" charset="0"/>
                <a:ea typeface="Malgun Gothic" pitchFamily="34" charset="-122"/>
                <a:cs typeface="Malgun Gothic" pitchFamily="34" charset="-120"/>
              </a:rPr>
              <a:t>쉬운 비유</a:t>
            </a:r>
            <a:endParaRPr lang="en-US" sz="1150" dirty="0"/>
          </a:p>
        </p:txBody>
      </p:sp>
      <p:sp>
        <p:nvSpPr>
          <p:cNvPr id="12" name="Text 8"/>
          <p:cNvSpPr/>
          <p:nvPr/>
        </p:nvSpPr>
        <p:spPr>
          <a:xfrm>
            <a:off x="822960" y="2798064"/>
            <a:ext cx="4526280" cy="365760"/>
          </a:xfrm>
          <a:prstGeom prst="rect">
            <a:avLst/>
          </a:prstGeom>
          <a:noFill/>
          <a:ln/>
        </p:spPr>
        <p:txBody>
          <a:bodyPr wrap="square" lIns="0" tIns="0" rIns="0" bIns="0" rtlCol="0" anchor="ctr"/>
          <a:lstStyle/>
          <a:p>
            <a:pPr indent="0" marL="0">
              <a:buNone/>
            </a:pPr>
            <a:r>
              <a:rPr lang="en-US" sz="1550" b="1" dirty="0">
                <a:solidFill>
                  <a:srgbClr val="EAF0FF"/>
                </a:solidFill>
                <a:latin typeface="Malgun Gothic" pitchFamily="34" charset="0"/>
                <a:ea typeface="Malgun Gothic" pitchFamily="34" charset="-122"/>
                <a:cs typeface="Malgun Gothic" pitchFamily="34" charset="-120"/>
              </a:rPr>
              <a:t>진짜로 해보기 → 디지털로 미리 다 해보기</a:t>
            </a:r>
            <a:endParaRPr lang="en-US" sz="1550" dirty="0"/>
          </a:p>
        </p:txBody>
      </p:sp>
      <p:sp>
        <p:nvSpPr>
          <p:cNvPr id="13" name="Text 9"/>
          <p:cNvSpPr/>
          <p:nvPr/>
        </p:nvSpPr>
        <p:spPr>
          <a:xfrm>
            <a:off x="822960" y="3200400"/>
            <a:ext cx="4526280" cy="822960"/>
          </a:xfrm>
          <a:prstGeom prst="rect">
            <a:avLst/>
          </a:prstGeom>
          <a:noFill/>
          <a:ln/>
        </p:spPr>
        <p:txBody>
          <a:bodyPr wrap="square" lIns="0" tIns="0" rIns="0" bIns="0" rtlCol="0" anchor="ctr"/>
          <a:lstStyle/>
          <a:p>
            <a:pPr indent="0" marL="0">
              <a:lnSpc>
                <a:spcPct val="116000"/>
              </a:lnSpc>
              <a:buNone/>
            </a:pPr>
            <a:r>
              <a:rPr lang="en-US" sz="1150" dirty="0">
                <a:solidFill>
                  <a:srgbClr val="B7C4DC"/>
                </a:solidFill>
                <a:latin typeface="Malgun Gothic" pitchFamily="34" charset="0"/>
                <a:ea typeface="Malgun Gothic" pitchFamily="34" charset="-122"/>
                <a:cs typeface="Malgun Gothic" pitchFamily="34" charset="-120"/>
              </a:rPr>
              <a:t>현실 실험은 한 번에 한 번뿐인 실전, 시뮬레이션은 저장하고 다시 하는 게임 — 사고 시나리오를 안전하게 무한 반복할 수 있습니다.</a:t>
            </a:r>
            <a:endParaRPr lang="en-US" sz="1150" dirty="0"/>
          </a:p>
        </p:txBody>
      </p:sp>
      <p:sp>
        <p:nvSpPr>
          <p:cNvPr id="14" name="Text 10"/>
          <p:cNvSpPr/>
          <p:nvPr/>
        </p:nvSpPr>
        <p:spPr>
          <a:xfrm>
            <a:off x="822960" y="4078224"/>
            <a:ext cx="4526280" cy="274320"/>
          </a:xfrm>
          <a:prstGeom prst="rect">
            <a:avLst/>
          </a:prstGeom>
          <a:noFill/>
          <a:ln/>
        </p:spPr>
        <p:txBody>
          <a:bodyPr wrap="square" lIns="0" tIns="0" rIns="0" bIns="0" rtlCol="0" anchor="ctr"/>
          <a:lstStyle/>
          <a:p>
            <a:pPr algn="l" indent="0" marL="0">
              <a:buNone/>
            </a:pPr>
            <a:r>
              <a:rPr lang="en-US" sz="1150" b="1" dirty="0">
                <a:solidFill>
                  <a:srgbClr val="2DD4BF"/>
                </a:solidFill>
                <a:latin typeface="Malgun Gothic" pitchFamily="34" charset="0"/>
                <a:ea typeface="Malgun Gothic" pitchFamily="34" charset="-122"/>
                <a:cs typeface="Malgun Gothic" pitchFamily="34" charset="-120"/>
              </a:rPr>
              <a:t>진화 단계</a:t>
            </a:r>
            <a:endParaRPr lang="en-US" sz="1150" dirty="0"/>
          </a:p>
        </p:txBody>
      </p:sp>
      <p:sp>
        <p:nvSpPr>
          <p:cNvPr id="15" name="Shape 11"/>
          <p:cNvSpPr/>
          <p:nvPr/>
        </p:nvSpPr>
        <p:spPr>
          <a:xfrm>
            <a:off x="822960" y="4425696"/>
            <a:ext cx="118872" cy="118872"/>
          </a:xfrm>
          <a:prstGeom prst="ellipse">
            <a:avLst/>
          </a:prstGeom>
          <a:solidFill>
            <a:srgbClr val="8493AE"/>
          </a:solidFill>
          <a:ln w="15875">
            <a:solidFill>
              <a:srgbClr val="8493AE"/>
            </a:solidFill>
            <a:prstDash val="solid"/>
          </a:ln>
        </p:spPr>
      </p:sp>
      <p:sp>
        <p:nvSpPr>
          <p:cNvPr id="16" name="Text 12"/>
          <p:cNvSpPr/>
          <p:nvPr/>
        </p:nvSpPr>
        <p:spPr>
          <a:xfrm>
            <a:off x="1060704" y="4370832"/>
            <a:ext cx="3291840" cy="292608"/>
          </a:xfrm>
          <a:prstGeom prst="rect">
            <a:avLst/>
          </a:prstGeom>
          <a:noFill/>
          <a:ln/>
        </p:spPr>
        <p:txBody>
          <a:bodyPr wrap="square" lIns="0" tIns="0" rIns="0" bIns="0" rtlCol="0" anchor="ctr"/>
          <a:lstStyle/>
          <a:p>
            <a:pPr indent="0" marL="0">
              <a:buNone/>
            </a:pPr>
            <a:r>
              <a:rPr lang="en-US" sz="1150" dirty="0">
                <a:solidFill>
                  <a:srgbClr val="8493AE"/>
                </a:solidFill>
                <a:latin typeface="Malgun Gothic" pitchFamily="34" charset="0"/>
                <a:ea typeface="Malgun Gothic" pitchFamily="34" charset="-122"/>
                <a:cs typeface="Malgun Gothic" pitchFamily="34" charset="-120"/>
              </a:rPr>
              <a:t>물리 엔진</a:t>
            </a:r>
            <a:endParaRPr lang="en-US" sz="1150" dirty="0"/>
          </a:p>
        </p:txBody>
      </p:sp>
      <p:sp>
        <p:nvSpPr>
          <p:cNvPr id="17" name="Text 13"/>
          <p:cNvSpPr/>
          <p:nvPr/>
        </p:nvSpPr>
        <p:spPr>
          <a:xfrm>
            <a:off x="4160520" y="4370832"/>
            <a:ext cx="1188720" cy="292608"/>
          </a:xfrm>
          <a:prstGeom prst="rect">
            <a:avLst/>
          </a:prstGeom>
          <a:noFill/>
          <a:ln/>
        </p:spPr>
        <p:txBody>
          <a:bodyPr wrap="square" lIns="0" tIns="0" rIns="0" bIns="0" rtlCol="0" anchor="ctr"/>
          <a:lstStyle/>
          <a:p>
            <a:pPr algn="r" indent="0" marL="0">
              <a:buNone/>
            </a:pPr>
            <a:r>
              <a:rPr lang="en-US" sz="1000" dirty="0">
                <a:solidFill>
                  <a:srgbClr val="8493AE"/>
                </a:solidFill>
                <a:latin typeface="Consolas" pitchFamily="34" charset="0"/>
                <a:ea typeface="Consolas" pitchFamily="34" charset="-122"/>
                <a:cs typeface="Consolas" pitchFamily="34" charset="-120"/>
              </a:rPr>
              <a:t>~2024</a:t>
            </a:r>
            <a:endParaRPr lang="en-US" sz="1000" dirty="0"/>
          </a:p>
        </p:txBody>
      </p:sp>
      <p:sp>
        <p:nvSpPr>
          <p:cNvPr id="18" name="Shape 14"/>
          <p:cNvSpPr/>
          <p:nvPr/>
        </p:nvSpPr>
        <p:spPr>
          <a:xfrm>
            <a:off x="822960" y="4718304"/>
            <a:ext cx="118872" cy="118872"/>
          </a:xfrm>
          <a:prstGeom prst="ellipse">
            <a:avLst/>
          </a:prstGeom>
          <a:solidFill>
            <a:srgbClr val="2DD4BF"/>
          </a:solidFill>
          <a:ln w="15875">
            <a:solidFill>
              <a:srgbClr val="2DD4BF"/>
            </a:solidFill>
            <a:prstDash val="solid"/>
          </a:ln>
        </p:spPr>
      </p:sp>
      <p:sp>
        <p:nvSpPr>
          <p:cNvPr id="19" name="Text 15"/>
          <p:cNvSpPr/>
          <p:nvPr/>
        </p:nvSpPr>
        <p:spPr>
          <a:xfrm>
            <a:off x="1060704" y="4663440"/>
            <a:ext cx="3291840" cy="292608"/>
          </a:xfrm>
          <a:prstGeom prst="rect">
            <a:avLst/>
          </a:prstGeom>
          <a:noFill/>
          <a:ln/>
        </p:spPr>
        <p:txBody>
          <a:bodyPr wrap="square" lIns="0" tIns="0" rIns="0" bIns="0" rtlCol="0" anchor="ctr"/>
          <a:lstStyle/>
          <a:p>
            <a:pPr indent="0" marL="0">
              <a:buNone/>
            </a:pPr>
            <a:r>
              <a:rPr lang="en-US" sz="1150" b="1" dirty="0">
                <a:solidFill>
                  <a:srgbClr val="2DD4BF"/>
                </a:solidFill>
                <a:latin typeface="Malgun Gothic" pitchFamily="34" charset="0"/>
                <a:ea typeface="Malgun Gothic" pitchFamily="34" charset="-122"/>
                <a:cs typeface="Malgun Gothic" pitchFamily="34" charset="-120"/>
              </a:rPr>
              <a:t>Digital Twin</a:t>
            </a:r>
            <a:endParaRPr lang="en-US" sz="1150" dirty="0"/>
          </a:p>
        </p:txBody>
      </p:sp>
      <p:sp>
        <p:nvSpPr>
          <p:cNvPr id="20" name="Text 16"/>
          <p:cNvSpPr/>
          <p:nvPr/>
        </p:nvSpPr>
        <p:spPr>
          <a:xfrm>
            <a:off x="4160520" y="4663440"/>
            <a:ext cx="1188720" cy="292608"/>
          </a:xfrm>
          <a:prstGeom prst="rect">
            <a:avLst/>
          </a:prstGeom>
          <a:noFill/>
          <a:ln/>
        </p:spPr>
        <p:txBody>
          <a:bodyPr wrap="square" lIns="0" tIns="0" rIns="0" bIns="0" rtlCol="0" anchor="ctr"/>
          <a:lstStyle/>
          <a:p>
            <a:pPr algn="r" indent="0" marL="0">
              <a:buNone/>
            </a:pPr>
            <a:r>
              <a:rPr lang="en-US" sz="1000" dirty="0">
                <a:solidFill>
                  <a:srgbClr val="2DD4BF"/>
                </a:solidFill>
                <a:latin typeface="Consolas" pitchFamily="34" charset="0"/>
                <a:ea typeface="Consolas" pitchFamily="34" charset="-122"/>
                <a:cs typeface="Consolas" pitchFamily="34" charset="-120"/>
              </a:rPr>
              <a:t>2026  ★</a:t>
            </a:r>
            <a:endParaRPr lang="en-US" sz="1000" dirty="0"/>
          </a:p>
        </p:txBody>
      </p:sp>
      <p:sp>
        <p:nvSpPr>
          <p:cNvPr id="21" name="Shape 17"/>
          <p:cNvSpPr/>
          <p:nvPr/>
        </p:nvSpPr>
        <p:spPr>
          <a:xfrm>
            <a:off x="822960" y="5010912"/>
            <a:ext cx="118872" cy="118872"/>
          </a:xfrm>
          <a:prstGeom prst="ellipse">
            <a:avLst/>
          </a:prstGeom>
          <a:solidFill>
            <a:srgbClr val="2DD4BF"/>
          </a:solidFill>
          <a:ln w="15875">
            <a:solidFill>
              <a:srgbClr val="2DD4BF"/>
            </a:solidFill>
            <a:prstDash val="solid"/>
          </a:ln>
        </p:spPr>
      </p:sp>
      <p:sp>
        <p:nvSpPr>
          <p:cNvPr id="22" name="Text 18"/>
          <p:cNvSpPr/>
          <p:nvPr/>
        </p:nvSpPr>
        <p:spPr>
          <a:xfrm>
            <a:off x="1060704" y="4956048"/>
            <a:ext cx="3291840" cy="292608"/>
          </a:xfrm>
          <a:prstGeom prst="rect">
            <a:avLst/>
          </a:prstGeom>
          <a:noFill/>
          <a:ln/>
        </p:spPr>
        <p:txBody>
          <a:bodyPr wrap="square" lIns="0" tIns="0" rIns="0" bIns="0" rtlCol="0" anchor="ctr"/>
          <a:lstStyle/>
          <a:p>
            <a:pPr indent="0" marL="0">
              <a:buNone/>
            </a:pPr>
            <a:r>
              <a:rPr lang="en-US" sz="1150" b="1" dirty="0">
                <a:solidFill>
                  <a:srgbClr val="2DD4BF"/>
                </a:solidFill>
                <a:latin typeface="Malgun Gothic" pitchFamily="34" charset="0"/>
                <a:ea typeface="Malgun Gothic" pitchFamily="34" charset="-122"/>
                <a:cs typeface="Malgun Gothic" pitchFamily="34" charset="-120"/>
              </a:rPr>
              <a:t>Synthetic Data</a:t>
            </a:r>
            <a:endParaRPr lang="en-US" sz="1150" dirty="0"/>
          </a:p>
        </p:txBody>
      </p:sp>
      <p:sp>
        <p:nvSpPr>
          <p:cNvPr id="23" name="Text 19"/>
          <p:cNvSpPr/>
          <p:nvPr/>
        </p:nvSpPr>
        <p:spPr>
          <a:xfrm>
            <a:off x="4160520" y="4956048"/>
            <a:ext cx="1188720" cy="292608"/>
          </a:xfrm>
          <a:prstGeom prst="rect">
            <a:avLst/>
          </a:prstGeom>
          <a:noFill/>
          <a:ln/>
        </p:spPr>
        <p:txBody>
          <a:bodyPr wrap="square" lIns="0" tIns="0" rIns="0" bIns="0" rtlCol="0" anchor="ctr"/>
          <a:lstStyle/>
          <a:p>
            <a:pPr algn="r" indent="0" marL="0">
              <a:buNone/>
            </a:pPr>
            <a:r>
              <a:rPr lang="en-US" sz="1000" dirty="0">
                <a:solidFill>
                  <a:srgbClr val="2DD4BF"/>
                </a:solidFill>
                <a:latin typeface="Consolas" pitchFamily="34" charset="0"/>
                <a:ea typeface="Consolas" pitchFamily="34" charset="-122"/>
                <a:cs typeface="Consolas" pitchFamily="34" charset="-120"/>
              </a:rPr>
              <a:t>2026  ★</a:t>
            </a:r>
            <a:endParaRPr lang="en-US" sz="1000" dirty="0"/>
          </a:p>
        </p:txBody>
      </p:sp>
      <p:sp>
        <p:nvSpPr>
          <p:cNvPr id="24" name="Shape 20"/>
          <p:cNvSpPr/>
          <p:nvPr/>
        </p:nvSpPr>
        <p:spPr>
          <a:xfrm>
            <a:off x="822960" y="5303520"/>
            <a:ext cx="118872" cy="118872"/>
          </a:xfrm>
          <a:prstGeom prst="ellipse">
            <a:avLst/>
          </a:prstGeom>
          <a:solidFill>
            <a:srgbClr val="0B0F1A"/>
          </a:solidFill>
          <a:ln w="15875">
            <a:solidFill>
              <a:srgbClr val="2DD4BF"/>
            </a:solidFill>
            <a:prstDash val="solid"/>
          </a:ln>
        </p:spPr>
      </p:sp>
      <p:sp>
        <p:nvSpPr>
          <p:cNvPr id="25" name="Text 21"/>
          <p:cNvSpPr/>
          <p:nvPr/>
        </p:nvSpPr>
        <p:spPr>
          <a:xfrm>
            <a:off x="1060704" y="5248656"/>
            <a:ext cx="3291840" cy="292608"/>
          </a:xfrm>
          <a:prstGeom prst="rect">
            <a:avLst/>
          </a:prstGeom>
          <a:noFill/>
          <a:ln/>
        </p:spPr>
        <p:txBody>
          <a:bodyPr wrap="square" lIns="0" tIns="0" rIns="0" bIns="0" rtlCol="0" anchor="ctr"/>
          <a:lstStyle/>
          <a:p>
            <a:pPr indent="0" marL="0">
              <a:buNone/>
            </a:pPr>
            <a:r>
              <a:rPr lang="en-US" sz="1150" dirty="0">
                <a:solidFill>
                  <a:srgbClr val="B7C4DC"/>
                </a:solidFill>
                <a:latin typeface="Malgun Gothic" pitchFamily="34" charset="0"/>
                <a:ea typeface="Malgun Gothic" pitchFamily="34" charset="-122"/>
                <a:cs typeface="Malgun Gothic" pitchFamily="34" charset="-120"/>
              </a:rPr>
              <a:t>Risk Twin</a:t>
            </a:r>
            <a:endParaRPr lang="en-US" sz="1150" dirty="0"/>
          </a:p>
        </p:txBody>
      </p:sp>
      <p:sp>
        <p:nvSpPr>
          <p:cNvPr id="26" name="Text 22"/>
          <p:cNvSpPr/>
          <p:nvPr/>
        </p:nvSpPr>
        <p:spPr>
          <a:xfrm>
            <a:off x="4160520" y="5248656"/>
            <a:ext cx="1188720" cy="292608"/>
          </a:xfrm>
          <a:prstGeom prst="rect">
            <a:avLst/>
          </a:prstGeom>
          <a:noFill/>
          <a:ln/>
        </p:spPr>
        <p:txBody>
          <a:bodyPr wrap="square" lIns="0" tIns="0" rIns="0" bIns="0" rtlCol="0" anchor="ctr"/>
          <a:lstStyle/>
          <a:p>
            <a:pPr algn="r" indent="0" marL="0">
              <a:buNone/>
            </a:pPr>
            <a:r>
              <a:rPr lang="en-US" sz="1000" dirty="0">
                <a:solidFill>
                  <a:srgbClr val="8493AE"/>
                </a:solidFill>
                <a:latin typeface="Consolas" pitchFamily="34" charset="0"/>
                <a:ea typeface="Consolas" pitchFamily="34" charset="-122"/>
                <a:cs typeface="Consolas" pitchFamily="34" charset="-120"/>
              </a:rPr>
              <a:t>2028+</a:t>
            </a:r>
            <a:endParaRPr lang="en-US" sz="1000" dirty="0"/>
          </a:p>
        </p:txBody>
      </p:sp>
      <p:sp>
        <p:nvSpPr>
          <p:cNvPr id="27" name="Text 23"/>
          <p:cNvSpPr/>
          <p:nvPr/>
        </p:nvSpPr>
        <p:spPr>
          <a:xfrm>
            <a:off x="822960" y="5870448"/>
            <a:ext cx="4526280" cy="274320"/>
          </a:xfrm>
          <a:prstGeom prst="rect">
            <a:avLst/>
          </a:prstGeom>
          <a:noFill/>
          <a:ln/>
        </p:spPr>
        <p:txBody>
          <a:bodyPr wrap="square" lIns="0" tIns="0" rIns="0" bIns="0" rtlCol="0" anchor="ctr"/>
          <a:lstStyle/>
          <a:p>
            <a:pPr algn="l" indent="0" marL="0">
              <a:buNone/>
            </a:pPr>
            <a:r>
              <a:rPr lang="en-US" sz="1150" b="1" dirty="0">
                <a:solidFill>
                  <a:srgbClr val="2DD4BF"/>
                </a:solidFill>
                <a:latin typeface="Malgun Gothic" pitchFamily="34" charset="0"/>
                <a:ea typeface="Malgun Gothic" pitchFamily="34" charset="-122"/>
                <a:cs typeface="Malgun Gothic" pitchFamily="34" charset="-120"/>
              </a:rPr>
              <a:t>대표 기업</a:t>
            </a:r>
            <a:endParaRPr lang="en-US" sz="1150" dirty="0"/>
          </a:p>
        </p:txBody>
      </p:sp>
      <p:sp>
        <p:nvSpPr>
          <p:cNvPr id="28" name="Text 24"/>
          <p:cNvSpPr/>
          <p:nvPr/>
        </p:nvSpPr>
        <p:spPr>
          <a:xfrm>
            <a:off x="822960" y="6108192"/>
            <a:ext cx="4526280" cy="384048"/>
          </a:xfrm>
          <a:prstGeom prst="rect">
            <a:avLst/>
          </a:prstGeom>
          <a:noFill/>
          <a:ln/>
        </p:spPr>
        <p:txBody>
          <a:bodyPr wrap="square" lIns="0" tIns="0" rIns="0" bIns="0" rtlCol="0" anchor="ctr"/>
          <a:lstStyle/>
          <a:p>
            <a:pPr indent="0" marL="0">
              <a:lnSpc>
                <a:spcPct val="105000"/>
              </a:lnSpc>
              <a:buNone/>
            </a:pPr>
            <a:r>
              <a:rPr lang="en-US" sz="1000" dirty="0">
                <a:solidFill>
                  <a:srgbClr val="B7C4DC"/>
                </a:solidFill>
                <a:latin typeface="Malgun Gothic" pitchFamily="34" charset="0"/>
                <a:ea typeface="Malgun Gothic" pitchFamily="34" charset="-122"/>
                <a:cs typeface="Malgun Gothic" pitchFamily="34" charset="-120"/>
              </a:rPr>
              <a:t>NVIDIA Omniverse·Cosmos, Tesla Sim, 주요 디지털트윈 플랫폼</a:t>
            </a:r>
            <a:endParaRPr lang="en-US" sz="1000" dirty="0"/>
          </a:p>
        </p:txBody>
      </p:sp>
      <p:sp>
        <p:nvSpPr>
          <p:cNvPr id="29" name="Text 25"/>
          <p:cNvSpPr/>
          <p:nvPr/>
        </p:nvSpPr>
        <p:spPr>
          <a:xfrm>
            <a:off x="5897880" y="2395728"/>
            <a:ext cx="5742432" cy="274320"/>
          </a:xfrm>
          <a:prstGeom prst="rect">
            <a:avLst/>
          </a:prstGeom>
          <a:noFill/>
          <a:ln/>
        </p:spPr>
        <p:txBody>
          <a:bodyPr wrap="square" lIns="0" tIns="0" rIns="0" bIns="0" rtlCol="0" anchor="ctr"/>
          <a:lstStyle/>
          <a:p>
            <a:pPr algn="l" indent="0" marL="0">
              <a:buNone/>
            </a:pPr>
            <a:r>
              <a:rPr lang="en-US" sz="1150" b="1" dirty="0">
                <a:solidFill>
                  <a:srgbClr val="2DD4BF"/>
                </a:solidFill>
                <a:latin typeface="Malgun Gothic" pitchFamily="34" charset="0"/>
                <a:ea typeface="Malgun Gothic" pitchFamily="34" charset="-122"/>
                <a:cs typeface="Malgun Gothic" pitchFamily="34" charset="-120"/>
              </a:rPr>
              <a:t>왜 필요한가</a:t>
            </a:r>
            <a:endParaRPr lang="en-US" sz="1150" dirty="0"/>
          </a:p>
        </p:txBody>
      </p:sp>
      <p:sp>
        <p:nvSpPr>
          <p:cNvPr id="30" name="Text 26"/>
          <p:cNvSpPr/>
          <p:nvPr/>
        </p:nvSpPr>
        <p:spPr>
          <a:xfrm>
            <a:off x="5897880" y="2651760"/>
            <a:ext cx="5742432" cy="1143000"/>
          </a:xfrm>
          <a:prstGeom prst="rect">
            <a:avLst/>
          </a:prstGeom>
          <a:noFill/>
          <a:ln/>
        </p:spPr>
        <p:txBody>
          <a:bodyPr wrap="square" lIns="0" tIns="0" rIns="0" bIns="0" rtlCol="0" anchor="ctr"/>
          <a:lstStyle/>
          <a:p>
            <a:pPr indent="0" marL="0">
              <a:lnSpc>
                <a:spcPct val="122000"/>
              </a:lnSpc>
              <a:buNone/>
            </a:pPr>
            <a:r>
              <a:rPr lang="en-US" sz="1250" dirty="0">
                <a:solidFill>
                  <a:srgbClr val="B7C4DC"/>
                </a:solidFill>
                <a:latin typeface="Malgun Gothic" pitchFamily="34" charset="0"/>
                <a:ea typeface="Malgun Gothic" pitchFamily="34" charset="-122"/>
                <a:cs typeface="Malgun Gothic" pitchFamily="34" charset="-120"/>
              </a:rPr>
              <a:t>로봇을 진짜 공장에서 잘못 훈련시키면 사람이 다치고 설비가 부서집니다. 디지털 트윈·시뮬레이션이면 위험 없이 수백만 번 연습하고, 실패해도 비용이 0에 가깝습니다.</a:t>
            </a:r>
            <a:endParaRPr lang="en-US" sz="1250" dirty="0"/>
          </a:p>
        </p:txBody>
      </p:sp>
      <p:sp>
        <p:nvSpPr>
          <p:cNvPr id="31" name="Text 27"/>
          <p:cNvSpPr/>
          <p:nvPr/>
        </p:nvSpPr>
        <p:spPr>
          <a:xfrm>
            <a:off x="5897880" y="3931920"/>
            <a:ext cx="5742432" cy="274320"/>
          </a:xfrm>
          <a:prstGeom prst="rect">
            <a:avLst/>
          </a:prstGeom>
          <a:noFill/>
          <a:ln/>
        </p:spPr>
        <p:txBody>
          <a:bodyPr wrap="square" lIns="0" tIns="0" rIns="0" bIns="0" rtlCol="0" anchor="ctr"/>
          <a:lstStyle/>
          <a:p>
            <a:pPr algn="l" indent="0" marL="0">
              <a:buNone/>
            </a:pPr>
            <a:r>
              <a:rPr lang="en-US" sz="1150" b="1" dirty="0">
                <a:solidFill>
                  <a:srgbClr val="2DD4BF"/>
                </a:solidFill>
                <a:latin typeface="Malgun Gothic" pitchFamily="34" charset="0"/>
                <a:ea typeface="Malgun Gothic" pitchFamily="34" charset="-122"/>
                <a:cs typeface="Malgun Gothic" pitchFamily="34" charset="-120"/>
              </a:rPr>
              <a:t>핵심 기술</a:t>
            </a:r>
            <a:endParaRPr lang="en-US" sz="1150" dirty="0"/>
          </a:p>
        </p:txBody>
      </p:sp>
      <p:sp>
        <p:nvSpPr>
          <p:cNvPr id="32" name="Text 28"/>
          <p:cNvSpPr/>
          <p:nvPr/>
        </p:nvSpPr>
        <p:spPr>
          <a:xfrm>
            <a:off x="5897880" y="4187952"/>
            <a:ext cx="5742432" cy="777240"/>
          </a:xfrm>
          <a:prstGeom prst="rect">
            <a:avLst/>
          </a:prstGeom>
          <a:noFill/>
          <a:ln/>
        </p:spPr>
        <p:txBody>
          <a:bodyPr wrap="square" lIns="0" tIns="0" rIns="0" bIns="0" rtlCol="0" anchor="ctr"/>
          <a:lstStyle/>
          <a:p>
            <a:pPr indent="0" marL="0">
              <a:lnSpc>
                <a:spcPct val="125000"/>
              </a:lnSpc>
              <a:buNone/>
            </a:pPr>
            <a:r>
              <a:rPr lang="en-US" sz="1200" dirty="0">
                <a:solidFill>
                  <a:srgbClr val="B7C4DC"/>
                </a:solidFill>
                <a:latin typeface="Malgun Gothic" pitchFamily="34" charset="0"/>
                <a:ea typeface="Malgun Gothic" pitchFamily="34" charset="-122"/>
                <a:cs typeface="Malgun Gothic" pitchFamily="34" charset="-120"/>
              </a:rPr>
              <a:t>Physics Simulation   ·   Digital Twin   ·   Synthetic Data   ·   Robot Simulation   ·   Risk Twin   ·   Scenario Simulation</a:t>
            </a:r>
            <a:endParaRPr lang="en-US" sz="1200" dirty="0"/>
          </a:p>
        </p:txBody>
      </p:sp>
      <p:sp>
        <p:nvSpPr>
          <p:cNvPr id="33" name="Text 29"/>
          <p:cNvSpPr/>
          <p:nvPr/>
        </p:nvSpPr>
        <p:spPr>
          <a:xfrm>
            <a:off x="5897880" y="5074920"/>
            <a:ext cx="5742432" cy="274320"/>
          </a:xfrm>
          <a:prstGeom prst="rect">
            <a:avLst/>
          </a:prstGeom>
          <a:noFill/>
          <a:ln/>
        </p:spPr>
        <p:txBody>
          <a:bodyPr wrap="square" lIns="0" tIns="0" rIns="0" bIns="0" rtlCol="0" anchor="ctr"/>
          <a:lstStyle/>
          <a:p>
            <a:pPr algn="l" indent="0" marL="0">
              <a:buNone/>
            </a:pPr>
            <a:r>
              <a:rPr lang="en-US" sz="1150" b="1" dirty="0">
                <a:solidFill>
                  <a:srgbClr val="2DD4BF"/>
                </a:solidFill>
                <a:latin typeface="Malgun Gothic" pitchFamily="34" charset="0"/>
                <a:ea typeface="Malgun Gothic" pitchFamily="34" charset="-122"/>
                <a:cs typeface="Malgun Gothic" pitchFamily="34" charset="-120"/>
              </a:rPr>
              <a:t>2035 전망</a:t>
            </a:r>
            <a:endParaRPr lang="en-US" sz="1150" dirty="0"/>
          </a:p>
        </p:txBody>
      </p:sp>
      <p:sp>
        <p:nvSpPr>
          <p:cNvPr id="34" name="Text 30"/>
          <p:cNvSpPr/>
          <p:nvPr/>
        </p:nvSpPr>
        <p:spPr>
          <a:xfrm>
            <a:off x="5897880" y="5330952"/>
            <a:ext cx="5742432" cy="1188720"/>
          </a:xfrm>
          <a:prstGeom prst="rect">
            <a:avLst/>
          </a:prstGeom>
          <a:noFill/>
          <a:ln/>
        </p:spPr>
        <p:txBody>
          <a:bodyPr wrap="square" lIns="0" tIns="0" rIns="0" bIns="0" rtlCol="0" anchor="ctr"/>
          <a:lstStyle/>
          <a:p>
            <a:pPr indent="0" marL="0">
              <a:lnSpc>
                <a:spcPct val="122000"/>
              </a:lnSpc>
              <a:buNone/>
            </a:pPr>
            <a:r>
              <a:rPr lang="en-US" sz="1250" dirty="0">
                <a:solidFill>
                  <a:srgbClr val="B7C4DC"/>
                </a:solidFill>
                <a:latin typeface="Malgun Gothic" pitchFamily="34" charset="0"/>
                <a:ea typeface="Malgun Gothic" pitchFamily="34" charset="-122"/>
                <a:cs typeface="Malgun Gothic" pitchFamily="34" charset="-120"/>
              </a:rPr>
              <a:t>중요한 설비·공정·도시에는 '디지털 쌍둥이'가 기본으로 붙고, 실제 운영 전에 가상에서 먼저 검증하는 것이 안전·규제의 표준 절차가 됩니다.</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548640" y="502920"/>
            <a:ext cx="868680" cy="868680"/>
          </a:xfrm>
          <a:prstGeom prst="ellipse">
            <a:avLst/>
          </a:prstGeom>
          <a:solidFill>
            <a:srgbClr val="18223A"/>
          </a:solidFill>
          <a:ln w="22225">
            <a:solidFill>
              <a:srgbClr val="6366F1"/>
            </a:solidFill>
            <a:prstDash val="solid"/>
          </a:ln>
        </p:spPr>
      </p:sp>
      <p:pic>
        <p:nvPicPr>
          <p:cNvPr id="3" name="Image 0" descr="assets/icon_civilization.png">    </p:cNvPr>
          <p:cNvPicPr>
            <a:picLocks noChangeAspect="1"/>
          </p:cNvPicPr>
          <p:nvPr/>
        </p:nvPicPr>
        <p:blipFill>
          <a:blip r:embed="rId1"/>
          <a:stretch>
            <a:fillRect/>
          </a:stretch>
        </p:blipFill>
        <p:spPr>
          <a:xfrm>
            <a:off x="713689" y="667969"/>
            <a:ext cx="538582" cy="538582"/>
          </a:xfrm>
          <a:prstGeom prst="rect">
            <a:avLst/>
          </a:prstGeom>
        </p:spPr>
      </p:pic>
      <p:sp>
        <p:nvSpPr>
          <p:cNvPr id="4" name="Text 1"/>
          <p:cNvSpPr/>
          <p:nvPr/>
        </p:nvSpPr>
        <p:spPr>
          <a:xfrm>
            <a:off x="1600200" y="475488"/>
            <a:ext cx="2743200" cy="292608"/>
          </a:xfrm>
          <a:prstGeom prst="rect">
            <a:avLst/>
          </a:prstGeom>
          <a:noFill/>
          <a:ln/>
        </p:spPr>
        <p:txBody>
          <a:bodyPr wrap="square" lIns="0" tIns="0" rIns="0" bIns="0" rtlCol="0" anchor="ctr"/>
          <a:lstStyle/>
          <a:p>
            <a:pPr indent="0" marL="0">
              <a:buNone/>
            </a:pPr>
            <a:r>
              <a:rPr lang="en-US" sz="1400" b="1" dirty="0">
                <a:solidFill>
                  <a:srgbClr val="6366F1"/>
                </a:solidFill>
                <a:latin typeface="Consolas" pitchFamily="34" charset="0"/>
                <a:ea typeface="Consolas" pitchFamily="34" charset="-122"/>
                <a:cs typeface="Consolas" pitchFamily="34" charset="-120"/>
              </a:rPr>
              <a:t>12</a:t>
            </a:r>
            <a:endParaRPr lang="en-US" sz="1400" dirty="0"/>
          </a:p>
        </p:txBody>
      </p:sp>
      <p:sp>
        <p:nvSpPr>
          <p:cNvPr id="5" name="Text 2"/>
          <p:cNvSpPr/>
          <p:nvPr/>
        </p:nvSpPr>
        <p:spPr>
          <a:xfrm>
            <a:off x="1572768" y="713232"/>
            <a:ext cx="6858000" cy="658368"/>
          </a:xfrm>
          <a:prstGeom prst="rect">
            <a:avLst/>
          </a:prstGeom>
          <a:noFill/>
          <a:ln/>
        </p:spPr>
        <p:txBody>
          <a:bodyPr wrap="square" lIns="0" tIns="0" rIns="0" bIns="0" rtlCol="0" anchor="ctr"/>
          <a:lstStyle/>
          <a:p>
            <a:pPr indent="0" marL="0">
              <a:buNone/>
            </a:pPr>
            <a:r>
              <a:rPr lang="en-US" sz="3300" b="1" dirty="0">
                <a:solidFill>
                  <a:srgbClr val="EAF0FF"/>
                </a:solidFill>
                <a:latin typeface="Malgun Gothic" pitchFamily="34" charset="0"/>
                <a:ea typeface="Malgun Gothic" pitchFamily="34" charset="-122"/>
                <a:cs typeface="Malgun Gothic" pitchFamily="34" charset="-120"/>
              </a:rPr>
              <a:t>AI 문명</a:t>
            </a:r>
            <a:endParaRPr lang="en-US" sz="3300" dirty="0"/>
          </a:p>
        </p:txBody>
      </p:sp>
      <p:sp>
        <p:nvSpPr>
          <p:cNvPr id="6" name="Text 3"/>
          <p:cNvSpPr/>
          <p:nvPr/>
        </p:nvSpPr>
        <p:spPr>
          <a:xfrm>
            <a:off x="1600200" y="1371600"/>
            <a:ext cx="8229600" cy="292608"/>
          </a:xfrm>
          <a:prstGeom prst="rect">
            <a:avLst/>
          </a:prstGeom>
          <a:noFill/>
          <a:ln/>
        </p:spPr>
        <p:txBody>
          <a:bodyPr wrap="square" lIns="0" tIns="0" rIns="0" bIns="0" rtlCol="0" anchor="ctr"/>
          <a:lstStyle/>
          <a:p>
            <a:pPr indent="0" marL="0">
              <a:buNone/>
            </a:pPr>
            <a:r>
              <a:rPr lang="en-US" sz="1300" dirty="0">
                <a:solidFill>
                  <a:srgbClr val="8493AE"/>
                </a:solidFill>
                <a:latin typeface="Malgun Gothic" pitchFamily="34" charset="0"/>
                <a:ea typeface="Malgun Gothic" pitchFamily="34" charset="-122"/>
                <a:cs typeface="Malgun Gothic" pitchFamily="34" charset="-120"/>
              </a:rPr>
              <a:t>AI Civilization · AI들이 일하고 거래하는 사회</a:t>
            </a:r>
            <a:endParaRPr lang="en-US" sz="1300" dirty="0"/>
          </a:p>
        </p:txBody>
      </p:sp>
      <p:sp>
        <p:nvSpPr>
          <p:cNvPr id="7" name="Text 4"/>
          <p:cNvSpPr/>
          <p:nvPr/>
        </p:nvSpPr>
        <p:spPr>
          <a:xfrm>
            <a:off x="1600200" y="1700784"/>
            <a:ext cx="8869680" cy="457200"/>
          </a:xfrm>
          <a:prstGeom prst="rect">
            <a:avLst/>
          </a:prstGeom>
          <a:noFill/>
          <a:ln/>
        </p:spPr>
        <p:txBody>
          <a:bodyPr wrap="square" lIns="0" tIns="0" rIns="0" bIns="0" rtlCol="0" anchor="ctr"/>
          <a:lstStyle/>
          <a:p>
            <a:pPr indent="0" marL="0">
              <a:buNone/>
            </a:pPr>
            <a:r>
              <a:rPr lang="en-US" sz="1350" i="1" dirty="0">
                <a:solidFill>
                  <a:srgbClr val="B7C4DC"/>
                </a:solidFill>
                <a:latin typeface="Malgun Gothic" pitchFamily="34" charset="0"/>
                <a:ea typeface="Malgun Gothic" pitchFamily="34" charset="-122"/>
                <a:cs typeface="Malgun Gothic" pitchFamily="34" charset="-120"/>
              </a:rPr>
              <a:t>개별 AI를 넘어, AI들이 조직·경제·운영체제를 이루는 단계.</a:t>
            </a:r>
            <a:endParaRPr lang="en-US" sz="1350" dirty="0"/>
          </a:p>
        </p:txBody>
      </p:sp>
      <p:pic>
        <p:nvPicPr>
          <p:cNvPr id="8" name="Image 1" descr="assets/loc_civilization.png">    </p:cNvPr>
          <p:cNvPicPr>
            <a:picLocks noChangeAspect="1"/>
          </p:cNvPicPr>
          <p:nvPr/>
        </p:nvPicPr>
        <p:blipFill>
          <a:blip r:embed="rId2"/>
          <a:stretch>
            <a:fillRect/>
          </a:stretch>
        </p:blipFill>
        <p:spPr>
          <a:xfrm>
            <a:off x="10972800" y="457200"/>
            <a:ext cx="914400" cy="1600200"/>
          </a:xfrm>
          <a:prstGeom prst="rect">
            <a:avLst/>
          </a:prstGeom>
        </p:spPr>
      </p:pic>
      <p:sp>
        <p:nvSpPr>
          <p:cNvPr id="9" name="Text 5"/>
          <p:cNvSpPr/>
          <p:nvPr/>
        </p:nvSpPr>
        <p:spPr>
          <a:xfrm>
            <a:off x="10607040" y="2075688"/>
            <a:ext cx="1645920" cy="228600"/>
          </a:xfrm>
          <a:prstGeom prst="rect">
            <a:avLst/>
          </a:prstGeom>
          <a:noFill/>
          <a:ln/>
        </p:spPr>
        <p:txBody>
          <a:bodyPr wrap="square" lIns="0" tIns="0" rIns="0" bIns="0" rtlCol="0" anchor="ctr"/>
          <a:lstStyle/>
          <a:p>
            <a:pPr algn="ctr" indent="0" marL="0">
              <a:buNone/>
            </a:pPr>
            <a:r>
              <a:rPr lang="en-US" sz="900" dirty="0">
                <a:solidFill>
                  <a:srgbClr val="8493AE"/>
                </a:solidFill>
                <a:latin typeface="Malgun Gothic" pitchFamily="34" charset="0"/>
                <a:ea typeface="Malgun Gothic" pitchFamily="34" charset="-122"/>
                <a:cs typeface="Malgun Gothic" pitchFamily="34" charset="-120"/>
              </a:rPr>
              <a:t>몸의 위치</a:t>
            </a:r>
            <a:endParaRPr lang="en-US" sz="900" dirty="0"/>
          </a:p>
        </p:txBody>
      </p:sp>
      <p:sp>
        <p:nvSpPr>
          <p:cNvPr id="10" name="Shape 6"/>
          <p:cNvSpPr/>
          <p:nvPr/>
        </p:nvSpPr>
        <p:spPr>
          <a:xfrm>
            <a:off x="548640" y="2331720"/>
            <a:ext cx="5074920" cy="4224528"/>
          </a:xfrm>
          <a:prstGeom prst="roundRect">
            <a:avLst>
              <a:gd name="adj" fmla="val 1948"/>
            </a:avLst>
          </a:prstGeom>
          <a:solidFill>
            <a:srgbClr val="121A2E"/>
          </a:solidFill>
          <a:ln w="12700">
            <a:solidFill>
              <a:srgbClr val="2A3756"/>
            </a:solidFill>
            <a:prstDash val="solid"/>
          </a:ln>
          <a:effectLst>
            <a:outerShdw sx="100000" sy="100000" kx="0" ky="0" algn="bl" rotWithShape="0" blurRad="114300" dist="38100" dir="5400000">
              <a:srgbClr val="000000">
                <a:alpha val="35000"/>
              </a:srgbClr>
            </a:outerShdw>
          </a:effectLst>
        </p:spPr>
      </p:sp>
      <p:sp>
        <p:nvSpPr>
          <p:cNvPr id="11" name="Text 7"/>
          <p:cNvSpPr/>
          <p:nvPr/>
        </p:nvSpPr>
        <p:spPr>
          <a:xfrm>
            <a:off x="822960" y="2542032"/>
            <a:ext cx="4526280" cy="274320"/>
          </a:xfrm>
          <a:prstGeom prst="rect">
            <a:avLst/>
          </a:prstGeom>
          <a:noFill/>
          <a:ln/>
        </p:spPr>
        <p:txBody>
          <a:bodyPr wrap="square" lIns="0" tIns="0" rIns="0" bIns="0" rtlCol="0" anchor="ctr"/>
          <a:lstStyle/>
          <a:p>
            <a:pPr algn="l" indent="0" marL="0">
              <a:buNone/>
            </a:pPr>
            <a:r>
              <a:rPr lang="en-US" sz="1150" b="1" dirty="0">
                <a:solidFill>
                  <a:srgbClr val="6366F1"/>
                </a:solidFill>
                <a:latin typeface="Malgun Gothic" pitchFamily="34" charset="0"/>
                <a:ea typeface="Malgun Gothic" pitchFamily="34" charset="-122"/>
                <a:cs typeface="Malgun Gothic" pitchFamily="34" charset="-120"/>
              </a:rPr>
              <a:t>쉬운 비유</a:t>
            </a:r>
            <a:endParaRPr lang="en-US" sz="1150" dirty="0"/>
          </a:p>
        </p:txBody>
      </p:sp>
      <p:sp>
        <p:nvSpPr>
          <p:cNvPr id="12" name="Text 8"/>
          <p:cNvSpPr/>
          <p:nvPr/>
        </p:nvSpPr>
        <p:spPr>
          <a:xfrm>
            <a:off x="822960" y="2798064"/>
            <a:ext cx="4526280" cy="365760"/>
          </a:xfrm>
          <a:prstGeom prst="rect">
            <a:avLst/>
          </a:prstGeom>
          <a:noFill/>
          <a:ln/>
        </p:spPr>
        <p:txBody>
          <a:bodyPr wrap="square" lIns="0" tIns="0" rIns="0" bIns="0" rtlCol="0" anchor="ctr"/>
          <a:lstStyle/>
          <a:p>
            <a:pPr indent="0" marL="0">
              <a:buNone/>
            </a:pPr>
            <a:r>
              <a:rPr lang="en-US" sz="1550" b="1" dirty="0">
                <a:solidFill>
                  <a:srgbClr val="EAF0FF"/>
                </a:solidFill>
                <a:latin typeface="Malgun Gothic" pitchFamily="34" charset="0"/>
                <a:ea typeface="Malgun Gothic" pitchFamily="34" charset="-122"/>
                <a:cs typeface="Malgun Gothic" pitchFamily="34" charset="-120"/>
              </a:rPr>
              <a:t>도구 → 직원 → AI들이 사는 도시</a:t>
            </a:r>
            <a:endParaRPr lang="en-US" sz="1550" dirty="0"/>
          </a:p>
        </p:txBody>
      </p:sp>
      <p:sp>
        <p:nvSpPr>
          <p:cNvPr id="13" name="Text 9"/>
          <p:cNvSpPr/>
          <p:nvPr/>
        </p:nvSpPr>
        <p:spPr>
          <a:xfrm>
            <a:off x="822960" y="3200400"/>
            <a:ext cx="4526280" cy="822960"/>
          </a:xfrm>
          <a:prstGeom prst="rect">
            <a:avLst/>
          </a:prstGeom>
          <a:noFill/>
          <a:ln/>
        </p:spPr>
        <p:txBody>
          <a:bodyPr wrap="square" lIns="0" tIns="0" rIns="0" bIns="0" rtlCol="0" anchor="ctr"/>
          <a:lstStyle/>
          <a:p>
            <a:pPr indent="0" marL="0">
              <a:lnSpc>
                <a:spcPct val="116000"/>
              </a:lnSpc>
              <a:buNone/>
            </a:pPr>
            <a:r>
              <a:rPr lang="en-US" sz="1150" dirty="0">
                <a:solidFill>
                  <a:srgbClr val="B7C4DC"/>
                </a:solidFill>
                <a:latin typeface="Malgun Gothic" pitchFamily="34" charset="0"/>
                <a:ea typeface="Malgun Gothic" pitchFamily="34" charset="-122"/>
                <a:cs typeface="Malgun Gothic" pitchFamily="34" charset="-120"/>
              </a:rPr>
              <a:t>AI 도구는 망치, AI Workforce는 직원, AI Organization·City는 그 직원들이 모여 일하는 회사와 도시 — 개체에서 사회로 올라갑니다.</a:t>
            </a:r>
            <a:endParaRPr lang="en-US" sz="1150" dirty="0"/>
          </a:p>
        </p:txBody>
      </p:sp>
      <p:sp>
        <p:nvSpPr>
          <p:cNvPr id="14" name="Text 10"/>
          <p:cNvSpPr/>
          <p:nvPr/>
        </p:nvSpPr>
        <p:spPr>
          <a:xfrm>
            <a:off x="822960" y="4078224"/>
            <a:ext cx="4526280" cy="274320"/>
          </a:xfrm>
          <a:prstGeom prst="rect">
            <a:avLst/>
          </a:prstGeom>
          <a:noFill/>
          <a:ln/>
        </p:spPr>
        <p:txBody>
          <a:bodyPr wrap="square" lIns="0" tIns="0" rIns="0" bIns="0" rtlCol="0" anchor="ctr"/>
          <a:lstStyle/>
          <a:p>
            <a:pPr algn="l" indent="0" marL="0">
              <a:buNone/>
            </a:pPr>
            <a:r>
              <a:rPr lang="en-US" sz="1150" b="1" dirty="0">
                <a:solidFill>
                  <a:srgbClr val="6366F1"/>
                </a:solidFill>
                <a:latin typeface="Malgun Gothic" pitchFamily="34" charset="0"/>
                <a:ea typeface="Malgun Gothic" pitchFamily="34" charset="-122"/>
                <a:cs typeface="Malgun Gothic" pitchFamily="34" charset="-120"/>
              </a:rPr>
              <a:t>진화 단계</a:t>
            </a:r>
            <a:endParaRPr lang="en-US" sz="1150" dirty="0"/>
          </a:p>
        </p:txBody>
      </p:sp>
      <p:sp>
        <p:nvSpPr>
          <p:cNvPr id="15" name="Shape 11"/>
          <p:cNvSpPr/>
          <p:nvPr/>
        </p:nvSpPr>
        <p:spPr>
          <a:xfrm>
            <a:off x="822960" y="4425696"/>
            <a:ext cx="118872" cy="118872"/>
          </a:xfrm>
          <a:prstGeom prst="ellipse">
            <a:avLst/>
          </a:prstGeom>
          <a:solidFill>
            <a:srgbClr val="8493AE"/>
          </a:solidFill>
          <a:ln w="15875">
            <a:solidFill>
              <a:srgbClr val="8493AE"/>
            </a:solidFill>
            <a:prstDash val="solid"/>
          </a:ln>
        </p:spPr>
      </p:sp>
      <p:sp>
        <p:nvSpPr>
          <p:cNvPr id="16" name="Text 12"/>
          <p:cNvSpPr/>
          <p:nvPr/>
        </p:nvSpPr>
        <p:spPr>
          <a:xfrm>
            <a:off x="1060704" y="4370832"/>
            <a:ext cx="3291840" cy="292608"/>
          </a:xfrm>
          <a:prstGeom prst="rect">
            <a:avLst/>
          </a:prstGeom>
          <a:noFill/>
          <a:ln/>
        </p:spPr>
        <p:txBody>
          <a:bodyPr wrap="square" lIns="0" tIns="0" rIns="0" bIns="0" rtlCol="0" anchor="ctr"/>
          <a:lstStyle/>
          <a:p>
            <a:pPr indent="0" marL="0">
              <a:buNone/>
            </a:pPr>
            <a:r>
              <a:rPr lang="en-US" sz="1150" dirty="0">
                <a:solidFill>
                  <a:srgbClr val="8493AE"/>
                </a:solidFill>
                <a:latin typeface="Malgun Gothic" pitchFamily="34" charset="0"/>
                <a:ea typeface="Malgun Gothic" pitchFamily="34" charset="-122"/>
                <a:cs typeface="Malgun Gothic" pitchFamily="34" charset="-120"/>
              </a:rPr>
              <a:t>AI 도구</a:t>
            </a:r>
            <a:endParaRPr lang="en-US" sz="1150" dirty="0"/>
          </a:p>
        </p:txBody>
      </p:sp>
      <p:sp>
        <p:nvSpPr>
          <p:cNvPr id="17" name="Text 13"/>
          <p:cNvSpPr/>
          <p:nvPr/>
        </p:nvSpPr>
        <p:spPr>
          <a:xfrm>
            <a:off x="4160520" y="4370832"/>
            <a:ext cx="1188720" cy="292608"/>
          </a:xfrm>
          <a:prstGeom prst="rect">
            <a:avLst/>
          </a:prstGeom>
          <a:noFill/>
          <a:ln/>
        </p:spPr>
        <p:txBody>
          <a:bodyPr wrap="square" lIns="0" tIns="0" rIns="0" bIns="0" rtlCol="0" anchor="ctr"/>
          <a:lstStyle/>
          <a:p>
            <a:pPr algn="r" indent="0" marL="0">
              <a:buNone/>
            </a:pPr>
            <a:r>
              <a:rPr lang="en-US" sz="1000" dirty="0">
                <a:solidFill>
                  <a:srgbClr val="8493AE"/>
                </a:solidFill>
                <a:latin typeface="Consolas" pitchFamily="34" charset="0"/>
                <a:ea typeface="Consolas" pitchFamily="34" charset="-122"/>
                <a:cs typeface="Consolas" pitchFamily="34" charset="-120"/>
              </a:rPr>
              <a:t>~2025</a:t>
            </a:r>
            <a:endParaRPr lang="en-US" sz="1000" dirty="0"/>
          </a:p>
        </p:txBody>
      </p:sp>
      <p:sp>
        <p:nvSpPr>
          <p:cNvPr id="18" name="Shape 14"/>
          <p:cNvSpPr/>
          <p:nvPr/>
        </p:nvSpPr>
        <p:spPr>
          <a:xfrm>
            <a:off x="822960" y="4718304"/>
            <a:ext cx="118872" cy="118872"/>
          </a:xfrm>
          <a:prstGeom prst="ellipse">
            <a:avLst/>
          </a:prstGeom>
          <a:solidFill>
            <a:srgbClr val="6366F1"/>
          </a:solidFill>
          <a:ln w="15875">
            <a:solidFill>
              <a:srgbClr val="6366F1"/>
            </a:solidFill>
            <a:prstDash val="solid"/>
          </a:ln>
        </p:spPr>
      </p:sp>
      <p:sp>
        <p:nvSpPr>
          <p:cNvPr id="19" name="Text 15"/>
          <p:cNvSpPr/>
          <p:nvPr/>
        </p:nvSpPr>
        <p:spPr>
          <a:xfrm>
            <a:off x="1060704" y="4663440"/>
            <a:ext cx="3291840" cy="292608"/>
          </a:xfrm>
          <a:prstGeom prst="rect">
            <a:avLst/>
          </a:prstGeom>
          <a:noFill/>
          <a:ln/>
        </p:spPr>
        <p:txBody>
          <a:bodyPr wrap="square" lIns="0" tIns="0" rIns="0" bIns="0" rtlCol="0" anchor="ctr"/>
          <a:lstStyle/>
          <a:p>
            <a:pPr indent="0" marL="0">
              <a:buNone/>
            </a:pPr>
            <a:r>
              <a:rPr lang="en-US" sz="1150" b="1" dirty="0">
                <a:solidFill>
                  <a:srgbClr val="6366F1"/>
                </a:solidFill>
                <a:latin typeface="Malgun Gothic" pitchFamily="34" charset="0"/>
                <a:ea typeface="Malgun Gothic" pitchFamily="34" charset="-122"/>
                <a:cs typeface="Malgun Gothic" pitchFamily="34" charset="-120"/>
              </a:rPr>
              <a:t>AI Workforce</a:t>
            </a:r>
            <a:endParaRPr lang="en-US" sz="1150" dirty="0"/>
          </a:p>
        </p:txBody>
      </p:sp>
      <p:sp>
        <p:nvSpPr>
          <p:cNvPr id="20" name="Text 16"/>
          <p:cNvSpPr/>
          <p:nvPr/>
        </p:nvSpPr>
        <p:spPr>
          <a:xfrm>
            <a:off x="4160520" y="4663440"/>
            <a:ext cx="1188720" cy="292608"/>
          </a:xfrm>
          <a:prstGeom prst="rect">
            <a:avLst/>
          </a:prstGeom>
          <a:noFill/>
          <a:ln/>
        </p:spPr>
        <p:txBody>
          <a:bodyPr wrap="square" lIns="0" tIns="0" rIns="0" bIns="0" rtlCol="0" anchor="ctr"/>
          <a:lstStyle/>
          <a:p>
            <a:pPr algn="r" indent="0" marL="0">
              <a:buNone/>
            </a:pPr>
            <a:r>
              <a:rPr lang="en-US" sz="1000" dirty="0">
                <a:solidFill>
                  <a:srgbClr val="6366F1"/>
                </a:solidFill>
                <a:latin typeface="Consolas" pitchFamily="34" charset="0"/>
                <a:ea typeface="Consolas" pitchFamily="34" charset="-122"/>
                <a:cs typeface="Consolas" pitchFamily="34" charset="-120"/>
              </a:rPr>
              <a:t>2026  ★</a:t>
            </a:r>
            <a:endParaRPr lang="en-US" sz="1000" dirty="0"/>
          </a:p>
        </p:txBody>
      </p:sp>
      <p:sp>
        <p:nvSpPr>
          <p:cNvPr id="21" name="Shape 17"/>
          <p:cNvSpPr/>
          <p:nvPr/>
        </p:nvSpPr>
        <p:spPr>
          <a:xfrm>
            <a:off x="822960" y="5010912"/>
            <a:ext cx="118872" cy="118872"/>
          </a:xfrm>
          <a:prstGeom prst="ellipse">
            <a:avLst/>
          </a:prstGeom>
          <a:solidFill>
            <a:srgbClr val="6366F1"/>
          </a:solidFill>
          <a:ln w="15875">
            <a:solidFill>
              <a:srgbClr val="6366F1"/>
            </a:solidFill>
            <a:prstDash val="solid"/>
          </a:ln>
        </p:spPr>
      </p:sp>
      <p:sp>
        <p:nvSpPr>
          <p:cNvPr id="22" name="Text 18"/>
          <p:cNvSpPr/>
          <p:nvPr/>
        </p:nvSpPr>
        <p:spPr>
          <a:xfrm>
            <a:off x="1060704" y="4956048"/>
            <a:ext cx="3291840" cy="292608"/>
          </a:xfrm>
          <a:prstGeom prst="rect">
            <a:avLst/>
          </a:prstGeom>
          <a:noFill/>
          <a:ln/>
        </p:spPr>
        <p:txBody>
          <a:bodyPr wrap="square" lIns="0" tIns="0" rIns="0" bIns="0" rtlCol="0" anchor="ctr"/>
          <a:lstStyle/>
          <a:p>
            <a:pPr indent="0" marL="0">
              <a:buNone/>
            </a:pPr>
            <a:r>
              <a:rPr lang="en-US" sz="1150" b="1" dirty="0">
                <a:solidFill>
                  <a:srgbClr val="6366F1"/>
                </a:solidFill>
                <a:latin typeface="Malgun Gothic" pitchFamily="34" charset="0"/>
                <a:ea typeface="Malgun Gothic" pitchFamily="34" charset="-122"/>
                <a:cs typeface="Malgun Gothic" pitchFamily="34" charset="-120"/>
              </a:rPr>
              <a:t>AI Organization</a:t>
            </a:r>
            <a:endParaRPr lang="en-US" sz="1150" dirty="0"/>
          </a:p>
        </p:txBody>
      </p:sp>
      <p:sp>
        <p:nvSpPr>
          <p:cNvPr id="23" name="Text 19"/>
          <p:cNvSpPr/>
          <p:nvPr/>
        </p:nvSpPr>
        <p:spPr>
          <a:xfrm>
            <a:off x="4160520" y="4956048"/>
            <a:ext cx="1188720" cy="292608"/>
          </a:xfrm>
          <a:prstGeom prst="rect">
            <a:avLst/>
          </a:prstGeom>
          <a:noFill/>
          <a:ln/>
        </p:spPr>
        <p:txBody>
          <a:bodyPr wrap="square" lIns="0" tIns="0" rIns="0" bIns="0" rtlCol="0" anchor="ctr"/>
          <a:lstStyle/>
          <a:p>
            <a:pPr algn="r" indent="0" marL="0">
              <a:buNone/>
            </a:pPr>
            <a:r>
              <a:rPr lang="en-US" sz="1000" dirty="0">
                <a:solidFill>
                  <a:srgbClr val="6366F1"/>
                </a:solidFill>
                <a:latin typeface="Consolas" pitchFamily="34" charset="0"/>
                <a:ea typeface="Consolas" pitchFamily="34" charset="-122"/>
                <a:cs typeface="Consolas" pitchFamily="34" charset="-120"/>
              </a:rPr>
              <a:t>2028  ★</a:t>
            </a:r>
            <a:endParaRPr lang="en-US" sz="1000" dirty="0"/>
          </a:p>
        </p:txBody>
      </p:sp>
      <p:sp>
        <p:nvSpPr>
          <p:cNvPr id="24" name="Shape 20"/>
          <p:cNvSpPr/>
          <p:nvPr/>
        </p:nvSpPr>
        <p:spPr>
          <a:xfrm>
            <a:off x="822960" y="5303520"/>
            <a:ext cx="118872" cy="118872"/>
          </a:xfrm>
          <a:prstGeom prst="ellipse">
            <a:avLst/>
          </a:prstGeom>
          <a:solidFill>
            <a:srgbClr val="0B0F1A"/>
          </a:solidFill>
          <a:ln w="15875">
            <a:solidFill>
              <a:srgbClr val="6366F1"/>
            </a:solidFill>
            <a:prstDash val="solid"/>
          </a:ln>
        </p:spPr>
      </p:sp>
      <p:sp>
        <p:nvSpPr>
          <p:cNvPr id="25" name="Text 21"/>
          <p:cNvSpPr/>
          <p:nvPr/>
        </p:nvSpPr>
        <p:spPr>
          <a:xfrm>
            <a:off x="1060704" y="5248656"/>
            <a:ext cx="3291840" cy="292608"/>
          </a:xfrm>
          <a:prstGeom prst="rect">
            <a:avLst/>
          </a:prstGeom>
          <a:noFill/>
          <a:ln/>
        </p:spPr>
        <p:txBody>
          <a:bodyPr wrap="square" lIns="0" tIns="0" rIns="0" bIns="0" rtlCol="0" anchor="ctr"/>
          <a:lstStyle/>
          <a:p>
            <a:pPr indent="0" marL="0">
              <a:buNone/>
            </a:pPr>
            <a:r>
              <a:rPr lang="en-US" sz="1150" dirty="0">
                <a:solidFill>
                  <a:srgbClr val="B7C4DC"/>
                </a:solidFill>
                <a:latin typeface="Malgun Gothic" pitchFamily="34" charset="0"/>
                <a:ea typeface="Malgun Gothic" pitchFamily="34" charset="-122"/>
                <a:cs typeface="Malgun Gothic" pitchFamily="34" charset="-120"/>
              </a:rPr>
              <a:t>AI Economy</a:t>
            </a:r>
            <a:endParaRPr lang="en-US" sz="1150" dirty="0"/>
          </a:p>
        </p:txBody>
      </p:sp>
      <p:sp>
        <p:nvSpPr>
          <p:cNvPr id="26" name="Text 22"/>
          <p:cNvSpPr/>
          <p:nvPr/>
        </p:nvSpPr>
        <p:spPr>
          <a:xfrm>
            <a:off x="4160520" y="5248656"/>
            <a:ext cx="1188720" cy="292608"/>
          </a:xfrm>
          <a:prstGeom prst="rect">
            <a:avLst/>
          </a:prstGeom>
          <a:noFill/>
          <a:ln/>
        </p:spPr>
        <p:txBody>
          <a:bodyPr wrap="square" lIns="0" tIns="0" rIns="0" bIns="0" rtlCol="0" anchor="ctr"/>
          <a:lstStyle/>
          <a:p>
            <a:pPr algn="r" indent="0" marL="0">
              <a:buNone/>
            </a:pPr>
            <a:r>
              <a:rPr lang="en-US" sz="1000" dirty="0">
                <a:solidFill>
                  <a:srgbClr val="8493AE"/>
                </a:solidFill>
                <a:latin typeface="Consolas" pitchFamily="34" charset="0"/>
                <a:ea typeface="Consolas" pitchFamily="34" charset="-122"/>
                <a:cs typeface="Consolas" pitchFamily="34" charset="-120"/>
              </a:rPr>
              <a:t>2030+</a:t>
            </a:r>
            <a:endParaRPr lang="en-US" sz="1000" dirty="0"/>
          </a:p>
        </p:txBody>
      </p:sp>
      <p:sp>
        <p:nvSpPr>
          <p:cNvPr id="27" name="Text 23"/>
          <p:cNvSpPr/>
          <p:nvPr/>
        </p:nvSpPr>
        <p:spPr>
          <a:xfrm>
            <a:off x="822960" y="5870448"/>
            <a:ext cx="4526280" cy="274320"/>
          </a:xfrm>
          <a:prstGeom prst="rect">
            <a:avLst/>
          </a:prstGeom>
          <a:noFill/>
          <a:ln/>
        </p:spPr>
        <p:txBody>
          <a:bodyPr wrap="square" lIns="0" tIns="0" rIns="0" bIns="0" rtlCol="0" anchor="ctr"/>
          <a:lstStyle/>
          <a:p>
            <a:pPr algn="l" indent="0" marL="0">
              <a:buNone/>
            </a:pPr>
            <a:r>
              <a:rPr lang="en-US" sz="1150" b="1" dirty="0">
                <a:solidFill>
                  <a:srgbClr val="6366F1"/>
                </a:solidFill>
                <a:latin typeface="Malgun Gothic" pitchFamily="34" charset="0"/>
                <a:ea typeface="Malgun Gothic" pitchFamily="34" charset="-122"/>
                <a:cs typeface="Malgun Gothic" pitchFamily="34" charset="-120"/>
              </a:rPr>
              <a:t>대표 기업</a:t>
            </a:r>
            <a:endParaRPr lang="en-US" sz="1150" dirty="0"/>
          </a:p>
        </p:txBody>
      </p:sp>
      <p:sp>
        <p:nvSpPr>
          <p:cNvPr id="28" name="Text 24"/>
          <p:cNvSpPr/>
          <p:nvPr/>
        </p:nvSpPr>
        <p:spPr>
          <a:xfrm>
            <a:off x="822960" y="6108192"/>
            <a:ext cx="4526280" cy="384048"/>
          </a:xfrm>
          <a:prstGeom prst="rect">
            <a:avLst/>
          </a:prstGeom>
          <a:noFill/>
          <a:ln/>
        </p:spPr>
        <p:txBody>
          <a:bodyPr wrap="square" lIns="0" tIns="0" rIns="0" bIns="0" rtlCol="0" anchor="ctr"/>
          <a:lstStyle/>
          <a:p>
            <a:pPr indent="0" marL="0">
              <a:lnSpc>
                <a:spcPct val="105000"/>
              </a:lnSpc>
              <a:buNone/>
            </a:pPr>
            <a:r>
              <a:rPr lang="en-US" sz="1000" dirty="0">
                <a:solidFill>
                  <a:srgbClr val="B7C4DC"/>
                </a:solidFill>
                <a:latin typeface="Malgun Gothic" pitchFamily="34" charset="0"/>
                <a:ea typeface="Malgun Gothic" pitchFamily="34" charset="-122"/>
                <a:cs typeface="Malgun Gothic" pitchFamily="34" charset="-120"/>
              </a:rPr>
              <a:t>Salesforce Agentforce, Microsoft Copilot, ServiceNow</a:t>
            </a:r>
            <a:endParaRPr lang="en-US" sz="1000" dirty="0"/>
          </a:p>
        </p:txBody>
      </p:sp>
      <p:sp>
        <p:nvSpPr>
          <p:cNvPr id="29" name="Text 25"/>
          <p:cNvSpPr/>
          <p:nvPr/>
        </p:nvSpPr>
        <p:spPr>
          <a:xfrm>
            <a:off x="5897880" y="2395728"/>
            <a:ext cx="5742432" cy="274320"/>
          </a:xfrm>
          <a:prstGeom prst="rect">
            <a:avLst/>
          </a:prstGeom>
          <a:noFill/>
          <a:ln/>
        </p:spPr>
        <p:txBody>
          <a:bodyPr wrap="square" lIns="0" tIns="0" rIns="0" bIns="0" rtlCol="0" anchor="ctr"/>
          <a:lstStyle/>
          <a:p>
            <a:pPr algn="l" indent="0" marL="0">
              <a:buNone/>
            </a:pPr>
            <a:r>
              <a:rPr lang="en-US" sz="1150" b="1" dirty="0">
                <a:solidFill>
                  <a:srgbClr val="6366F1"/>
                </a:solidFill>
                <a:latin typeface="Malgun Gothic" pitchFamily="34" charset="0"/>
                <a:ea typeface="Malgun Gothic" pitchFamily="34" charset="-122"/>
                <a:cs typeface="Malgun Gothic" pitchFamily="34" charset="-120"/>
              </a:rPr>
              <a:t>왜 필요한가</a:t>
            </a:r>
            <a:endParaRPr lang="en-US" sz="1150" dirty="0"/>
          </a:p>
        </p:txBody>
      </p:sp>
      <p:sp>
        <p:nvSpPr>
          <p:cNvPr id="30" name="Text 26"/>
          <p:cNvSpPr/>
          <p:nvPr/>
        </p:nvSpPr>
        <p:spPr>
          <a:xfrm>
            <a:off x="5897880" y="2651760"/>
            <a:ext cx="5742432" cy="1143000"/>
          </a:xfrm>
          <a:prstGeom prst="rect">
            <a:avLst/>
          </a:prstGeom>
          <a:noFill/>
          <a:ln/>
        </p:spPr>
        <p:txBody>
          <a:bodyPr wrap="square" lIns="0" tIns="0" rIns="0" bIns="0" rtlCol="0" anchor="ctr"/>
          <a:lstStyle/>
          <a:p>
            <a:pPr indent="0" marL="0">
              <a:lnSpc>
                <a:spcPct val="122000"/>
              </a:lnSpc>
              <a:buNone/>
            </a:pPr>
            <a:r>
              <a:rPr lang="en-US" sz="1250" dirty="0">
                <a:solidFill>
                  <a:srgbClr val="B7C4DC"/>
                </a:solidFill>
                <a:latin typeface="Malgun Gothic" pitchFamily="34" charset="0"/>
                <a:ea typeface="Malgun Gothic" pitchFamily="34" charset="-122"/>
                <a:cs typeface="Malgun Gothic" pitchFamily="34" charset="-120"/>
              </a:rPr>
              <a:t>에이전트가 많아지면 그들을 묶을 '회사'와 '운영체제'가 필요합니다. AI가 부서처럼 나뉘고(Organization), 서로 일을 사고팔며(Marketplace), 하나의 OS 위에서 돌아가는(AI OS) 구조가 등장합니다.</a:t>
            </a:r>
            <a:endParaRPr lang="en-US" sz="1250" dirty="0"/>
          </a:p>
        </p:txBody>
      </p:sp>
      <p:sp>
        <p:nvSpPr>
          <p:cNvPr id="31" name="Text 27"/>
          <p:cNvSpPr/>
          <p:nvPr/>
        </p:nvSpPr>
        <p:spPr>
          <a:xfrm>
            <a:off x="5897880" y="3931920"/>
            <a:ext cx="5742432" cy="274320"/>
          </a:xfrm>
          <a:prstGeom prst="rect">
            <a:avLst/>
          </a:prstGeom>
          <a:noFill/>
          <a:ln/>
        </p:spPr>
        <p:txBody>
          <a:bodyPr wrap="square" lIns="0" tIns="0" rIns="0" bIns="0" rtlCol="0" anchor="ctr"/>
          <a:lstStyle/>
          <a:p>
            <a:pPr algn="l" indent="0" marL="0">
              <a:buNone/>
            </a:pPr>
            <a:r>
              <a:rPr lang="en-US" sz="1150" b="1" dirty="0">
                <a:solidFill>
                  <a:srgbClr val="6366F1"/>
                </a:solidFill>
                <a:latin typeface="Malgun Gothic" pitchFamily="34" charset="0"/>
                <a:ea typeface="Malgun Gothic" pitchFamily="34" charset="-122"/>
                <a:cs typeface="Malgun Gothic" pitchFamily="34" charset="-120"/>
              </a:rPr>
              <a:t>핵심 기술</a:t>
            </a:r>
            <a:endParaRPr lang="en-US" sz="1150" dirty="0"/>
          </a:p>
        </p:txBody>
      </p:sp>
      <p:sp>
        <p:nvSpPr>
          <p:cNvPr id="32" name="Text 28"/>
          <p:cNvSpPr/>
          <p:nvPr/>
        </p:nvSpPr>
        <p:spPr>
          <a:xfrm>
            <a:off x="5897880" y="4187952"/>
            <a:ext cx="5742432" cy="777240"/>
          </a:xfrm>
          <a:prstGeom prst="rect">
            <a:avLst/>
          </a:prstGeom>
          <a:noFill/>
          <a:ln/>
        </p:spPr>
        <p:txBody>
          <a:bodyPr wrap="square" lIns="0" tIns="0" rIns="0" bIns="0" rtlCol="0" anchor="ctr"/>
          <a:lstStyle/>
          <a:p>
            <a:pPr indent="0" marL="0">
              <a:lnSpc>
                <a:spcPct val="125000"/>
              </a:lnSpc>
              <a:buNone/>
            </a:pPr>
            <a:r>
              <a:rPr lang="en-US" sz="1200" dirty="0">
                <a:solidFill>
                  <a:srgbClr val="B7C4DC"/>
                </a:solidFill>
                <a:latin typeface="Malgun Gothic" pitchFamily="34" charset="0"/>
                <a:ea typeface="Malgun Gothic" pitchFamily="34" charset="-122"/>
                <a:cs typeface="Malgun Gothic" pitchFamily="34" charset="-120"/>
              </a:rPr>
              <a:t>AI Workforce   ·   AI Organization   ·   AI Operating System   ·   Context Bus   ·   Memory Bus   ·   AI Marketplace   ·   AI Economy   ·   AI City</a:t>
            </a:r>
            <a:endParaRPr lang="en-US" sz="1200" dirty="0"/>
          </a:p>
        </p:txBody>
      </p:sp>
      <p:sp>
        <p:nvSpPr>
          <p:cNvPr id="33" name="Text 29"/>
          <p:cNvSpPr/>
          <p:nvPr/>
        </p:nvSpPr>
        <p:spPr>
          <a:xfrm>
            <a:off x="5897880" y="5074920"/>
            <a:ext cx="5742432" cy="274320"/>
          </a:xfrm>
          <a:prstGeom prst="rect">
            <a:avLst/>
          </a:prstGeom>
          <a:noFill/>
          <a:ln/>
        </p:spPr>
        <p:txBody>
          <a:bodyPr wrap="square" lIns="0" tIns="0" rIns="0" bIns="0" rtlCol="0" anchor="ctr"/>
          <a:lstStyle/>
          <a:p>
            <a:pPr algn="l" indent="0" marL="0">
              <a:buNone/>
            </a:pPr>
            <a:r>
              <a:rPr lang="en-US" sz="1150" b="1" dirty="0">
                <a:solidFill>
                  <a:srgbClr val="6366F1"/>
                </a:solidFill>
                <a:latin typeface="Malgun Gothic" pitchFamily="34" charset="0"/>
                <a:ea typeface="Malgun Gothic" pitchFamily="34" charset="-122"/>
                <a:cs typeface="Malgun Gothic" pitchFamily="34" charset="-120"/>
              </a:rPr>
              <a:t>2035 전망</a:t>
            </a:r>
            <a:endParaRPr lang="en-US" sz="1150" dirty="0"/>
          </a:p>
        </p:txBody>
      </p:sp>
      <p:sp>
        <p:nvSpPr>
          <p:cNvPr id="34" name="Text 30"/>
          <p:cNvSpPr/>
          <p:nvPr/>
        </p:nvSpPr>
        <p:spPr>
          <a:xfrm>
            <a:off x="5897880" y="5330952"/>
            <a:ext cx="5742432" cy="1188720"/>
          </a:xfrm>
          <a:prstGeom prst="rect">
            <a:avLst/>
          </a:prstGeom>
          <a:noFill/>
          <a:ln/>
        </p:spPr>
        <p:txBody>
          <a:bodyPr wrap="square" lIns="0" tIns="0" rIns="0" bIns="0" rtlCol="0" anchor="ctr"/>
          <a:lstStyle/>
          <a:p>
            <a:pPr indent="0" marL="0">
              <a:lnSpc>
                <a:spcPct val="122000"/>
              </a:lnSpc>
              <a:buNone/>
            </a:pPr>
            <a:r>
              <a:rPr lang="en-US" sz="1250" dirty="0">
                <a:solidFill>
                  <a:srgbClr val="B7C4DC"/>
                </a:solidFill>
                <a:latin typeface="Malgun Gothic" pitchFamily="34" charset="0"/>
                <a:ea typeface="Malgun Gothic" pitchFamily="34" charset="-122"/>
                <a:cs typeface="Malgun Gothic" pitchFamily="34" charset="-120"/>
              </a:rPr>
              <a:t>기업은 '사람 조직 + AI 조직'을 함께 운영하고, AI들이 표준 통로(Context Bus·Memory Bus) 위에서 맥락과 기억을 공유하며 협업하는 AI OS가 인프라가 됩니다.</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548640" y="502920"/>
            <a:ext cx="868680" cy="868680"/>
          </a:xfrm>
          <a:prstGeom prst="ellipse">
            <a:avLst/>
          </a:prstGeom>
          <a:solidFill>
            <a:srgbClr val="18223A"/>
          </a:solidFill>
          <a:ln w="22225">
            <a:solidFill>
              <a:srgbClr val="A3E635"/>
            </a:solidFill>
            <a:prstDash val="solid"/>
          </a:ln>
        </p:spPr>
      </p:sp>
      <p:pic>
        <p:nvPicPr>
          <p:cNvPr id="3" name="Image 0" descr="assets/icon_evolution.png">    </p:cNvPr>
          <p:cNvPicPr>
            <a:picLocks noChangeAspect="1"/>
          </p:cNvPicPr>
          <p:nvPr/>
        </p:nvPicPr>
        <p:blipFill>
          <a:blip r:embed="rId1"/>
          <a:stretch>
            <a:fillRect/>
          </a:stretch>
        </p:blipFill>
        <p:spPr>
          <a:xfrm>
            <a:off x="713689" y="667969"/>
            <a:ext cx="538582" cy="538582"/>
          </a:xfrm>
          <a:prstGeom prst="rect">
            <a:avLst/>
          </a:prstGeom>
        </p:spPr>
      </p:pic>
      <p:sp>
        <p:nvSpPr>
          <p:cNvPr id="4" name="Text 1"/>
          <p:cNvSpPr/>
          <p:nvPr/>
        </p:nvSpPr>
        <p:spPr>
          <a:xfrm>
            <a:off x="1600200" y="475488"/>
            <a:ext cx="2743200" cy="292608"/>
          </a:xfrm>
          <a:prstGeom prst="rect">
            <a:avLst/>
          </a:prstGeom>
          <a:noFill/>
          <a:ln/>
        </p:spPr>
        <p:txBody>
          <a:bodyPr wrap="square" lIns="0" tIns="0" rIns="0" bIns="0" rtlCol="0" anchor="ctr"/>
          <a:lstStyle/>
          <a:p>
            <a:pPr indent="0" marL="0">
              <a:buNone/>
            </a:pPr>
            <a:r>
              <a:rPr lang="en-US" sz="1400" b="1" dirty="0">
                <a:solidFill>
                  <a:srgbClr val="A3E635"/>
                </a:solidFill>
                <a:latin typeface="Consolas" pitchFamily="34" charset="0"/>
                <a:ea typeface="Consolas" pitchFamily="34" charset="-122"/>
                <a:cs typeface="Consolas" pitchFamily="34" charset="-120"/>
              </a:rPr>
              <a:t>13</a:t>
            </a:r>
            <a:endParaRPr lang="en-US" sz="1400" dirty="0"/>
          </a:p>
        </p:txBody>
      </p:sp>
      <p:sp>
        <p:nvSpPr>
          <p:cNvPr id="5" name="Text 2"/>
          <p:cNvSpPr/>
          <p:nvPr/>
        </p:nvSpPr>
        <p:spPr>
          <a:xfrm>
            <a:off x="1572768" y="713232"/>
            <a:ext cx="6858000" cy="658368"/>
          </a:xfrm>
          <a:prstGeom prst="rect">
            <a:avLst/>
          </a:prstGeom>
          <a:noFill/>
          <a:ln/>
        </p:spPr>
        <p:txBody>
          <a:bodyPr wrap="square" lIns="0" tIns="0" rIns="0" bIns="0" rtlCol="0" anchor="ctr"/>
          <a:lstStyle/>
          <a:p>
            <a:pPr indent="0" marL="0">
              <a:buNone/>
            </a:pPr>
            <a:r>
              <a:rPr lang="en-US" sz="3300" b="1" dirty="0">
                <a:solidFill>
                  <a:srgbClr val="EAF0FF"/>
                </a:solidFill>
                <a:latin typeface="Malgun Gothic" pitchFamily="34" charset="0"/>
                <a:ea typeface="Malgun Gothic" pitchFamily="34" charset="-122"/>
                <a:cs typeface="Malgun Gothic" pitchFamily="34" charset="-120"/>
              </a:rPr>
              <a:t>진화</a:t>
            </a:r>
            <a:endParaRPr lang="en-US" sz="3300" dirty="0"/>
          </a:p>
        </p:txBody>
      </p:sp>
      <p:sp>
        <p:nvSpPr>
          <p:cNvPr id="6" name="Text 3"/>
          <p:cNvSpPr/>
          <p:nvPr/>
        </p:nvSpPr>
        <p:spPr>
          <a:xfrm>
            <a:off x="1600200" y="1371600"/>
            <a:ext cx="8229600" cy="292608"/>
          </a:xfrm>
          <a:prstGeom prst="rect">
            <a:avLst/>
          </a:prstGeom>
          <a:noFill/>
          <a:ln/>
        </p:spPr>
        <p:txBody>
          <a:bodyPr wrap="square" lIns="0" tIns="0" rIns="0" bIns="0" rtlCol="0" anchor="ctr"/>
          <a:lstStyle/>
          <a:p>
            <a:pPr indent="0" marL="0">
              <a:buNone/>
            </a:pPr>
            <a:r>
              <a:rPr lang="en-US" sz="1300" dirty="0">
                <a:solidFill>
                  <a:srgbClr val="8493AE"/>
                </a:solidFill>
                <a:latin typeface="Malgun Gothic" pitchFamily="34" charset="0"/>
                <a:ea typeface="Malgun Gothic" pitchFamily="34" charset="-122"/>
                <a:cs typeface="Malgun Gothic" pitchFamily="34" charset="-120"/>
              </a:rPr>
              <a:t>Evolution · AI가 스스로를 진화시킨다</a:t>
            </a:r>
            <a:endParaRPr lang="en-US" sz="1300" dirty="0"/>
          </a:p>
        </p:txBody>
      </p:sp>
      <p:sp>
        <p:nvSpPr>
          <p:cNvPr id="7" name="Text 4"/>
          <p:cNvSpPr/>
          <p:nvPr/>
        </p:nvSpPr>
        <p:spPr>
          <a:xfrm>
            <a:off x="1600200" y="1700784"/>
            <a:ext cx="8869680" cy="457200"/>
          </a:xfrm>
          <a:prstGeom prst="rect">
            <a:avLst/>
          </a:prstGeom>
          <a:noFill/>
          <a:ln/>
        </p:spPr>
        <p:txBody>
          <a:bodyPr wrap="square" lIns="0" tIns="0" rIns="0" bIns="0" rtlCol="0" anchor="ctr"/>
          <a:lstStyle/>
          <a:p>
            <a:pPr indent="0" marL="0">
              <a:buNone/>
            </a:pPr>
            <a:r>
              <a:rPr lang="en-US" sz="1350" i="1" dirty="0">
                <a:solidFill>
                  <a:srgbClr val="B7C4DC"/>
                </a:solidFill>
                <a:latin typeface="Malgun Gothic" pitchFamily="34" charset="0"/>
                <a:ea typeface="Malgun Gothic" pitchFamily="34" charset="-122"/>
                <a:cs typeface="Malgun Gothic" pitchFamily="34" charset="-120"/>
              </a:rPr>
              <a:t>사람이 AI를 개선하던 시대에서, AI가 AI를 개선하는 시대로 넘어가는 단계.</a:t>
            </a:r>
            <a:endParaRPr lang="en-US" sz="1350" dirty="0"/>
          </a:p>
        </p:txBody>
      </p:sp>
      <p:pic>
        <p:nvPicPr>
          <p:cNvPr id="8" name="Image 1" descr="assets/loc_evolution.png">    </p:cNvPr>
          <p:cNvPicPr>
            <a:picLocks noChangeAspect="1"/>
          </p:cNvPicPr>
          <p:nvPr/>
        </p:nvPicPr>
        <p:blipFill>
          <a:blip r:embed="rId2"/>
          <a:stretch>
            <a:fillRect/>
          </a:stretch>
        </p:blipFill>
        <p:spPr>
          <a:xfrm>
            <a:off x="10972800" y="457200"/>
            <a:ext cx="914400" cy="1600200"/>
          </a:xfrm>
          <a:prstGeom prst="rect">
            <a:avLst/>
          </a:prstGeom>
        </p:spPr>
      </p:pic>
      <p:sp>
        <p:nvSpPr>
          <p:cNvPr id="9" name="Text 5"/>
          <p:cNvSpPr/>
          <p:nvPr/>
        </p:nvSpPr>
        <p:spPr>
          <a:xfrm>
            <a:off x="10607040" y="2075688"/>
            <a:ext cx="1645920" cy="228600"/>
          </a:xfrm>
          <a:prstGeom prst="rect">
            <a:avLst/>
          </a:prstGeom>
          <a:noFill/>
          <a:ln/>
        </p:spPr>
        <p:txBody>
          <a:bodyPr wrap="square" lIns="0" tIns="0" rIns="0" bIns="0" rtlCol="0" anchor="ctr"/>
          <a:lstStyle/>
          <a:p>
            <a:pPr algn="ctr" indent="0" marL="0">
              <a:buNone/>
            </a:pPr>
            <a:r>
              <a:rPr lang="en-US" sz="900" dirty="0">
                <a:solidFill>
                  <a:srgbClr val="8493AE"/>
                </a:solidFill>
                <a:latin typeface="Malgun Gothic" pitchFamily="34" charset="0"/>
                <a:ea typeface="Malgun Gothic" pitchFamily="34" charset="-122"/>
                <a:cs typeface="Malgun Gothic" pitchFamily="34" charset="-120"/>
              </a:rPr>
              <a:t>몸의 위치</a:t>
            </a:r>
            <a:endParaRPr lang="en-US" sz="900" dirty="0"/>
          </a:p>
        </p:txBody>
      </p:sp>
      <p:sp>
        <p:nvSpPr>
          <p:cNvPr id="10" name="Shape 6"/>
          <p:cNvSpPr/>
          <p:nvPr/>
        </p:nvSpPr>
        <p:spPr>
          <a:xfrm>
            <a:off x="548640" y="2331720"/>
            <a:ext cx="5074920" cy="4224528"/>
          </a:xfrm>
          <a:prstGeom prst="roundRect">
            <a:avLst>
              <a:gd name="adj" fmla="val 1948"/>
            </a:avLst>
          </a:prstGeom>
          <a:solidFill>
            <a:srgbClr val="121A2E"/>
          </a:solidFill>
          <a:ln w="12700">
            <a:solidFill>
              <a:srgbClr val="2A3756"/>
            </a:solidFill>
            <a:prstDash val="solid"/>
          </a:ln>
          <a:effectLst>
            <a:outerShdw sx="100000" sy="100000" kx="0" ky="0" algn="bl" rotWithShape="0" blurRad="114300" dist="38100" dir="5400000">
              <a:srgbClr val="000000">
                <a:alpha val="35000"/>
              </a:srgbClr>
            </a:outerShdw>
          </a:effectLst>
        </p:spPr>
      </p:sp>
      <p:sp>
        <p:nvSpPr>
          <p:cNvPr id="11" name="Text 7"/>
          <p:cNvSpPr/>
          <p:nvPr/>
        </p:nvSpPr>
        <p:spPr>
          <a:xfrm>
            <a:off x="822960" y="2542032"/>
            <a:ext cx="4526280" cy="274320"/>
          </a:xfrm>
          <a:prstGeom prst="rect">
            <a:avLst/>
          </a:prstGeom>
          <a:noFill/>
          <a:ln/>
        </p:spPr>
        <p:txBody>
          <a:bodyPr wrap="square" lIns="0" tIns="0" rIns="0" bIns="0" rtlCol="0" anchor="ctr"/>
          <a:lstStyle/>
          <a:p>
            <a:pPr algn="l" indent="0" marL="0">
              <a:buNone/>
            </a:pPr>
            <a:r>
              <a:rPr lang="en-US" sz="1150" b="1" dirty="0">
                <a:solidFill>
                  <a:srgbClr val="A3E635"/>
                </a:solidFill>
                <a:latin typeface="Malgun Gothic" pitchFamily="34" charset="0"/>
                <a:ea typeface="Malgun Gothic" pitchFamily="34" charset="-122"/>
                <a:cs typeface="Malgun Gothic" pitchFamily="34" charset="-120"/>
              </a:rPr>
              <a:t>쉬운 비유</a:t>
            </a:r>
            <a:endParaRPr lang="en-US" sz="1150" dirty="0"/>
          </a:p>
        </p:txBody>
      </p:sp>
      <p:sp>
        <p:nvSpPr>
          <p:cNvPr id="12" name="Text 8"/>
          <p:cNvSpPr/>
          <p:nvPr/>
        </p:nvSpPr>
        <p:spPr>
          <a:xfrm>
            <a:off x="822960" y="2798064"/>
            <a:ext cx="4526280" cy="365760"/>
          </a:xfrm>
          <a:prstGeom prst="rect">
            <a:avLst/>
          </a:prstGeom>
          <a:noFill/>
          <a:ln/>
        </p:spPr>
        <p:txBody>
          <a:bodyPr wrap="square" lIns="0" tIns="0" rIns="0" bIns="0" rtlCol="0" anchor="ctr"/>
          <a:lstStyle/>
          <a:p>
            <a:pPr indent="0" marL="0">
              <a:buNone/>
            </a:pPr>
            <a:r>
              <a:rPr lang="en-US" sz="1550" b="1" dirty="0">
                <a:solidFill>
                  <a:srgbClr val="EAF0FF"/>
                </a:solidFill>
                <a:latin typeface="Malgun Gothic" pitchFamily="34" charset="0"/>
                <a:ea typeface="Malgun Gothic" pitchFamily="34" charset="-122"/>
                <a:cs typeface="Malgun Gothic" pitchFamily="34" charset="-120"/>
              </a:rPr>
              <a:t>‍ 사람이 개선 → AI가 스스로 개선 → 무한 가속</a:t>
            </a:r>
            <a:endParaRPr lang="en-US" sz="1550" dirty="0"/>
          </a:p>
        </p:txBody>
      </p:sp>
      <p:sp>
        <p:nvSpPr>
          <p:cNvPr id="13" name="Text 9"/>
          <p:cNvSpPr/>
          <p:nvPr/>
        </p:nvSpPr>
        <p:spPr>
          <a:xfrm>
            <a:off x="822960" y="3200400"/>
            <a:ext cx="4526280" cy="822960"/>
          </a:xfrm>
          <a:prstGeom prst="rect">
            <a:avLst/>
          </a:prstGeom>
          <a:noFill/>
          <a:ln/>
        </p:spPr>
        <p:txBody>
          <a:bodyPr wrap="square" lIns="0" tIns="0" rIns="0" bIns="0" rtlCol="0" anchor="ctr"/>
          <a:lstStyle/>
          <a:p>
            <a:pPr indent="0" marL="0">
              <a:lnSpc>
                <a:spcPct val="116000"/>
              </a:lnSpc>
              <a:buNone/>
            </a:pPr>
            <a:r>
              <a:rPr lang="en-US" sz="1150" dirty="0">
                <a:solidFill>
                  <a:srgbClr val="B7C4DC"/>
                </a:solidFill>
                <a:latin typeface="Malgun Gothic" pitchFamily="34" charset="0"/>
                <a:ea typeface="Malgun Gothic" pitchFamily="34" charset="-122"/>
                <a:cs typeface="Malgun Gothic" pitchFamily="34" charset="-120"/>
              </a:rPr>
              <a:t>사람이 튜닝하던 단계는 손으로 미는 자전거, Self-Improving·Recursive AI는 스스로 페달을 밟다 못해 점점 빨라지는 자전거 — 가속이 가속을 부릅니다.</a:t>
            </a:r>
            <a:endParaRPr lang="en-US" sz="1150" dirty="0"/>
          </a:p>
        </p:txBody>
      </p:sp>
      <p:sp>
        <p:nvSpPr>
          <p:cNvPr id="14" name="Text 10"/>
          <p:cNvSpPr/>
          <p:nvPr/>
        </p:nvSpPr>
        <p:spPr>
          <a:xfrm>
            <a:off x="822960" y="4078224"/>
            <a:ext cx="4526280" cy="274320"/>
          </a:xfrm>
          <a:prstGeom prst="rect">
            <a:avLst/>
          </a:prstGeom>
          <a:noFill/>
          <a:ln/>
        </p:spPr>
        <p:txBody>
          <a:bodyPr wrap="square" lIns="0" tIns="0" rIns="0" bIns="0" rtlCol="0" anchor="ctr"/>
          <a:lstStyle/>
          <a:p>
            <a:pPr algn="l" indent="0" marL="0">
              <a:buNone/>
            </a:pPr>
            <a:r>
              <a:rPr lang="en-US" sz="1150" b="1" dirty="0">
                <a:solidFill>
                  <a:srgbClr val="A3E635"/>
                </a:solidFill>
                <a:latin typeface="Malgun Gothic" pitchFamily="34" charset="0"/>
                <a:ea typeface="Malgun Gothic" pitchFamily="34" charset="-122"/>
                <a:cs typeface="Malgun Gothic" pitchFamily="34" charset="-120"/>
              </a:rPr>
              <a:t>진화 단계</a:t>
            </a:r>
            <a:endParaRPr lang="en-US" sz="1150" dirty="0"/>
          </a:p>
        </p:txBody>
      </p:sp>
      <p:sp>
        <p:nvSpPr>
          <p:cNvPr id="15" name="Shape 11"/>
          <p:cNvSpPr/>
          <p:nvPr/>
        </p:nvSpPr>
        <p:spPr>
          <a:xfrm>
            <a:off x="822960" y="4425696"/>
            <a:ext cx="118872" cy="118872"/>
          </a:xfrm>
          <a:prstGeom prst="ellipse">
            <a:avLst/>
          </a:prstGeom>
          <a:solidFill>
            <a:srgbClr val="8493AE"/>
          </a:solidFill>
          <a:ln w="15875">
            <a:solidFill>
              <a:srgbClr val="8493AE"/>
            </a:solidFill>
            <a:prstDash val="solid"/>
          </a:ln>
        </p:spPr>
      </p:sp>
      <p:sp>
        <p:nvSpPr>
          <p:cNvPr id="16" name="Text 12"/>
          <p:cNvSpPr/>
          <p:nvPr/>
        </p:nvSpPr>
        <p:spPr>
          <a:xfrm>
            <a:off x="1060704" y="4370832"/>
            <a:ext cx="3291840" cy="292608"/>
          </a:xfrm>
          <a:prstGeom prst="rect">
            <a:avLst/>
          </a:prstGeom>
          <a:noFill/>
          <a:ln/>
        </p:spPr>
        <p:txBody>
          <a:bodyPr wrap="square" lIns="0" tIns="0" rIns="0" bIns="0" rtlCol="0" anchor="ctr"/>
          <a:lstStyle/>
          <a:p>
            <a:pPr indent="0" marL="0">
              <a:buNone/>
            </a:pPr>
            <a:r>
              <a:rPr lang="en-US" sz="1150" dirty="0">
                <a:solidFill>
                  <a:srgbClr val="8493AE"/>
                </a:solidFill>
                <a:latin typeface="Malgun Gothic" pitchFamily="34" charset="0"/>
                <a:ea typeface="Malgun Gothic" pitchFamily="34" charset="-122"/>
                <a:cs typeface="Malgun Gothic" pitchFamily="34" charset="-120"/>
              </a:rPr>
              <a:t>사람이 튜닝</a:t>
            </a:r>
            <a:endParaRPr lang="en-US" sz="1150" dirty="0"/>
          </a:p>
        </p:txBody>
      </p:sp>
      <p:sp>
        <p:nvSpPr>
          <p:cNvPr id="17" name="Text 13"/>
          <p:cNvSpPr/>
          <p:nvPr/>
        </p:nvSpPr>
        <p:spPr>
          <a:xfrm>
            <a:off x="4160520" y="4370832"/>
            <a:ext cx="1188720" cy="292608"/>
          </a:xfrm>
          <a:prstGeom prst="rect">
            <a:avLst/>
          </a:prstGeom>
          <a:noFill/>
          <a:ln/>
        </p:spPr>
        <p:txBody>
          <a:bodyPr wrap="square" lIns="0" tIns="0" rIns="0" bIns="0" rtlCol="0" anchor="ctr"/>
          <a:lstStyle/>
          <a:p>
            <a:pPr algn="r" indent="0" marL="0">
              <a:buNone/>
            </a:pPr>
            <a:r>
              <a:rPr lang="en-US" sz="1000" dirty="0">
                <a:solidFill>
                  <a:srgbClr val="8493AE"/>
                </a:solidFill>
                <a:latin typeface="Consolas" pitchFamily="34" charset="0"/>
                <a:ea typeface="Consolas" pitchFamily="34" charset="-122"/>
                <a:cs typeface="Consolas" pitchFamily="34" charset="-120"/>
              </a:rPr>
              <a:t>~2025</a:t>
            </a:r>
            <a:endParaRPr lang="en-US" sz="1000" dirty="0"/>
          </a:p>
        </p:txBody>
      </p:sp>
      <p:sp>
        <p:nvSpPr>
          <p:cNvPr id="18" name="Shape 14"/>
          <p:cNvSpPr/>
          <p:nvPr/>
        </p:nvSpPr>
        <p:spPr>
          <a:xfrm>
            <a:off x="822960" y="4718304"/>
            <a:ext cx="118872" cy="118872"/>
          </a:xfrm>
          <a:prstGeom prst="ellipse">
            <a:avLst/>
          </a:prstGeom>
          <a:solidFill>
            <a:srgbClr val="A3E635"/>
          </a:solidFill>
          <a:ln w="15875">
            <a:solidFill>
              <a:srgbClr val="A3E635"/>
            </a:solidFill>
            <a:prstDash val="solid"/>
          </a:ln>
        </p:spPr>
      </p:sp>
      <p:sp>
        <p:nvSpPr>
          <p:cNvPr id="19" name="Text 15"/>
          <p:cNvSpPr/>
          <p:nvPr/>
        </p:nvSpPr>
        <p:spPr>
          <a:xfrm>
            <a:off x="1060704" y="4663440"/>
            <a:ext cx="3291840" cy="292608"/>
          </a:xfrm>
          <a:prstGeom prst="rect">
            <a:avLst/>
          </a:prstGeom>
          <a:noFill/>
          <a:ln/>
        </p:spPr>
        <p:txBody>
          <a:bodyPr wrap="square" lIns="0" tIns="0" rIns="0" bIns="0" rtlCol="0" anchor="ctr"/>
          <a:lstStyle/>
          <a:p>
            <a:pPr indent="0" marL="0">
              <a:buNone/>
            </a:pPr>
            <a:r>
              <a:rPr lang="en-US" sz="1150" b="1" dirty="0">
                <a:solidFill>
                  <a:srgbClr val="A3E635"/>
                </a:solidFill>
                <a:latin typeface="Malgun Gothic" pitchFamily="34" charset="0"/>
                <a:ea typeface="Malgun Gothic" pitchFamily="34" charset="-122"/>
                <a:cs typeface="Malgun Gothic" pitchFamily="34" charset="-120"/>
              </a:rPr>
              <a:t>AutoML · Self-Improving</a:t>
            </a:r>
            <a:endParaRPr lang="en-US" sz="1150" dirty="0"/>
          </a:p>
        </p:txBody>
      </p:sp>
      <p:sp>
        <p:nvSpPr>
          <p:cNvPr id="20" name="Text 16"/>
          <p:cNvSpPr/>
          <p:nvPr/>
        </p:nvSpPr>
        <p:spPr>
          <a:xfrm>
            <a:off x="4160520" y="4663440"/>
            <a:ext cx="1188720" cy="292608"/>
          </a:xfrm>
          <a:prstGeom prst="rect">
            <a:avLst/>
          </a:prstGeom>
          <a:noFill/>
          <a:ln/>
        </p:spPr>
        <p:txBody>
          <a:bodyPr wrap="square" lIns="0" tIns="0" rIns="0" bIns="0" rtlCol="0" anchor="ctr"/>
          <a:lstStyle/>
          <a:p>
            <a:pPr algn="r" indent="0" marL="0">
              <a:buNone/>
            </a:pPr>
            <a:r>
              <a:rPr lang="en-US" sz="1000" dirty="0">
                <a:solidFill>
                  <a:srgbClr val="A3E635"/>
                </a:solidFill>
                <a:latin typeface="Consolas" pitchFamily="34" charset="0"/>
                <a:ea typeface="Consolas" pitchFamily="34" charset="-122"/>
                <a:cs typeface="Consolas" pitchFamily="34" charset="-120"/>
              </a:rPr>
              <a:t>2026  ★</a:t>
            </a:r>
            <a:endParaRPr lang="en-US" sz="1000" dirty="0"/>
          </a:p>
        </p:txBody>
      </p:sp>
      <p:sp>
        <p:nvSpPr>
          <p:cNvPr id="21" name="Shape 17"/>
          <p:cNvSpPr/>
          <p:nvPr/>
        </p:nvSpPr>
        <p:spPr>
          <a:xfrm>
            <a:off x="822960" y="5010912"/>
            <a:ext cx="118872" cy="118872"/>
          </a:xfrm>
          <a:prstGeom prst="ellipse">
            <a:avLst/>
          </a:prstGeom>
          <a:solidFill>
            <a:srgbClr val="A3E635"/>
          </a:solidFill>
          <a:ln w="15875">
            <a:solidFill>
              <a:srgbClr val="A3E635"/>
            </a:solidFill>
            <a:prstDash val="solid"/>
          </a:ln>
        </p:spPr>
      </p:sp>
      <p:sp>
        <p:nvSpPr>
          <p:cNvPr id="22" name="Text 18"/>
          <p:cNvSpPr/>
          <p:nvPr/>
        </p:nvSpPr>
        <p:spPr>
          <a:xfrm>
            <a:off x="1060704" y="4956048"/>
            <a:ext cx="3291840" cy="292608"/>
          </a:xfrm>
          <a:prstGeom prst="rect">
            <a:avLst/>
          </a:prstGeom>
          <a:noFill/>
          <a:ln/>
        </p:spPr>
        <p:txBody>
          <a:bodyPr wrap="square" lIns="0" tIns="0" rIns="0" bIns="0" rtlCol="0" anchor="ctr"/>
          <a:lstStyle/>
          <a:p>
            <a:pPr indent="0" marL="0">
              <a:buNone/>
            </a:pPr>
            <a:r>
              <a:rPr lang="en-US" sz="1150" b="1" dirty="0">
                <a:solidFill>
                  <a:srgbClr val="A3E635"/>
                </a:solidFill>
                <a:latin typeface="Malgun Gothic" pitchFamily="34" charset="0"/>
                <a:ea typeface="Malgun Gothic" pitchFamily="34" charset="-122"/>
                <a:cs typeface="Malgun Gothic" pitchFamily="34" charset="-120"/>
              </a:rPr>
              <a:t>AI Scientist</a:t>
            </a:r>
            <a:endParaRPr lang="en-US" sz="1150" dirty="0"/>
          </a:p>
        </p:txBody>
      </p:sp>
      <p:sp>
        <p:nvSpPr>
          <p:cNvPr id="23" name="Text 19"/>
          <p:cNvSpPr/>
          <p:nvPr/>
        </p:nvSpPr>
        <p:spPr>
          <a:xfrm>
            <a:off x="4160520" y="4956048"/>
            <a:ext cx="1188720" cy="292608"/>
          </a:xfrm>
          <a:prstGeom prst="rect">
            <a:avLst/>
          </a:prstGeom>
          <a:noFill/>
          <a:ln/>
        </p:spPr>
        <p:txBody>
          <a:bodyPr wrap="square" lIns="0" tIns="0" rIns="0" bIns="0" rtlCol="0" anchor="ctr"/>
          <a:lstStyle/>
          <a:p>
            <a:pPr algn="r" indent="0" marL="0">
              <a:buNone/>
            </a:pPr>
            <a:r>
              <a:rPr lang="en-US" sz="1000" dirty="0">
                <a:solidFill>
                  <a:srgbClr val="A3E635"/>
                </a:solidFill>
                <a:latin typeface="Consolas" pitchFamily="34" charset="0"/>
                <a:ea typeface="Consolas" pitchFamily="34" charset="-122"/>
                <a:cs typeface="Consolas" pitchFamily="34" charset="-120"/>
              </a:rPr>
              <a:t>2027  ★</a:t>
            </a:r>
            <a:endParaRPr lang="en-US" sz="1000" dirty="0"/>
          </a:p>
        </p:txBody>
      </p:sp>
      <p:sp>
        <p:nvSpPr>
          <p:cNvPr id="24" name="Shape 20"/>
          <p:cNvSpPr/>
          <p:nvPr/>
        </p:nvSpPr>
        <p:spPr>
          <a:xfrm>
            <a:off x="822960" y="5303520"/>
            <a:ext cx="118872" cy="118872"/>
          </a:xfrm>
          <a:prstGeom prst="ellipse">
            <a:avLst/>
          </a:prstGeom>
          <a:solidFill>
            <a:srgbClr val="0B0F1A"/>
          </a:solidFill>
          <a:ln w="15875">
            <a:solidFill>
              <a:srgbClr val="A3E635"/>
            </a:solidFill>
            <a:prstDash val="solid"/>
          </a:ln>
        </p:spPr>
      </p:sp>
      <p:sp>
        <p:nvSpPr>
          <p:cNvPr id="25" name="Text 21"/>
          <p:cNvSpPr/>
          <p:nvPr/>
        </p:nvSpPr>
        <p:spPr>
          <a:xfrm>
            <a:off x="1060704" y="5248656"/>
            <a:ext cx="3291840" cy="292608"/>
          </a:xfrm>
          <a:prstGeom prst="rect">
            <a:avLst/>
          </a:prstGeom>
          <a:noFill/>
          <a:ln/>
        </p:spPr>
        <p:txBody>
          <a:bodyPr wrap="square" lIns="0" tIns="0" rIns="0" bIns="0" rtlCol="0" anchor="ctr"/>
          <a:lstStyle/>
          <a:p>
            <a:pPr indent="0" marL="0">
              <a:buNone/>
            </a:pPr>
            <a:r>
              <a:rPr lang="en-US" sz="1150" dirty="0">
                <a:solidFill>
                  <a:srgbClr val="B7C4DC"/>
                </a:solidFill>
                <a:latin typeface="Malgun Gothic" pitchFamily="34" charset="0"/>
                <a:ea typeface="Malgun Gothic" pitchFamily="34" charset="-122"/>
                <a:cs typeface="Malgun Gothic" pitchFamily="34" charset="-120"/>
              </a:rPr>
              <a:t>Recursive 자기개선</a:t>
            </a:r>
            <a:endParaRPr lang="en-US" sz="1150" dirty="0"/>
          </a:p>
        </p:txBody>
      </p:sp>
      <p:sp>
        <p:nvSpPr>
          <p:cNvPr id="26" name="Text 22"/>
          <p:cNvSpPr/>
          <p:nvPr/>
        </p:nvSpPr>
        <p:spPr>
          <a:xfrm>
            <a:off x="4160520" y="5248656"/>
            <a:ext cx="1188720" cy="292608"/>
          </a:xfrm>
          <a:prstGeom prst="rect">
            <a:avLst/>
          </a:prstGeom>
          <a:noFill/>
          <a:ln/>
        </p:spPr>
        <p:txBody>
          <a:bodyPr wrap="square" lIns="0" tIns="0" rIns="0" bIns="0" rtlCol="0" anchor="ctr"/>
          <a:lstStyle/>
          <a:p>
            <a:pPr algn="r" indent="0" marL="0">
              <a:buNone/>
            </a:pPr>
            <a:r>
              <a:rPr lang="en-US" sz="1000" dirty="0">
                <a:solidFill>
                  <a:srgbClr val="8493AE"/>
                </a:solidFill>
                <a:latin typeface="Consolas" pitchFamily="34" charset="0"/>
                <a:ea typeface="Consolas" pitchFamily="34" charset="-122"/>
                <a:cs typeface="Consolas" pitchFamily="34" charset="-120"/>
              </a:rPr>
              <a:t>2030+</a:t>
            </a:r>
            <a:endParaRPr lang="en-US" sz="1000" dirty="0"/>
          </a:p>
        </p:txBody>
      </p:sp>
      <p:sp>
        <p:nvSpPr>
          <p:cNvPr id="27" name="Text 23"/>
          <p:cNvSpPr/>
          <p:nvPr/>
        </p:nvSpPr>
        <p:spPr>
          <a:xfrm>
            <a:off x="822960" y="5870448"/>
            <a:ext cx="4526280" cy="274320"/>
          </a:xfrm>
          <a:prstGeom prst="rect">
            <a:avLst/>
          </a:prstGeom>
          <a:noFill/>
          <a:ln/>
        </p:spPr>
        <p:txBody>
          <a:bodyPr wrap="square" lIns="0" tIns="0" rIns="0" bIns="0" rtlCol="0" anchor="ctr"/>
          <a:lstStyle/>
          <a:p>
            <a:pPr algn="l" indent="0" marL="0">
              <a:buNone/>
            </a:pPr>
            <a:r>
              <a:rPr lang="en-US" sz="1150" b="1" dirty="0">
                <a:solidFill>
                  <a:srgbClr val="A3E635"/>
                </a:solidFill>
                <a:latin typeface="Malgun Gothic" pitchFamily="34" charset="0"/>
                <a:ea typeface="Malgun Gothic" pitchFamily="34" charset="-122"/>
                <a:cs typeface="Malgun Gothic" pitchFamily="34" charset="-120"/>
              </a:rPr>
              <a:t>대표 기업</a:t>
            </a:r>
            <a:endParaRPr lang="en-US" sz="1150" dirty="0"/>
          </a:p>
        </p:txBody>
      </p:sp>
      <p:sp>
        <p:nvSpPr>
          <p:cNvPr id="28" name="Text 24"/>
          <p:cNvSpPr/>
          <p:nvPr/>
        </p:nvSpPr>
        <p:spPr>
          <a:xfrm>
            <a:off x="822960" y="6108192"/>
            <a:ext cx="4526280" cy="384048"/>
          </a:xfrm>
          <a:prstGeom prst="rect">
            <a:avLst/>
          </a:prstGeom>
          <a:noFill/>
          <a:ln/>
        </p:spPr>
        <p:txBody>
          <a:bodyPr wrap="square" lIns="0" tIns="0" rIns="0" bIns="0" rtlCol="0" anchor="ctr"/>
          <a:lstStyle/>
          <a:p>
            <a:pPr indent="0" marL="0">
              <a:lnSpc>
                <a:spcPct val="105000"/>
              </a:lnSpc>
              <a:buNone/>
            </a:pPr>
            <a:r>
              <a:rPr lang="en-US" sz="1000" dirty="0">
                <a:solidFill>
                  <a:srgbClr val="B7C4DC"/>
                </a:solidFill>
                <a:latin typeface="Malgun Gothic" pitchFamily="34" charset="0"/>
                <a:ea typeface="Malgun Gothic" pitchFamily="34" charset="-122"/>
                <a:cs typeface="Malgun Gothic" pitchFamily="34" charset="-120"/>
              </a:rPr>
              <a:t>Google AI co-scientist, Sakana AI, OpenAI, DeepMind</a:t>
            </a:r>
            <a:endParaRPr lang="en-US" sz="1000" dirty="0"/>
          </a:p>
        </p:txBody>
      </p:sp>
      <p:sp>
        <p:nvSpPr>
          <p:cNvPr id="29" name="Text 25"/>
          <p:cNvSpPr/>
          <p:nvPr/>
        </p:nvSpPr>
        <p:spPr>
          <a:xfrm>
            <a:off x="5897880" y="2395728"/>
            <a:ext cx="5742432" cy="274320"/>
          </a:xfrm>
          <a:prstGeom prst="rect">
            <a:avLst/>
          </a:prstGeom>
          <a:noFill/>
          <a:ln/>
        </p:spPr>
        <p:txBody>
          <a:bodyPr wrap="square" lIns="0" tIns="0" rIns="0" bIns="0" rtlCol="0" anchor="ctr"/>
          <a:lstStyle/>
          <a:p>
            <a:pPr algn="l" indent="0" marL="0">
              <a:buNone/>
            </a:pPr>
            <a:r>
              <a:rPr lang="en-US" sz="1150" b="1" dirty="0">
                <a:solidFill>
                  <a:srgbClr val="A3E635"/>
                </a:solidFill>
                <a:latin typeface="Malgun Gothic" pitchFamily="34" charset="0"/>
                <a:ea typeface="Malgun Gothic" pitchFamily="34" charset="-122"/>
                <a:cs typeface="Malgun Gothic" pitchFamily="34" charset="-120"/>
              </a:rPr>
              <a:t>왜 필요한가</a:t>
            </a:r>
            <a:endParaRPr lang="en-US" sz="1150" dirty="0"/>
          </a:p>
        </p:txBody>
      </p:sp>
      <p:sp>
        <p:nvSpPr>
          <p:cNvPr id="30" name="Text 26"/>
          <p:cNvSpPr/>
          <p:nvPr/>
        </p:nvSpPr>
        <p:spPr>
          <a:xfrm>
            <a:off x="5897880" y="2651760"/>
            <a:ext cx="5742432" cy="1143000"/>
          </a:xfrm>
          <a:prstGeom prst="rect">
            <a:avLst/>
          </a:prstGeom>
          <a:noFill/>
          <a:ln/>
        </p:spPr>
        <p:txBody>
          <a:bodyPr wrap="square" lIns="0" tIns="0" rIns="0" bIns="0" rtlCol="0" anchor="ctr"/>
          <a:lstStyle/>
          <a:p>
            <a:pPr indent="0" marL="0">
              <a:lnSpc>
                <a:spcPct val="122000"/>
              </a:lnSpc>
              <a:buNone/>
            </a:pPr>
            <a:r>
              <a:rPr lang="en-US" sz="1250" dirty="0">
                <a:solidFill>
                  <a:srgbClr val="B7C4DC"/>
                </a:solidFill>
                <a:latin typeface="Malgun Gothic" pitchFamily="34" charset="0"/>
                <a:ea typeface="Malgun Gothic" pitchFamily="34" charset="-122"/>
                <a:cs typeface="Malgun Gothic" pitchFamily="34" charset="-120"/>
              </a:rPr>
              <a:t>지금까지는 사람이 모델을 튜닝했습니다. 하지만 AI가 스스로 설계·실험·개선하기 시작하면, 발전 속도가 사람 손을 떠나 가속됩니다. 이것이 13가족의 '정점'이자, 모든 가족을 다시 빠르게 끌어올리는 엔진입니다.</a:t>
            </a:r>
            <a:endParaRPr lang="en-US" sz="1250" dirty="0"/>
          </a:p>
        </p:txBody>
      </p:sp>
      <p:sp>
        <p:nvSpPr>
          <p:cNvPr id="31" name="Text 27"/>
          <p:cNvSpPr/>
          <p:nvPr/>
        </p:nvSpPr>
        <p:spPr>
          <a:xfrm>
            <a:off x="5897880" y="3931920"/>
            <a:ext cx="5742432" cy="274320"/>
          </a:xfrm>
          <a:prstGeom prst="rect">
            <a:avLst/>
          </a:prstGeom>
          <a:noFill/>
          <a:ln/>
        </p:spPr>
        <p:txBody>
          <a:bodyPr wrap="square" lIns="0" tIns="0" rIns="0" bIns="0" rtlCol="0" anchor="ctr"/>
          <a:lstStyle/>
          <a:p>
            <a:pPr algn="l" indent="0" marL="0">
              <a:buNone/>
            </a:pPr>
            <a:r>
              <a:rPr lang="en-US" sz="1150" b="1" dirty="0">
                <a:solidFill>
                  <a:srgbClr val="A3E635"/>
                </a:solidFill>
                <a:latin typeface="Malgun Gothic" pitchFamily="34" charset="0"/>
                <a:ea typeface="Malgun Gothic" pitchFamily="34" charset="-122"/>
                <a:cs typeface="Malgun Gothic" pitchFamily="34" charset="-120"/>
              </a:rPr>
              <a:t>핵심 기술</a:t>
            </a:r>
            <a:endParaRPr lang="en-US" sz="1150" dirty="0"/>
          </a:p>
        </p:txBody>
      </p:sp>
      <p:sp>
        <p:nvSpPr>
          <p:cNvPr id="32" name="Text 28"/>
          <p:cNvSpPr/>
          <p:nvPr/>
        </p:nvSpPr>
        <p:spPr>
          <a:xfrm>
            <a:off x="5897880" y="4187952"/>
            <a:ext cx="5742432" cy="777240"/>
          </a:xfrm>
          <a:prstGeom prst="rect">
            <a:avLst/>
          </a:prstGeom>
          <a:noFill/>
          <a:ln/>
        </p:spPr>
        <p:txBody>
          <a:bodyPr wrap="square" lIns="0" tIns="0" rIns="0" bIns="0" rtlCol="0" anchor="ctr"/>
          <a:lstStyle/>
          <a:p>
            <a:pPr indent="0" marL="0">
              <a:lnSpc>
                <a:spcPct val="125000"/>
              </a:lnSpc>
              <a:buNone/>
            </a:pPr>
            <a:r>
              <a:rPr lang="en-US" sz="1200" dirty="0">
                <a:solidFill>
                  <a:srgbClr val="B7C4DC"/>
                </a:solidFill>
                <a:latin typeface="Malgun Gothic" pitchFamily="34" charset="0"/>
                <a:ea typeface="Malgun Gothic" pitchFamily="34" charset="-122"/>
                <a:cs typeface="Malgun Gothic" pitchFamily="34" charset="-120"/>
              </a:rPr>
              <a:t>Self-Improving AI   ·   Recursive AI   ·   AI Scientist   ·   AutoML   ·   Autonomous Research</a:t>
            </a:r>
            <a:endParaRPr lang="en-US" sz="1200" dirty="0"/>
          </a:p>
        </p:txBody>
      </p:sp>
      <p:sp>
        <p:nvSpPr>
          <p:cNvPr id="33" name="Text 29"/>
          <p:cNvSpPr/>
          <p:nvPr/>
        </p:nvSpPr>
        <p:spPr>
          <a:xfrm>
            <a:off x="5897880" y="5074920"/>
            <a:ext cx="5742432" cy="274320"/>
          </a:xfrm>
          <a:prstGeom prst="rect">
            <a:avLst/>
          </a:prstGeom>
          <a:noFill/>
          <a:ln/>
        </p:spPr>
        <p:txBody>
          <a:bodyPr wrap="square" lIns="0" tIns="0" rIns="0" bIns="0" rtlCol="0" anchor="ctr"/>
          <a:lstStyle/>
          <a:p>
            <a:pPr algn="l" indent="0" marL="0">
              <a:buNone/>
            </a:pPr>
            <a:r>
              <a:rPr lang="en-US" sz="1150" b="1" dirty="0">
                <a:solidFill>
                  <a:srgbClr val="A3E635"/>
                </a:solidFill>
                <a:latin typeface="Malgun Gothic" pitchFamily="34" charset="0"/>
                <a:ea typeface="Malgun Gothic" pitchFamily="34" charset="-122"/>
                <a:cs typeface="Malgun Gothic" pitchFamily="34" charset="-120"/>
              </a:rPr>
              <a:t>2035 전망</a:t>
            </a:r>
            <a:endParaRPr lang="en-US" sz="1150" dirty="0"/>
          </a:p>
        </p:txBody>
      </p:sp>
      <p:sp>
        <p:nvSpPr>
          <p:cNvPr id="34" name="Text 30"/>
          <p:cNvSpPr/>
          <p:nvPr/>
        </p:nvSpPr>
        <p:spPr>
          <a:xfrm>
            <a:off x="5897880" y="5330952"/>
            <a:ext cx="5742432" cy="1188720"/>
          </a:xfrm>
          <a:prstGeom prst="rect">
            <a:avLst/>
          </a:prstGeom>
          <a:noFill/>
          <a:ln/>
        </p:spPr>
        <p:txBody>
          <a:bodyPr wrap="square" lIns="0" tIns="0" rIns="0" bIns="0" rtlCol="0" anchor="ctr"/>
          <a:lstStyle/>
          <a:p>
            <a:pPr indent="0" marL="0">
              <a:lnSpc>
                <a:spcPct val="122000"/>
              </a:lnSpc>
              <a:buNone/>
            </a:pPr>
            <a:r>
              <a:rPr lang="en-US" sz="1250" dirty="0">
                <a:solidFill>
                  <a:srgbClr val="B7C4DC"/>
                </a:solidFill>
                <a:latin typeface="Malgun Gothic" pitchFamily="34" charset="0"/>
                <a:ea typeface="Malgun Gothic" pitchFamily="34" charset="-122"/>
                <a:cs typeface="Malgun Gothic" pitchFamily="34" charset="-120"/>
              </a:rPr>
              <a:t>연구·개발의 상당 부분이 AI 주도로 가속되고, 사람은 '무엇을·왜·어디까지'를 정하는 방향타와 안전장치(정렬·거버넌스)를 쥐는 역할로 이동합니다.</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F1A"/>
        </a:solidFill>
      </p:bgPr>
    </p:bg>
    <p:spTree>
      <p:nvGrpSpPr>
        <p:cNvPr id="1" name=""/>
        <p:cNvGrpSpPr/>
        <p:nvPr/>
      </p:nvGrpSpPr>
      <p:grpSpPr>
        <a:xfrm>
          <a:off x="0" y="0"/>
          <a:ext cx="0" cy="0"/>
          <a:chOff x="0" y="0"/>
          <a:chExt cx="0" cy="0"/>
        </a:xfrm>
      </p:grpSpPr>
      <p:sp>
        <p:nvSpPr>
          <p:cNvPr id="2" name="Text 0"/>
          <p:cNvSpPr/>
          <p:nvPr/>
        </p:nvSpPr>
        <p:spPr>
          <a:xfrm>
            <a:off x="548640" y="457200"/>
            <a:ext cx="10058400" cy="548640"/>
          </a:xfrm>
          <a:prstGeom prst="rect">
            <a:avLst/>
          </a:prstGeom>
          <a:noFill/>
          <a:ln/>
        </p:spPr>
        <p:txBody>
          <a:bodyPr wrap="square" lIns="0" tIns="0" rIns="0" bIns="0" rtlCol="0" anchor="ctr"/>
          <a:lstStyle/>
          <a:p>
            <a:pPr indent="0" marL="0">
              <a:buNone/>
            </a:pPr>
            <a:r>
              <a:rPr lang="en-US" sz="3000" b="1" dirty="0">
                <a:solidFill>
                  <a:srgbClr val="EAF0FF"/>
                </a:solidFill>
                <a:latin typeface="Malgun Gothic" pitchFamily="34" charset="0"/>
                <a:ea typeface="Malgun Gothic" pitchFamily="34" charset="-122"/>
                <a:cs typeface="Malgun Gothic" pitchFamily="34" charset="-120"/>
              </a:rPr>
              <a:t>2026 → 2035 진화 타임라인</a:t>
            </a:r>
            <a:endParaRPr lang="en-US" sz="3000" dirty="0"/>
          </a:p>
        </p:txBody>
      </p:sp>
      <p:sp>
        <p:nvSpPr>
          <p:cNvPr id="3" name="Text 1"/>
          <p:cNvSpPr/>
          <p:nvPr/>
        </p:nvSpPr>
        <p:spPr>
          <a:xfrm>
            <a:off x="640080" y="1463040"/>
            <a:ext cx="1645920" cy="595666"/>
          </a:xfrm>
          <a:prstGeom prst="rect">
            <a:avLst/>
          </a:prstGeom>
          <a:noFill/>
          <a:ln/>
        </p:spPr>
        <p:txBody>
          <a:bodyPr wrap="square" lIns="0" tIns="0" rIns="0" bIns="0" rtlCol="0" anchor="ctr"/>
          <a:lstStyle/>
          <a:p>
            <a:pPr indent="0" marL="0">
              <a:buNone/>
            </a:pPr>
            <a:r>
              <a:rPr lang="en-US" sz="1800" b="1" dirty="0">
                <a:solidFill>
                  <a:srgbClr val="2DD4BF"/>
                </a:solidFill>
                <a:latin typeface="Consolas" pitchFamily="34" charset="0"/>
                <a:ea typeface="Consolas" pitchFamily="34" charset="-122"/>
                <a:cs typeface="Consolas" pitchFamily="34" charset="-120"/>
              </a:rPr>
              <a:t>~2024</a:t>
            </a:r>
            <a:endParaRPr lang="en-US" sz="1800" dirty="0"/>
          </a:p>
        </p:txBody>
      </p:sp>
      <p:sp>
        <p:nvSpPr>
          <p:cNvPr id="4" name="Shape 2"/>
          <p:cNvSpPr/>
          <p:nvPr/>
        </p:nvSpPr>
        <p:spPr>
          <a:xfrm>
            <a:off x="2395728" y="1733441"/>
            <a:ext cx="164592" cy="164592"/>
          </a:xfrm>
          <a:prstGeom prst="ellipse">
            <a:avLst/>
          </a:prstGeom>
          <a:solidFill>
            <a:srgbClr val="2DD4BF"/>
          </a:solidFill>
          <a:ln/>
        </p:spPr>
      </p:sp>
      <p:sp>
        <p:nvSpPr>
          <p:cNvPr id="5" name="Text 3"/>
          <p:cNvSpPr/>
          <p:nvPr/>
        </p:nvSpPr>
        <p:spPr>
          <a:xfrm>
            <a:off x="2743200" y="1463040"/>
            <a:ext cx="8869680" cy="595666"/>
          </a:xfrm>
          <a:prstGeom prst="rect">
            <a:avLst/>
          </a:prstGeom>
          <a:noFill/>
          <a:ln/>
        </p:spPr>
        <p:txBody>
          <a:bodyPr wrap="square" lIns="0" tIns="0" rIns="0" bIns="0" rtlCol="0" anchor="ctr"/>
          <a:lstStyle/>
          <a:p>
            <a:pPr indent="0" marL="0">
              <a:lnSpc>
                <a:spcPct val="110000"/>
              </a:lnSpc>
              <a:buNone/>
            </a:pPr>
            <a:r>
              <a:rPr lang="en-US" sz="1350" dirty="0">
                <a:solidFill>
                  <a:srgbClr val="B7C4DC"/>
                </a:solidFill>
                <a:latin typeface="Malgun Gothic" pitchFamily="34" charset="0"/>
                <a:ea typeface="Malgun Gothic" pitchFamily="34" charset="-122"/>
                <a:cs typeface="Malgun Gothic" pitchFamily="34" charset="-120"/>
              </a:rPr>
              <a:t>RAG·멀티모달 보편화, 단일 LLM 시대</a:t>
            </a:r>
            <a:endParaRPr lang="en-US" sz="1350" dirty="0"/>
          </a:p>
        </p:txBody>
      </p:sp>
      <p:sp>
        <p:nvSpPr>
          <p:cNvPr id="6" name="Text 4"/>
          <p:cNvSpPr/>
          <p:nvPr/>
        </p:nvSpPr>
        <p:spPr>
          <a:xfrm>
            <a:off x="640080" y="2168434"/>
            <a:ext cx="1645920" cy="595666"/>
          </a:xfrm>
          <a:prstGeom prst="rect">
            <a:avLst/>
          </a:prstGeom>
          <a:noFill/>
          <a:ln/>
        </p:spPr>
        <p:txBody>
          <a:bodyPr wrap="square" lIns="0" tIns="0" rIns="0" bIns="0" rtlCol="0" anchor="ctr"/>
          <a:lstStyle/>
          <a:p>
            <a:pPr indent="0" marL="0">
              <a:buNone/>
            </a:pPr>
            <a:r>
              <a:rPr lang="en-US" sz="1800" b="1" dirty="0">
                <a:solidFill>
                  <a:srgbClr val="2DD4BF"/>
                </a:solidFill>
                <a:latin typeface="Consolas" pitchFamily="34" charset="0"/>
                <a:ea typeface="Consolas" pitchFamily="34" charset="-122"/>
                <a:cs typeface="Consolas" pitchFamily="34" charset="-120"/>
              </a:rPr>
              <a:t>2025</a:t>
            </a:r>
            <a:endParaRPr lang="en-US" sz="1800" dirty="0"/>
          </a:p>
        </p:txBody>
      </p:sp>
      <p:sp>
        <p:nvSpPr>
          <p:cNvPr id="7" name="Shape 5"/>
          <p:cNvSpPr/>
          <p:nvPr/>
        </p:nvSpPr>
        <p:spPr>
          <a:xfrm>
            <a:off x="2395728" y="2438835"/>
            <a:ext cx="164592" cy="164592"/>
          </a:xfrm>
          <a:prstGeom prst="ellipse">
            <a:avLst/>
          </a:prstGeom>
          <a:solidFill>
            <a:srgbClr val="2DD4BF"/>
          </a:solidFill>
          <a:ln/>
        </p:spPr>
      </p:sp>
      <p:sp>
        <p:nvSpPr>
          <p:cNvPr id="8" name="Text 6"/>
          <p:cNvSpPr/>
          <p:nvPr/>
        </p:nvSpPr>
        <p:spPr>
          <a:xfrm>
            <a:off x="2743200" y="2168434"/>
            <a:ext cx="8869680" cy="595666"/>
          </a:xfrm>
          <a:prstGeom prst="rect">
            <a:avLst/>
          </a:prstGeom>
          <a:noFill/>
          <a:ln/>
        </p:spPr>
        <p:txBody>
          <a:bodyPr wrap="square" lIns="0" tIns="0" rIns="0" bIns="0" rtlCol="0" anchor="ctr"/>
          <a:lstStyle/>
          <a:p>
            <a:pPr indent="0" marL="0">
              <a:lnSpc>
                <a:spcPct val="110000"/>
              </a:lnSpc>
              <a:buNone/>
            </a:pPr>
            <a:r>
              <a:rPr lang="en-US" sz="1350" dirty="0">
                <a:solidFill>
                  <a:srgbClr val="B7C4DC"/>
                </a:solidFill>
                <a:latin typeface="Malgun Gothic" pitchFamily="34" charset="0"/>
                <a:ea typeface="Malgun Gothic" pitchFamily="34" charset="-122"/>
                <a:cs typeface="Malgun Gothic" pitchFamily="34" charset="-120"/>
              </a:rPr>
              <a:t>Reasoning Model(o-series·R1) 등장</a:t>
            </a:r>
            <a:endParaRPr lang="en-US" sz="1350" dirty="0"/>
          </a:p>
        </p:txBody>
      </p:sp>
      <p:sp>
        <p:nvSpPr>
          <p:cNvPr id="9" name="Text 7"/>
          <p:cNvSpPr/>
          <p:nvPr/>
        </p:nvSpPr>
        <p:spPr>
          <a:xfrm>
            <a:off x="640080" y="2873829"/>
            <a:ext cx="1645920" cy="595666"/>
          </a:xfrm>
          <a:prstGeom prst="rect">
            <a:avLst/>
          </a:prstGeom>
          <a:noFill/>
          <a:ln/>
        </p:spPr>
        <p:txBody>
          <a:bodyPr wrap="square" lIns="0" tIns="0" rIns="0" bIns="0" rtlCol="0" anchor="ctr"/>
          <a:lstStyle/>
          <a:p>
            <a:pPr indent="0" marL="0">
              <a:buNone/>
            </a:pPr>
            <a:r>
              <a:rPr lang="en-US" sz="1800" b="1" dirty="0">
                <a:solidFill>
                  <a:srgbClr val="2DD4BF"/>
                </a:solidFill>
                <a:latin typeface="Consolas" pitchFamily="34" charset="0"/>
                <a:ea typeface="Consolas" pitchFamily="34" charset="-122"/>
                <a:cs typeface="Consolas" pitchFamily="34" charset="-120"/>
              </a:rPr>
              <a:t>2026</a:t>
            </a:r>
            <a:endParaRPr lang="en-US" sz="1800" dirty="0"/>
          </a:p>
        </p:txBody>
      </p:sp>
      <p:sp>
        <p:nvSpPr>
          <p:cNvPr id="10" name="Shape 8"/>
          <p:cNvSpPr/>
          <p:nvPr/>
        </p:nvSpPr>
        <p:spPr>
          <a:xfrm>
            <a:off x="2395728" y="3144230"/>
            <a:ext cx="164592" cy="164592"/>
          </a:xfrm>
          <a:prstGeom prst="ellipse">
            <a:avLst/>
          </a:prstGeom>
          <a:solidFill>
            <a:srgbClr val="2DD4BF"/>
          </a:solidFill>
          <a:ln/>
        </p:spPr>
      </p:sp>
      <p:sp>
        <p:nvSpPr>
          <p:cNvPr id="11" name="Text 9"/>
          <p:cNvSpPr/>
          <p:nvPr/>
        </p:nvSpPr>
        <p:spPr>
          <a:xfrm>
            <a:off x="2743200" y="2873829"/>
            <a:ext cx="8869680" cy="595666"/>
          </a:xfrm>
          <a:prstGeom prst="rect">
            <a:avLst/>
          </a:prstGeom>
          <a:noFill/>
          <a:ln/>
        </p:spPr>
        <p:txBody>
          <a:bodyPr wrap="square" lIns="0" tIns="0" rIns="0" bIns="0" rtlCol="0" anchor="ctr"/>
          <a:lstStyle/>
          <a:p>
            <a:pPr indent="0" marL="0">
              <a:lnSpc>
                <a:spcPct val="110000"/>
              </a:lnSpc>
              <a:buNone/>
            </a:pPr>
            <a:r>
              <a:rPr lang="en-US" sz="1350" dirty="0">
                <a:solidFill>
                  <a:srgbClr val="B7C4DC"/>
                </a:solidFill>
                <a:latin typeface="Malgun Gothic" pitchFamily="34" charset="0"/>
                <a:ea typeface="Malgun Gothic" pitchFamily="34" charset="-122"/>
                <a:cs typeface="Malgun Gothic" pitchFamily="34" charset="-120"/>
              </a:rPr>
              <a:t>Neuromorphic·Wetware·Diffusion LLM·Photonic·Spatial AI·Multi-Agent·Physical AI 동시 점화</a:t>
            </a:r>
            <a:endParaRPr lang="en-US" sz="1350" dirty="0"/>
          </a:p>
        </p:txBody>
      </p:sp>
      <p:sp>
        <p:nvSpPr>
          <p:cNvPr id="12" name="Text 10"/>
          <p:cNvSpPr/>
          <p:nvPr/>
        </p:nvSpPr>
        <p:spPr>
          <a:xfrm>
            <a:off x="640080" y="3579223"/>
            <a:ext cx="1645920" cy="595666"/>
          </a:xfrm>
          <a:prstGeom prst="rect">
            <a:avLst/>
          </a:prstGeom>
          <a:noFill/>
          <a:ln/>
        </p:spPr>
        <p:txBody>
          <a:bodyPr wrap="square" lIns="0" tIns="0" rIns="0" bIns="0" rtlCol="0" anchor="ctr"/>
          <a:lstStyle/>
          <a:p>
            <a:pPr indent="0" marL="0">
              <a:buNone/>
            </a:pPr>
            <a:r>
              <a:rPr lang="en-US" sz="1800" b="1" dirty="0">
                <a:solidFill>
                  <a:srgbClr val="2DD4BF"/>
                </a:solidFill>
                <a:latin typeface="Consolas" pitchFamily="34" charset="0"/>
                <a:ea typeface="Consolas" pitchFamily="34" charset="-122"/>
                <a:cs typeface="Consolas" pitchFamily="34" charset="-120"/>
              </a:rPr>
              <a:t>2027</a:t>
            </a:r>
            <a:endParaRPr lang="en-US" sz="1800" dirty="0"/>
          </a:p>
        </p:txBody>
      </p:sp>
      <p:sp>
        <p:nvSpPr>
          <p:cNvPr id="13" name="Shape 11"/>
          <p:cNvSpPr/>
          <p:nvPr/>
        </p:nvSpPr>
        <p:spPr>
          <a:xfrm>
            <a:off x="2395728" y="3849624"/>
            <a:ext cx="164592" cy="164592"/>
          </a:xfrm>
          <a:prstGeom prst="ellipse">
            <a:avLst/>
          </a:prstGeom>
          <a:solidFill>
            <a:srgbClr val="2DD4BF"/>
          </a:solidFill>
          <a:ln/>
        </p:spPr>
      </p:sp>
      <p:sp>
        <p:nvSpPr>
          <p:cNvPr id="14" name="Text 12"/>
          <p:cNvSpPr/>
          <p:nvPr/>
        </p:nvSpPr>
        <p:spPr>
          <a:xfrm>
            <a:off x="2743200" y="3579223"/>
            <a:ext cx="8869680" cy="595666"/>
          </a:xfrm>
          <a:prstGeom prst="rect">
            <a:avLst/>
          </a:prstGeom>
          <a:noFill/>
          <a:ln/>
        </p:spPr>
        <p:txBody>
          <a:bodyPr wrap="square" lIns="0" tIns="0" rIns="0" bIns="0" rtlCol="0" anchor="ctr"/>
          <a:lstStyle/>
          <a:p>
            <a:pPr indent="0" marL="0">
              <a:lnSpc>
                <a:spcPct val="110000"/>
              </a:lnSpc>
              <a:buNone/>
            </a:pPr>
            <a:r>
              <a:rPr lang="en-US" sz="1350" dirty="0">
                <a:solidFill>
                  <a:srgbClr val="B7C4DC"/>
                </a:solidFill>
                <a:latin typeface="Malgun Gothic" pitchFamily="34" charset="0"/>
                <a:ea typeface="Malgun Gothic" pitchFamily="34" charset="-122"/>
                <a:cs typeface="Malgun Gothic" pitchFamily="34" charset="-120"/>
              </a:rPr>
              <a:t>SMR 가동·Hybrid 생성·AI Scientist</a:t>
            </a:r>
            <a:endParaRPr lang="en-US" sz="1350" dirty="0"/>
          </a:p>
        </p:txBody>
      </p:sp>
      <p:sp>
        <p:nvSpPr>
          <p:cNvPr id="15" name="Text 13"/>
          <p:cNvSpPr/>
          <p:nvPr/>
        </p:nvSpPr>
        <p:spPr>
          <a:xfrm>
            <a:off x="640080" y="4284617"/>
            <a:ext cx="1645920" cy="595666"/>
          </a:xfrm>
          <a:prstGeom prst="rect">
            <a:avLst/>
          </a:prstGeom>
          <a:noFill/>
          <a:ln/>
        </p:spPr>
        <p:txBody>
          <a:bodyPr wrap="square" lIns="0" tIns="0" rIns="0" bIns="0" rtlCol="0" anchor="ctr"/>
          <a:lstStyle/>
          <a:p>
            <a:pPr indent="0" marL="0">
              <a:buNone/>
            </a:pPr>
            <a:r>
              <a:rPr lang="en-US" sz="1800" b="1" dirty="0">
                <a:solidFill>
                  <a:srgbClr val="2DD4BF"/>
                </a:solidFill>
                <a:latin typeface="Consolas" pitchFamily="34" charset="0"/>
                <a:ea typeface="Consolas" pitchFamily="34" charset="-122"/>
                <a:cs typeface="Consolas" pitchFamily="34" charset="-120"/>
              </a:rPr>
              <a:t>2028</a:t>
            </a:r>
            <a:endParaRPr lang="en-US" sz="1800" dirty="0"/>
          </a:p>
        </p:txBody>
      </p:sp>
      <p:sp>
        <p:nvSpPr>
          <p:cNvPr id="16" name="Shape 14"/>
          <p:cNvSpPr/>
          <p:nvPr/>
        </p:nvSpPr>
        <p:spPr>
          <a:xfrm>
            <a:off x="2395728" y="4555018"/>
            <a:ext cx="164592" cy="164592"/>
          </a:xfrm>
          <a:prstGeom prst="ellipse">
            <a:avLst/>
          </a:prstGeom>
          <a:solidFill>
            <a:srgbClr val="2DD4BF"/>
          </a:solidFill>
          <a:ln/>
        </p:spPr>
      </p:sp>
      <p:sp>
        <p:nvSpPr>
          <p:cNvPr id="17" name="Text 15"/>
          <p:cNvSpPr/>
          <p:nvPr/>
        </p:nvSpPr>
        <p:spPr>
          <a:xfrm>
            <a:off x="2743200" y="4284617"/>
            <a:ext cx="8869680" cy="595666"/>
          </a:xfrm>
          <a:prstGeom prst="rect">
            <a:avLst/>
          </a:prstGeom>
          <a:noFill/>
          <a:ln/>
        </p:spPr>
        <p:txBody>
          <a:bodyPr wrap="square" lIns="0" tIns="0" rIns="0" bIns="0" rtlCol="0" anchor="ctr"/>
          <a:lstStyle/>
          <a:p>
            <a:pPr indent="0" marL="0">
              <a:lnSpc>
                <a:spcPct val="110000"/>
              </a:lnSpc>
              <a:buNone/>
            </a:pPr>
            <a:r>
              <a:rPr lang="en-US" sz="1350" dirty="0">
                <a:solidFill>
                  <a:srgbClr val="B7C4DC"/>
                </a:solidFill>
                <a:latin typeface="Malgun Gothic" pitchFamily="34" charset="0"/>
                <a:ea typeface="Malgun Gothic" pitchFamily="34" charset="-122"/>
                <a:cs typeface="Malgun Gothic" pitchFamily="34" charset="-120"/>
              </a:rPr>
              <a:t>BCI·World Model 시간/인과·AI Society·가정 휴머노이드·Risk Twin</a:t>
            </a:r>
            <a:endParaRPr lang="en-US" sz="1350" dirty="0"/>
          </a:p>
        </p:txBody>
      </p:sp>
      <p:sp>
        <p:nvSpPr>
          <p:cNvPr id="18" name="Text 16"/>
          <p:cNvSpPr/>
          <p:nvPr/>
        </p:nvSpPr>
        <p:spPr>
          <a:xfrm>
            <a:off x="640080" y="4990011"/>
            <a:ext cx="1645920" cy="595666"/>
          </a:xfrm>
          <a:prstGeom prst="rect">
            <a:avLst/>
          </a:prstGeom>
          <a:noFill/>
          <a:ln/>
        </p:spPr>
        <p:txBody>
          <a:bodyPr wrap="square" lIns="0" tIns="0" rIns="0" bIns="0" rtlCol="0" anchor="ctr"/>
          <a:lstStyle/>
          <a:p>
            <a:pPr indent="0" marL="0">
              <a:buNone/>
            </a:pPr>
            <a:r>
              <a:rPr lang="en-US" sz="1800" b="1" dirty="0">
                <a:solidFill>
                  <a:srgbClr val="2DD4BF"/>
                </a:solidFill>
                <a:latin typeface="Consolas" pitchFamily="34" charset="0"/>
                <a:ea typeface="Consolas" pitchFamily="34" charset="-122"/>
                <a:cs typeface="Consolas" pitchFamily="34" charset="-120"/>
              </a:rPr>
              <a:t>2029</a:t>
            </a:r>
            <a:endParaRPr lang="en-US" sz="1800" dirty="0"/>
          </a:p>
        </p:txBody>
      </p:sp>
      <p:sp>
        <p:nvSpPr>
          <p:cNvPr id="19" name="Shape 17"/>
          <p:cNvSpPr/>
          <p:nvPr/>
        </p:nvSpPr>
        <p:spPr>
          <a:xfrm>
            <a:off x="2395728" y="5260413"/>
            <a:ext cx="164592" cy="164592"/>
          </a:xfrm>
          <a:prstGeom prst="ellipse">
            <a:avLst/>
          </a:prstGeom>
          <a:solidFill>
            <a:srgbClr val="2DD4BF"/>
          </a:solidFill>
          <a:ln/>
        </p:spPr>
      </p:sp>
      <p:sp>
        <p:nvSpPr>
          <p:cNvPr id="20" name="Text 18"/>
          <p:cNvSpPr/>
          <p:nvPr/>
        </p:nvSpPr>
        <p:spPr>
          <a:xfrm>
            <a:off x="2743200" y="4990011"/>
            <a:ext cx="8869680" cy="595666"/>
          </a:xfrm>
          <a:prstGeom prst="rect">
            <a:avLst/>
          </a:prstGeom>
          <a:noFill/>
          <a:ln/>
        </p:spPr>
        <p:txBody>
          <a:bodyPr wrap="square" lIns="0" tIns="0" rIns="0" bIns="0" rtlCol="0" anchor="ctr"/>
          <a:lstStyle/>
          <a:p>
            <a:pPr indent="0" marL="0">
              <a:lnSpc>
                <a:spcPct val="110000"/>
              </a:lnSpc>
              <a:buNone/>
            </a:pPr>
            <a:r>
              <a:rPr lang="en-US" sz="1350" dirty="0">
                <a:solidFill>
                  <a:srgbClr val="B7C4DC"/>
                </a:solidFill>
                <a:latin typeface="Malgun Gothic" pitchFamily="34" charset="0"/>
                <a:ea typeface="Malgun Gothic" pitchFamily="34" charset="-122"/>
                <a:cs typeface="Malgun Gothic" pitchFamily="34" charset="-120"/>
              </a:rPr>
              <a:t>Fault-tolerant 양자 진입</a:t>
            </a:r>
            <a:endParaRPr lang="en-US" sz="1350" dirty="0"/>
          </a:p>
        </p:txBody>
      </p:sp>
      <p:sp>
        <p:nvSpPr>
          <p:cNvPr id="21" name="Text 19"/>
          <p:cNvSpPr/>
          <p:nvPr/>
        </p:nvSpPr>
        <p:spPr>
          <a:xfrm>
            <a:off x="640080" y="5695406"/>
            <a:ext cx="1645920" cy="595666"/>
          </a:xfrm>
          <a:prstGeom prst="rect">
            <a:avLst/>
          </a:prstGeom>
          <a:noFill/>
          <a:ln/>
        </p:spPr>
        <p:txBody>
          <a:bodyPr wrap="square" lIns="0" tIns="0" rIns="0" bIns="0" rtlCol="0" anchor="ctr"/>
          <a:lstStyle/>
          <a:p>
            <a:pPr indent="0" marL="0">
              <a:buNone/>
            </a:pPr>
            <a:r>
              <a:rPr lang="en-US" sz="1800" b="1" dirty="0">
                <a:solidFill>
                  <a:srgbClr val="2DD4BF"/>
                </a:solidFill>
                <a:latin typeface="Consolas" pitchFamily="34" charset="0"/>
                <a:ea typeface="Consolas" pitchFamily="34" charset="-122"/>
                <a:cs typeface="Consolas" pitchFamily="34" charset="-120"/>
              </a:rPr>
              <a:t>2030+</a:t>
            </a:r>
            <a:endParaRPr lang="en-US" sz="1800" dirty="0"/>
          </a:p>
        </p:txBody>
      </p:sp>
      <p:sp>
        <p:nvSpPr>
          <p:cNvPr id="22" name="Shape 20"/>
          <p:cNvSpPr/>
          <p:nvPr/>
        </p:nvSpPr>
        <p:spPr>
          <a:xfrm>
            <a:off x="2395728" y="5965807"/>
            <a:ext cx="164592" cy="164592"/>
          </a:xfrm>
          <a:prstGeom prst="ellipse">
            <a:avLst/>
          </a:prstGeom>
          <a:solidFill>
            <a:srgbClr val="2DD4BF"/>
          </a:solidFill>
          <a:ln/>
        </p:spPr>
      </p:sp>
      <p:sp>
        <p:nvSpPr>
          <p:cNvPr id="23" name="Text 21"/>
          <p:cNvSpPr/>
          <p:nvPr/>
        </p:nvSpPr>
        <p:spPr>
          <a:xfrm>
            <a:off x="2743200" y="5695406"/>
            <a:ext cx="8869680" cy="595666"/>
          </a:xfrm>
          <a:prstGeom prst="rect">
            <a:avLst/>
          </a:prstGeom>
          <a:noFill/>
          <a:ln/>
        </p:spPr>
        <p:txBody>
          <a:bodyPr wrap="square" lIns="0" tIns="0" rIns="0" bIns="0" rtlCol="0" anchor="ctr"/>
          <a:lstStyle/>
          <a:p>
            <a:pPr indent="0" marL="0">
              <a:lnSpc>
                <a:spcPct val="110000"/>
              </a:lnSpc>
              <a:buNone/>
            </a:pPr>
            <a:r>
              <a:rPr lang="en-US" sz="1350" dirty="0">
                <a:solidFill>
                  <a:srgbClr val="B7C4DC"/>
                </a:solidFill>
                <a:latin typeface="Malgun Gothic" pitchFamily="34" charset="0"/>
                <a:ea typeface="Malgun Gothic" pitchFamily="34" charset="-122"/>
                <a:cs typeface="Malgun Gothic" pitchFamily="34" charset="-120"/>
              </a:rPr>
              <a:t>핵융합·Wetware 메모리·AI Economy·Recursive 자기개선</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F1A"/>
        </a:solidFill>
      </p:bgPr>
    </p:bg>
    <p:spTree>
      <p:nvGrpSpPr>
        <p:cNvPr id="1" name=""/>
        <p:cNvGrpSpPr/>
        <p:nvPr/>
      </p:nvGrpSpPr>
      <p:grpSpPr>
        <a:xfrm>
          <a:off x="0" y="0"/>
          <a:ext cx="0" cy="0"/>
          <a:chOff x="0" y="0"/>
          <a:chExt cx="0" cy="0"/>
        </a:xfrm>
      </p:grpSpPr>
      <p:sp>
        <p:nvSpPr>
          <p:cNvPr id="2" name="Text 0"/>
          <p:cNvSpPr/>
          <p:nvPr/>
        </p:nvSpPr>
        <p:spPr>
          <a:xfrm>
            <a:off x="548640" y="457200"/>
            <a:ext cx="10058400" cy="548640"/>
          </a:xfrm>
          <a:prstGeom prst="rect">
            <a:avLst/>
          </a:prstGeom>
          <a:noFill/>
          <a:ln/>
        </p:spPr>
        <p:txBody>
          <a:bodyPr wrap="square" lIns="0" tIns="0" rIns="0" bIns="0" rtlCol="0" anchor="ctr"/>
          <a:lstStyle/>
          <a:p>
            <a:pPr indent="0" marL="0">
              <a:buNone/>
            </a:pPr>
            <a:r>
              <a:rPr lang="en-US" sz="3000" b="1" dirty="0">
                <a:solidFill>
                  <a:srgbClr val="EAF0FF"/>
                </a:solidFill>
                <a:latin typeface="Malgun Gothic" pitchFamily="34" charset="0"/>
                <a:ea typeface="Malgun Gothic" pitchFamily="34" charset="-122"/>
                <a:cs typeface="Malgun Gothic" pitchFamily="34" charset="-120"/>
              </a:rPr>
              <a:t>Big Tech 전략 비교</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194560"/>
                <a:gridCol w="4754880"/>
                <a:gridCol w="4142232"/>
              </a:tblGrid>
              <a:tr h="502920">
                <a:tc>
                  <a:txBody>
                    <a:bodyPr/>
                    <a:lstStyle/>
                    <a:p>
                      <a:pPr indent="0" marL="0">
                        <a:buNone/>
                      </a:pPr>
                      <a:r>
                        <a:rPr lang="en-US" sz="1300" b="1" dirty="0">
                          <a:solidFill>
                            <a:srgbClr val="EAF0FF"/>
                          </a:solidFill>
                          <a:latin typeface="Malgun Gothic" pitchFamily="34" charset="0"/>
                          <a:ea typeface="Malgun Gothic" pitchFamily="34" charset="-122"/>
                          <a:cs typeface="Malgun Gothic" pitchFamily="34" charset="-120"/>
                        </a:rPr>
                        <a:t>기업</a:t>
                      </a:r>
                      <a:endParaRPr lang="en-US" sz="1300" dirty="0">
                        <a:latin typeface="Malgun Gothic" charset="0"/>
                        <a:ea typeface="Malgun Gothic" charset="0"/>
                        <a:cs typeface="Malgun Gothic" charset="0"/>
                      </a:endParaRPr>
                    </a:p>
                  </a:txBody>
                  <a:tcPr marL="63500" marR="63500" marT="63500" marB="63500" anchor="ctr">
                    <a:lnL w="9525" cap="flat" cmpd="sng" algn="ctr">
                      <a:solidFill>
                        <a:srgbClr val="2A3756"/>
                      </a:solidFill>
                      <a:prstDash val="solid"/>
                      <a:round/>
                      <a:headEnd type="none" w="med" len="med"/>
                      <a:tailEnd type="none" w="med" len="med"/>
                    </a:lnL>
                    <a:lnR w="9525" cap="flat" cmpd="sng" algn="ctr">
                      <a:solidFill>
                        <a:srgbClr val="2A3756"/>
                      </a:solidFill>
                      <a:prstDash val="solid"/>
                      <a:round/>
                      <a:headEnd type="none" w="med" len="med"/>
                      <a:tailEnd type="none" w="med" len="med"/>
                    </a:lnR>
                    <a:lnT w="9525" cap="flat" cmpd="sng" algn="ctr">
                      <a:solidFill>
                        <a:srgbClr val="2A3756"/>
                      </a:solidFill>
                      <a:prstDash val="solid"/>
                      <a:round/>
                      <a:headEnd type="none" w="med" len="med"/>
                      <a:tailEnd type="none" w="med" len="med"/>
                    </a:lnT>
                    <a:lnB w="9525" cap="flat" cmpd="sng" algn="ctr">
                      <a:solidFill>
                        <a:srgbClr val="2A3756"/>
                      </a:solidFill>
                      <a:prstDash val="solid"/>
                      <a:round/>
                      <a:headEnd type="none" w="med" len="med"/>
                      <a:tailEnd type="none" w="med" len="med"/>
                    </a:lnB>
                    <a:solidFill>
                      <a:srgbClr val="18223A"/>
                    </a:solidFill>
                  </a:tcPr>
                </a:tc>
                <a:tc>
                  <a:txBody>
                    <a:bodyPr/>
                    <a:lstStyle/>
                    <a:p>
                      <a:pPr indent="0" marL="0">
                        <a:buNone/>
                      </a:pPr>
                      <a:r>
                        <a:rPr lang="en-US" sz="1300" b="1" dirty="0">
                          <a:solidFill>
                            <a:srgbClr val="EAF0FF"/>
                          </a:solidFill>
                          <a:latin typeface="Malgun Gothic" pitchFamily="34" charset="0"/>
                          <a:ea typeface="Malgun Gothic" pitchFamily="34" charset="-122"/>
                          <a:cs typeface="Malgun Gothic" pitchFamily="34" charset="-120"/>
                        </a:rPr>
                        <a:t>핵심 자산</a:t>
                      </a:r>
                      <a:endParaRPr lang="en-US" sz="1300" dirty="0">
                        <a:latin typeface="Malgun Gothic" charset="0"/>
                        <a:ea typeface="Malgun Gothic" charset="0"/>
                        <a:cs typeface="Malgun Gothic" charset="0"/>
                      </a:endParaRPr>
                    </a:p>
                  </a:txBody>
                  <a:tcPr marL="63500" marR="63500" marT="63500" marB="63500" anchor="ctr">
                    <a:lnL w="9525" cap="flat" cmpd="sng" algn="ctr">
                      <a:solidFill>
                        <a:srgbClr val="2A3756"/>
                      </a:solidFill>
                      <a:prstDash val="solid"/>
                      <a:round/>
                      <a:headEnd type="none" w="med" len="med"/>
                      <a:tailEnd type="none" w="med" len="med"/>
                    </a:lnL>
                    <a:lnR w="9525" cap="flat" cmpd="sng" algn="ctr">
                      <a:solidFill>
                        <a:srgbClr val="2A3756"/>
                      </a:solidFill>
                      <a:prstDash val="solid"/>
                      <a:round/>
                      <a:headEnd type="none" w="med" len="med"/>
                      <a:tailEnd type="none" w="med" len="med"/>
                    </a:lnR>
                    <a:lnT w="9525" cap="flat" cmpd="sng" algn="ctr">
                      <a:solidFill>
                        <a:srgbClr val="2A3756"/>
                      </a:solidFill>
                      <a:prstDash val="solid"/>
                      <a:round/>
                      <a:headEnd type="none" w="med" len="med"/>
                      <a:tailEnd type="none" w="med" len="med"/>
                    </a:lnT>
                    <a:lnB w="9525" cap="flat" cmpd="sng" algn="ctr">
                      <a:solidFill>
                        <a:srgbClr val="2A3756"/>
                      </a:solidFill>
                      <a:prstDash val="solid"/>
                      <a:round/>
                      <a:headEnd type="none" w="med" len="med"/>
                      <a:tailEnd type="none" w="med" len="med"/>
                    </a:lnB>
                    <a:solidFill>
                      <a:srgbClr val="18223A"/>
                    </a:solidFill>
                  </a:tcPr>
                </a:tc>
                <a:tc>
                  <a:txBody>
                    <a:bodyPr/>
                    <a:lstStyle/>
                    <a:p>
                      <a:pPr indent="0" marL="0">
                        <a:buNone/>
                      </a:pPr>
                      <a:r>
                        <a:rPr lang="en-US" sz="1300" b="1" dirty="0">
                          <a:solidFill>
                            <a:srgbClr val="EAF0FF"/>
                          </a:solidFill>
                          <a:latin typeface="Malgun Gothic" pitchFamily="34" charset="0"/>
                          <a:ea typeface="Malgun Gothic" pitchFamily="34" charset="-122"/>
                          <a:cs typeface="Malgun Gothic" pitchFamily="34" charset="-120"/>
                        </a:rPr>
                        <a:t>포지셔닝</a:t>
                      </a:r>
                      <a:endParaRPr lang="en-US" sz="1300" dirty="0">
                        <a:latin typeface="Malgun Gothic" charset="0"/>
                        <a:ea typeface="Malgun Gothic" charset="0"/>
                        <a:cs typeface="Malgun Gothic" charset="0"/>
                      </a:endParaRPr>
                    </a:p>
                  </a:txBody>
                  <a:tcPr marL="63500" marR="63500" marT="63500" marB="63500" anchor="ctr">
                    <a:lnL w="9525" cap="flat" cmpd="sng" algn="ctr">
                      <a:solidFill>
                        <a:srgbClr val="2A3756"/>
                      </a:solidFill>
                      <a:prstDash val="solid"/>
                      <a:round/>
                      <a:headEnd type="none" w="med" len="med"/>
                      <a:tailEnd type="none" w="med" len="med"/>
                    </a:lnL>
                    <a:lnR w="9525" cap="flat" cmpd="sng" algn="ctr">
                      <a:solidFill>
                        <a:srgbClr val="2A3756"/>
                      </a:solidFill>
                      <a:prstDash val="solid"/>
                      <a:round/>
                      <a:headEnd type="none" w="med" len="med"/>
                      <a:tailEnd type="none" w="med" len="med"/>
                    </a:lnR>
                    <a:lnT w="9525" cap="flat" cmpd="sng" algn="ctr">
                      <a:solidFill>
                        <a:srgbClr val="2A3756"/>
                      </a:solidFill>
                      <a:prstDash val="solid"/>
                      <a:round/>
                      <a:headEnd type="none" w="med" len="med"/>
                      <a:tailEnd type="none" w="med" len="med"/>
                    </a:lnT>
                    <a:lnB w="9525" cap="flat" cmpd="sng" algn="ctr">
                      <a:solidFill>
                        <a:srgbClr val="2A3756"/>
                      </a:solidFill>
                      <a:prstDash val="solid"/>
                      <a:round/>
                      <a:headEnd type="none" w="med" len="med"/>
                      <a:tailEnd type="none" w="med" len="med"/>
                    </a:lnB>
                    <a:solidFill>
                      <a:srgbClr val="18223A"/>
                    </a:solidFill>
                  </a:tcPr>
                </a:tc>
              </a:tr>
              <a:tr h="502920">
                <a:tc>
                  <a:txBody>
                    <a:bodyPr/>
                    <a:lstStyle/>
                    <a:p>
                      <a:pPr indent="0" marL="0">
                        <a:buNone/>
                      </a:pPr>
                      <a:r>
                        <a:rPr lang="en-US" sz="1250" b="1" dirty="0">
                          <a:solidFill>
                            <a:srgbClr val="2DD4BF"/>
                          </a:solidFill>
                          <a:latin typeface="Malgun Gothic" pitchFamily="34" charset="0"/>
                          <a:ea typeface="Malgun Gothic" pitchFamily="34" charset="-122"/>
                          <a:cs typeface="Malgun Gothic" pitchFamily="34" charset="-120"/>
                        </a:rPr>
                        <a:t>NVIDIA</a:t>
                      </a:r>
                      <a:endParaRPr lang="en-US" sz="1250" dirty="0">
                        <a:latin typeface="Malgun Gothic" charset="0"/>
                        <a:ea typeface="Malgun Gothic" charset="0"/>
                        <a:cs typeface="Malgun Gothic" charset="0"/>
                      </a:endParaRPr>
                    </a:p>
                  </a:txBody>
                  <a:tcPr marL="63500" marR="63500" marT="63500" marB="63500" anchor="ctr">
                    <a:lnL w="9525" cap="flat" cmpd="sng" algn="ctr">
                      <a:solidFill>
                        <a:srgbClr val="2A3756"/>
                      </a:solidFill>
                      <a:prstDash val="solid"/>
                      <a:round/>
                      <a:headEnd type="none" w="med" len="med"/>
                      <a:tailEnd type="none" w="med" len="med"/>
                    </a:lnL>
                    <a:lnR w="9525" cap="flat" cmpd="sng" algn="ctr">
                      <a:solidFill>
                        <a:srgbClr val="2A3756"/>
                      </a:solidFill>
                      <a:prstDash val="solid"/>
                      <a:round/>
                      <a:headEnd type="none" w="med" len="med"/>
                      <a:tailEnd type="none" w="med" len="med"/>
                    </a:lnR>
                    <a:lnT w="9525" cap="flat" cmpd="sng" algn="ctr">
                      <a:solidFill>
                        <a:srgbClr val="2A3756"/>
                      </a:solidFill>
                      <a:prstDash val="solid"/>
                      <a:round/>
                      <a:headEnd type="none" w="med" len="med"/>
                      <a:tailEnd type="none" w="med" len="med"/>
                    </a:lnT>
                    <a:lnB w="9525" cap="flat" cmpd="sng" algn="ctr">
                      <a:solidFill>
                        <a:srgbClr val="2A3756"/>
                      </a:solidFill>
                      <a:prstDash val="solid"/>
                      <a:round/>
                      <a:headEnd type="none" w="med" len="med"/>
                      <a:tailEnd type="none" w="med" len="med"/>
                    </a:lnB>
                    <a:solidFill>
                      <a:srgbClr val="121A2E"/>
                    </a:solidFill>
                  </a:tcPr>
                </a:tc>
                <a:tc>
                  <a:txBody>
                    <a:bodyPr/>
                    <a:lstStyle/>
                    <a:p>
                      <a:pPr indent="0" marL="0">
                        <a:buNone/>
                      </a:pPr>
                      <a:r>
                        <a:rPr lang="en-US" sz="1200" dirty="0">
                          <a:solidFill>
                            <a:srgbClr val="B7C4DC"/>
                          </a:solidFill>
                          <a:latin typeface="Malgun Gothic" pitchFamily="34" charset="0"/>
                          <a:ea typeface="Malgun Gothic" pitchFamily="34" charset="-122"/>
                          <a:cs typeface="Malgun Gothic" pitchFamily="34" charset="-120"/>
                        </a:rPr>
                        <a:t>GPU·NVLink·Omniverse·Cosmos</a:t>
                      </a:r>
                      <a:endParaRPr lang="en-US" sz="1200" dirty="0">
                        <a:latin typeface="Malgun Gothic" charset="0"/>
                        <a:ea typeface="Malgun Gothic" charset="0"/>
                        <a:cs typeface="Malgun Gothic" charset="0"/>
                      </a:endParaRPr>
                    </a:p>
                  </a:txBody>
                  <a:tcPr marL="63500" marR="63500" marT="63500" marB="63500" anchor="ctr">
                    <a:lnL w="9525" cap="flat" cmpd="sng" algn="ctr">
                      <a:solidFill>
                        <a:srgbClr val="2A3756"/>
                      </a:solidFill>
                      <a:prstDash val="solid"/>
                      <a:round/>
                      <a:headEnd type="none" w="med" len="med"/>
                      <a:tailEnd type="none" w="med" len="med"/>
                    </a:lnL>
                    <a:lnR w="9525" cap="flat" cmpd="sng" algn="ctr">
                      <a:solidFill>
                        <a:srgbClr val="2A3756"/>
                      </a:solidFill>
                      <a:prstDash val="solid"/>
                      <a:round/>
                      <a:headEnd type="none" w="med" len="med"/>
                      <a:tailEnd type="none" w="med" len="med"/>
                    </a:lnR>
                    <a:lnT w="9525" cap="flat" cmpd="sng" algn="ctr">
                      <a:solidFill>
                        <a:srgbClr val="2A3756"/>
                      </a:solidFill>
                      <a:prstDash val="solid"/>
                      <a:round/>
                      <a:headEnd type="none" w="med" len="med"/>
                      <a:tailEnd type="none" w="med" len="med"/>
                    </a:lnT>
                    <a:lnB w="9525" cap="flat" cmpd="sng" algn="ctr">
                      <a:solidFill>
                        <a:srgbClr val="2A3756"/>
                      </a:solidFill>
                      <a:prstDash val="solid"/>
                      <a:round/>
                      <a:headEnd type="none" w="med" len="med"/>
                      <a:tailEnd type="none" w="med" len="med"/>
                    </a:lnB>
                    <a:solidFill>
                      <a:srgbClr val="121A2E"/>
                    </a:solidFill>
                  </a:tcPr>
                </a:tc>
                <a:tc>
                  <a:txBody>
                    <a:bodyPr/>
                    <a:lstStyle/>
                    <a:p>
                      <a:pPr indent="0" marL="0">
                        <a:buNone/>
                      </a:pPr>
                      <a:r>
                        <a:rPr lang="en-US" sz="1200" dirty="0">
                          <a:solidFill>
                            <a:srgbClr val="B7C4DC"/>
                          </a:solidFill>
                          <a:latin typeface="Malgun Gothic" pitchFamily="34" charset="0"/>
                          <a:ea typeface="Malgun Gothic" pitchFamily="34" charset="-122"/>
                          <a:cs typeface="Malgun Gothic" pitchFamily="34" charset="-120"/>
                        </a:rPr>
                        <a:t>연결·연산·시뮬레이션 인프라 장악</a:t>
                      </a:r>
                      <a:endParaRPr lang="en-US" sz="1200" dirty="0">
                        <a:latin typeface="Malgun Gothic" charset="0"/>
                        <a:ea typeface="Malgun Gothic" charset="0"/>
                        <a:cs typeface="Malgun Gothic" charset="0"/>
                      </a:endParaRPr>
                    </a:p>
                  </a:txBody>
                  <a:tcPr marL="63500" marR="63500" marT="63500" marB="63500" anchor="ctr">
                    <a:lnL w="9525" cap="flat" cmpd="sng" algn="ctr">
                      <a:solidFill>
                        <a:srgbClr val="2A3756"/>
                      </a:solidFill>
                      <a:prstDash val="solid"/>
                      <a:round/>
                      <a:headEnd type="none" w="med" len="med"/>
                      <a:tailEnd type="none" w="med" len="med"/>
                    </a:lnL>
                    <a:lnR w="9525" cap="flat" cmpd="sng" algn="ctr">
                      <a:solidFill>
                        <a:srgbClr val="2A3756"/>
                      </a:solidFill>
                      <a:prstDash val="solid"/>
                      <a:round/>
                      <a:headEnd type="none" w="med" len="med"/>
                      <a:tailEnd type="none" w="med" len="med"/>
                    </a:lnR>
                    <a:lnT w="9525" cap="flat" cmpd="sng" algn="ctr">
                      <a:solidFill>
                        <a:srgbClr val="2A3756"/>
                      </a:solidFill>
                      <a:prstDash val="solid"/>
                      <a:round/>
                      <a:headEnd type="none" w="med" len="med"/>
                      <a:tailEnd type="none" w="med" len="med"/>
                    </a:lnT>
                    <a:lnB w="9525" cap="flat" cmpd="sng" algn="ctr">
                      <a:solidFill>
                        <a:srgbClr val="2A3756"/>
                      </a:solidFill>
                      <a:prstDash val="solid"/>
                      <a:round/>
                      <a:headEnd type="none" w="med" len="med"/>
                      <a:tailEnd type="none" w="med" len="med"/>
                    </a:lnB>
                    <a:solidFill>
                      <a:srgbClr val="121A2E"/>
                    </a:solidFill>
                  </a:tcPr>
                </a:tc>
              </a:tr>
              <a:tr h="502920">
                <a:tc>
                  <a:txBody>
                    <a:bodyPr/>
                    <a:lstStyle/>
                    <a:p>
                      <a:pPr indent="0" marL="0">
                        <a:buNone/>
                      </a:pPr>
                      <a:r>
                        <a:rPr lang="en-US" sz="1250" b="1" dirty="0">
                          <a:solidFill>
                            <a:srgbClr val="2DD4BF"/>
                          </a:solidFill>
                          <a:latin typeface="Malgun Gothic" pitchFamily="34" charset="0"/>
                          <a:ea typeface="Malgun Gothic" pitchFamily="34" charset="-122"/>
                          <a:cs typeface="Malgun Gothic" pitchFamily="34" charset="-120"/>
                        </a:rPr>
                        <a:t>OpenAI</a:t>
                      </a:r>
                      <a:endParaRPr lang="en-US" sz="1250" dirty="0">
                        <a:latin typeface="Malgun Gothic" charset="0"/>
                        <a:ea typeface="Malgun Gothic" charset="0"/>
                        <a:cs typeface="Malgun Gothic" charset="0"/>
                      </a:endParaRPr>
                    </a:p>
                  </a:txBody>
                  <a:tcPr marL="63500" marR="63500" marT="63500" marB="63500" anchor="ctr">
                    <a:lnL w="9525" cap="flat" cmpd="sng" algn="ctr">
                      <a:solidFill>
                        <a:srgbClr val="2A3756"/>
                      </a:solidFill>
                      <a:prstDash val="solid"/>
                      <a:round/>
                      <a:headEnd type="none" w="med" len="med"/>
                      <a:tailEnd type="none" w="med" len="med"/>
                    </a:lnL>
                    <a:lnR w="9525" cap="flat" cmpd="sng" algn="ctr">
                      <a:solidFill>
                        <a:srgbClr val="2A3756"/>
                      </a:solidFill>
                      <a:prstDash val="solid"/>
                      <a:round/>
                      <a:headEnd type="none" w="med" len="med"/>
                      <a:tailEnd type="none" w="med" len="med"/>
                    </a:lnR>
                    <a:lnT w="9525" cap="flat" cmpd="sng" algn="ctr">
                      <a:solidFill>
                        <a:srgbClr val="2A3756"/>
                      </a:solidFill>
                      <a:prstDash val="solid"/>
                      <a:round/>
                      <a:headEnd type="none" w="med" len="med"/>
                      <a:tailEnd type="none" w="med" len="med"/>
                    </a:lnT>
                    <a:lnB w="9525" cap="flat" cmpd="sng" algn="ctr">
                      <a:solidFill>
                        <a:srgbClr val="2A3756"/>
                      </a:solidFill>
                      <a:prstDash val="solid"/>
                      <a:round/>
                      <a:headEnd type="none" w="med" len="med"/>
                      <a:tailEnd type="none" w="med" len="med"/>
                    </a:lnB>
                    <a:solidFill>
                      <a:srgbClr val="121A2E"/>
                    </a:solidFill>
                  </a:tcPr>
                </a:tc>
                <a:tc>
                  <a:txBody>
                    <a:bodyPr/>
                    <a:lstStyle/>
                    <a:p>
                      <a:pPr indent="0" marL="0">
                        <a:buNone/>
                      </a:pPr>
                      <a:r>
                        <a:rPr lang="en-US" sz="1200" dirty="0">
                          <a:solidFill>
                            <a:srgbClr val="B7C4DC"/>
                          </a:solidFill>
                          <a:latin typeface="Malgun Gothic" pitchFamily="34" charset="0"/>
                          <a:ea typeface="Malgun Gothic" pitchFamily="34" charset="-122"/>
                          <a:cs typeface="Malgun Gothic" pitchFamily="34" charset="-120"/>
                        </a:rPr>
                        <a:t>o-series 추론, 멀티모달, 에이전트</a:t>
                      </a:r>
                      <a:endParaRPr lang="en-US" sz="1200" dirty="0">
                        <a:latin typeface="Malgun Gothic" charset="0"/>
                        <a:ea typeface="Malgun Gothic" charset="0"/>
                        <a:cs typeface="Malgun Gothic" charset="0"/>
                      </a:endParaRPr>
                    </a:p>
                  </a:txBody>
                  <a:tcPr marL="63500" marR="63500" marT="63500" marB="63500" anchor="ctr">
                    <a:lnL w="9525" cap="flat" cmpd="sng" algn="ctr">
                      <a:solidFill>
                        <a:srgbClr val="2A3756"/>
                      </a:solidFill>
                      <a:prstDash val="solid"/>
                      <a:round/>
                      <a:headEnd type="none" w="med" len="med"/>
                      <a:tailEnd type="none" w="med" len="med"/>
                    </a:lnL>
                    <a:lnR w="9525" cap="flat" cmpd="sng" algn="ctr">
                      <a:solidFill>
                        <a:srgbClr val="2A3756"/>
                      </a:solidFill>
                      <a:prstDash val="solid"/>
                      <a:round/>
                      <a:headEnd type="none" w="med" len="med"/>
                      <a:tailEnd type="none" w="med" len="med"/>
                    </a:lnR>
                    <a:lnT w="9525" cap="flat" cmpd="sng" algn="ctr">
                      <a:solidFill>
                        <a:srgbClr val="2A3756"/>
                      </a:solidFill>
                      <a:prstDash val="solid"/>
                      <a:round/>
                      <a:headEnd type="none" w="med" len="med"/>
                      <a:tailEnd type="none" w="med" len="med"/>
                    </a:lnT>
                    <a:lnB w="9525" cap="flat" cmpd="sng" algn="ctr">
                      <a:solidFill>
                        <a:srgbClr val="2A3756"/>
                      </a:solidFill>
                      <a:prstDash val="solid"/>
                      <a:round/>
                      <a:headEnd type="none" w="med" len="med"/>
                      <a:tailEnd type="none" w="med" len="med"/>
                    </a:lnB>
                    <a:solidFill>
                      <a:srgbClr val="121A2E"/>
                    </a:solidFill>
                  </a:tcPr>
                </a:tc>
                <a:tc>
                  <a:txBody>
                    <a:bodyPr/>
                    <a:lstStyle/>
                    <a:p>
                      <a:pPr indent="0" marL="0">
                        <a:buNone/>
                      </a:pPr>
                      <a:r>
                        <a:rPr lang="en-US" sz="1200" dirty="0">
                          <a:solidFill>
                            <a:srgbClr val="B7C4DC"/>
                          </a:solidFill>
                          <a:latin typeface="Malgun Gothic" pitchFamily="34" charset="0"/>
                          <a:ea typeface="Malgun Gothic" pitchFamily="34" charset="-122"/>
                          <a:cs typeface="Malgun Gothic" pitchFamily="34" charset="-120"/>
                        </a:rPr>
                        <a:t>범용 모델 + 추론 + 행위</a:t>
                      </a:r>
                      <a:endParaRPr lang="en-US" sz="1200" dirty="0">
                        <a:latin typeface="Malgun Gothic" charset="0"/>
                        <a:ea typeface="Malgun Gothic" charset="0"/>
                        <a:cs typeface="Malgun Gothic" charset="0"/>
                      </a:endParaRPr>
                    </a:p>
                  </a:txBody>
                  <a:tcPr marL="63500" marR="63500" marT="63500" marB="63500" anchor="ctr">
                    <a:lnL w="9525" cap="flat" cmpd="sng" algn="ctr">
                      <a:solidFill>
                        <a:srgbClr val="2A3756"/>
                      </a:solidFill>
                      <a:prstDash val="solid"/>
                      <a:round/>
                      <a:headEnd type="none" w="med" len="med"/>
                      <a:tailEnd type="none" w="med" len="med"/>
                    </a:lnL>
                    <a:lnR w="9525" cap="flat" cmpd="sng" algn="ctr">
                      <a:solidFill>
                        <a:srgbClr val="2A3756"/>
                      </a:solidFill>
                      <a:prstDash val="solid"/>
                      <a:round/>
                      <a:headEnd type="none" w="med" len="med"/>
                      <a:tailEnd type="none" w="med" len="med"/>
                    </a:lnR>
                    <a:lnT w="9525" cap="flat" cmpd="sng" algn="ctr">
                      <a:solidFill>
                        <a:srgbClr val="2A3756"/>
                      </a:solidFill>
                      <a:prstDash val="solid"/>
                      <a:round/>
                      <a:headEnd type="none" w="med" len="med"/>
                      <a:tailEnd type="none" w="med" len="med"/>
                    </a:lnT>
                    <a:lnB w="9525" cap="flat" cmpd="sng" algn="ctr">
                      <a:solidFill>
                        <a:srgbClr val="2A3756"/>
                      </a:solidFill>
                      <a:prstDash val="solid"/>
                      <a:round/>
                      <a:headEnd type="none" w="med" len="med"/>
                      <a:tailEnd type="none" w="med" len="med"/>
                    </a:lnB>
                    <a:solidFill>
                      <a:srgbClr val="121A2E"/>
                    </a:solidFill>
                  </a:tcPr>
                </a:tc>
              </a:tr>
              <a:tr h="502920">
                <a:tc>
                  <a:txBody>
                    <a:bodyPr/>
                    <a:lstStyle/>
                    <a:p>
                      <a:pPr indent="0" marL="0">
                        <a:buNone/>
                      </a:pPr>
                      <a:r>
                        <a:rPr lang="en-US" sz="1250" b="1" dirty="0">
                          <a:solidFill>
                            <a:srgbClr val="2DD4BF"/>
                          </a:solidFill>
                          <a:latin typeface="Malgun Gothic" pitchFamily="34" charset="0"/>
                          <a:ea typeface="Malgun Gothic" pitchFamily="34" charset="-122"/>
                          <a:cs typeface="Malgun Gothic" pitchFamily="34" charset="-120"/>
                        </a:rPr>
                        <a:t>Anthropic</a:t>
                      </a:r>
                      <a:endParaRPr lang="en-US" sz="1250" dirty="0">
                        <a:latin typeface="Malgun Gothic" charset="0"/>
                        <a:ea typeface="Malgun Gothic" charset="0"/>
                        <a:cs typeface="Malgun Gothic" charset="0"/>
                      </a:endParaRPr>
                    </a:p>
                  </a:txBody>
                  <a:tcPr marL="63500" marR="63500" marT="63500" marB="63500" anchor="ctr">
                    <a:lnL w="9525" cap="flat" cmpd="sng" algn="ctr">
                      <a:solidFill>
                        <a:srgbClr val="2A3756"/>
                      </a:solidFill>
                      <a:prstDash val="solid"/>
                      <a:round/>
                      <a:headEnd type="none" w="med" len="med"/>
                      <a:tailEnd type="none" w="med" len="med"/>
                    </a:lnL>
                    <a:lnR w="9525" cap="flat" cmpd="sng" algn="ctr">
                      <a:solidFill>
                        <a:srgbClr val="2A3756"/>
                      </a:solidFill>
                      <a:prstDash val="solid"/>
                      <a:round/>
                      <a:headEnd type="none" w="med" len="med"/>
                      <a:tailEnd type="none" w="med" len="med"/>
                    </a:lnR>
                    <a:lnT w="9525" cap="flat" cmpd="sng" algn="ctr">
                      <a:solidFill>
                        <a:srgbClr val="2A3756"/>
                      </a:solidFill>
                      <a:prstDash val="solid"/>
                      <a:round/>
                      <a:headEnd type="none" w="med" len="med"/>
                      <a:tailEnd type="none" w="med" len="med"/>
                    </a:lnT>
                    <a:lnB w="9525" cap="flat" cmpd="sng" algn="ctr">
                      <a:solidFill>
                        <a:srgbClr val="2A3756"/>
                      </a:solidFill>
                      <a:prstDash val="solid"/>
                      <a:round/>
                      <a:headEnd type="none" w="med" len="med"/>
                      <a:tailEnd type="none" w="med" len="med"/>
                    </a:lnB>
                    <a:solidFill>
                      <a:srgbClr val="121A2E"/>
                    </a:solidFill>
                  </a:tcPr>
                </a:tc>
                <a:tc>
                  <a:txBody>
                    <a:bodyPr/>
                    <a:lstStyle/>
                    <a:p>
                      <a:pPr indent="0" marL="0">
                        <a:buNone/>
                      </a:pPr>
                      <a:r>
                        <a:rPr lang="en-US" sz="1200" dirty="0">
                          <a:solidFill>
                            <a:srgbClr val="B7C4DC"/>
                          </a:solidFill>
                          <a:latin typeface="Malgun Gothic" pitchFamily="34" charset="0"/>
                          <a:ea typeface="Malgun Gothic" pitchFamily="34" charset="-122"/>
                          <a:cs typeface="Malgun Gothic" pitchFamily="34" charset="-120"/>
                        </a:rPr>
                        <a:t>Claude, Claude Code, MCP</a:t>
                      </a:r>
                      <a:endParaRPr lang="en-US" sz="1200" dirty="0">
                        <a:latin typeface="Malgun Gothic" charset="0"/>
                        <a:ea typeface="Malgun Gothic" charset="0"/>
                        <a:cs typeface="Malgun Gothic" charset="0"/>
                      </a:endParaRPr>
                    </a:p>
                  </a:txBody>
                  <a:tcPr marL="63500" marR="63500" marT="63500" marB="63500" anchor="ctr">
                    <a:lnL w="9525" cap="flat" cmpd="sng" algn="ctr">
                      <a:solidFill>
                        <a:srgbClr val="2A3756"/>
                      </a:solidFill>
                      <a:prstDash val="solid"/>
                      <a:round/>
                      <a:headEnd type="none" w="med" len="med"/>
                      <a:tailEnd type="none" w="med" len="med"/>
                    </a:lnL>
                    <a:lnR w="9525" cap="flat" cmpd="sng" algn="ctr">
                      <a:solidFill>
                        <a:srgbClr val="2A3756"/>
                      </a:solidFill>
                      <a:prstDash val="solid"/>
                      <a:round/>
                      <a:headEnd type="none" w="med" len="med"/>
                      <a:tailEnd type="none" w="med" len="med"/>
                    </a:lnR>
                    <a:lnT w="9525" cap="flat" cmpd="sng" algn="ctr">
                      <a:solidFill>
                        <a:srgbClr val="2A3756"/>
                      </a:solidFill>
                      <a:prstDash val="solid"/>
                      <a:round/>
                      <a:headEnd type="none" w="med" len="med"/>
                      <a:tailEnd type="none" w="med" len="med"/>
                    </a:lnT>
                    <a:lnB w="9525" cap="flat" cmpd="sng" algn="ctr">
                      <a:solidFill>
                        <a:srgbClr val="2A3756"/>
                      </a:solidFill>
                      <a:prstDash val="solid"/>
                      <a:round/>
                      <a:headEnd type="none" w="med" len="med"/>
                      <a:tailEnd type="none" w="med" len="med"/>
                    </a:lnB>
                    <a:solidFill>
                      <a:srgbClr val="121A2E"/>
                    </a:solidFill>
                  </a:tcPr>
                </a:tc>
                <a:tc>
                  <a:txBody>
                    <a:bodyPr/>
                    <a:lstStyle/>
                    <a:p>
                      <a:pPr indent="0" marL="0">
                        <a:buNone/>
                      </a:pPr>
                      <a:r>
                        <a:rPr lang="en-US" sz="1200" dirty="0">
                          <a:solidFill>
                            <a:srgbClr val="B7C4DC"/>
                          </a:solidFill>
                          <a:latin typeface="Malgun Gothic" pitchFamily="34" charset="0"/>
                          <a:ea typeface="Malgun Gothic" pitchFamily="34" charset="-122"/>
                          <a:cs typeface="Malgun Gothic" pitchFamily="34" charset="-120"/>
                        </a:rPr>
                        <a:t>에이전트·안전·도구 연결 표준</a:t>
                      </a:r>
                      <a:endParaRPr lang="en-US" sz="1200" dirty="0">
                        <a:latin typeface="Malgun Gothic" charset="0"/>
                        <a:ea typeface="Malgun Gothic" charset="0"/>
                        <a:cs typeface="Malgun Gothic" charset="0"/>
                      </a:endParaRPr>
                    </a:p>
                  </a:txBody>
                  <a:tcPr marL="63500" marR="63500" marT="63500" marB="63500" anchor="ctr">
                    <a:lnL w="9525" cap="flat" cmpd="sng" algn="ctr">
                      <a:solidFill>
                        <a:srgbClr val="2A3756"/>
                      </a:solidFill>
                      <a:prstDash val="solid"/>
                      <a:round/>
                      <a:headEnd type="none" w="med" len="med"/>
                      <a:tailEnd type="none" w="med" len="med"/>
                    </a:lnL>
                    <a:lnR w="9525" cap="flat" cmpd="sng" algn="ctr">
                      <a:solidFill>
                        <a:srgbClr val="2A3756"/>
                      </a:solidFill>
                      <a:prstDash val="solid"/>
                      <a:round/>
                      <a:headEnd type="none" w="med" len="med"/>
                      <a:tailEnd type="none" w="med" len="med"/>
                    </a:lnR>
                    <a:lnT w="9525" cap="flat" cmpd="sng" algn="ctr">
                      <a:solidFill>
                        <a:srgbClr val="2A3756"/>
                      </a:solidFill>
                      <a:prstDash val="solid"/>
                      <a:round/>
                      <a:headEnd type="none" w="med" len="med"/>
                      <a:tailEnd type="none" w="med" len="med"/>
                    </a:lnT>
                    <a:lnB w="9525" cap="flat" cmpd="sng" algn="ctr">
                      <a:solidFill>
                        <a:srgbClr val="2A3756"/>
                      </a:solidFill>
                      <a:prstDash val="solid"/>
                      <a:round/>
                      <a:headEnd type="none" w="med" len="med"/>
                      <a:tailEnd type="none" w="med" len="med"/>
                    </a:lnB>
                    <a:solidFill>
                      <a:srgbClr val="121A2E"/>
                    </a:solidFill>
                  </a:tcPr>
                </a:tc>
              </a:tr>
              <a:tr h="502920">
                <a:tc>
                  <a:txBody>
                    <a:bodyPr/>
                    <a:lstStyle/>
                    <a:p>
                      <a:pPr indent="0" marL="0">
                        <a:buNone/>
                      </a:pPr>
                      <a:r>
                        <a:rPr lang="en-US" sz="1250" b="1" dirty="0">
                          <a:solidFill>
                            <a:srgbClr val="2DD4BF"/>
                          </a:solidFill>
                          <a:latin typeface="Malgun Gothic" pitchFamily="34" charset="0"/>
                          <a:ea typeface="Malgun Gothic" pitchFamily="34" charset="-122"/>
                          <a:cs typeface="Malgun Gothic" pitchFamily="34" charset="-120"/>
                        </a:rPr>
                        <a:t>Google</a:t>
                      </a:r>
                      <a:endParaRPr lang="en-US" sz="1250" dirty="0">
                        <a:latin typeface="Malgun Gothic" charset="0"/>
                        <a:ea typeface="Malgun Gothic" charset="0"/>
                        <a:cs typeface="Malgun Gothic" charset="0"/>
                      </a:endParaRPr>
                    </a:p>
                  </a:txBody>
                  <a:tcPr marL="63500" marR="63500" marT="63500" marB="63500" anchor="ctr">
                    <a:lnL w="9525" cap="flat" cmpd="sng" algn="ctr">
                      <a:solidFill>
                        <a:srgbClr val="2A3756"/>
                      </a:solidFill>
                      <a:prstDash val="solid"/>
                      <a:round/>
                      <a:headEnd type="none" w="med" len="med"/>
                      <a:tailEnd type="none" w="med" len="med"/>
                    </a:lnL>
                    <a:lnR w="9525" cap="flat" cmpd="sng" algn="ctr">
                      <a:solidFill>
                        <a:srgbClr val="2A3756"/>
                      </a:solidFill>
                      <a:prstDash val="solid"/>
                      <a:round/>
                      <a:headEnd type="none" w="med" len="med"/>
                      <a:tailEnd type="none" w="med" len="med"/>
                    </a:lnR>
                    <a:lnT w="9525" cap="flat" cmpd="sng" algn="ctr">
                      <a:solidFill>
                        <a:srgbClr val="2A3756"/>
                      </a:solidFill>
                      <a:prstDash val="solid"/>
                      <a:round/>
                      <a:headEnd type="none" w="med" len="med"/>
                      <a:tailEnd type="none" w="med" len="med"/>
                    </a:lnT>
                    <a:lnB w="9525" cap="flat" cmpd="sng" algn="ctr">
                      <a:solidFill>
                        <a:srgbClr val="2A3756"/>
                      </a:solidFill>
                      <a:prstDash val="solid"/>
                      <a:round/>
                      <a:headEnd type="none" w="med" len="med"/>
                      <a:tailEnd type="none" w="med" len="med"/>
                    </a:lnB>
                    <a:solidFill>
                      <a:srgbClr val="121A2E"/>
                    </a:solidFill>
                  </a:tcPr>
                </a:tc>
                <a:tc>
                  <a:txBody>
                    <a:bodyPr/>
                    <a:lstStyle/>
                    <a:p>
                      <a:pPr indent="0" marL="0">
                        <a:buNone/>
                      </a:pPr>
                      <a:r>
                        <a:rPr lang="en-US" sz="1200" dirty="0">
                          <a:solidFill>
                            <a:srgbClr val="B7C4DC"/>
                          </a:solidFill>
                          <a:latin typeface="Malgun Gothic" pitchFamily="34" charset="0"/>
                          <a:ea typeface="Malgun Gothic" pitchFamily="34" charset="-122"/>
                          <a:cs typeface="Malgun Gothic" pitchFamily="34" charset="-120"/>
                        </a:rPr>
                        <a:t>Gemini, AI co-scientist, Kairos 원전</a:t>
                      </a:r>
                      <a:endParaRPr lang="en-US" sz="1200" dirty="0">
                        <a:latin typeface="Malgun Gothic" charset="0"/>
                        <a:ea typeface="Malgun Gothic" charset="0"/>
                        <a:cs typeface="Malgun Gothic" charset="0"/>
                      </a:endParaRPr>
                    </a:p>
                  </a:txBody>
                  <a:tcPr marL="63500" marR="63500" marT="63500" marB="63500" anchor="ctr">
                    <a:lnL w="9525" cap="flat" cmpd="sng" algn="ctr">
                      <a:solidFill>
                        <a:srgbClr val="2A3756"/>
                      </a:solidFill>
                      <a:prstDash val="solid"/>
                      <a:round/>
                      <a:headEnd type="none" w="med" len="med"/>
                      <a:tailEnd type="none" w="med" len="med"/>
                    </a:lnL>
                    <a:lnR w="9525" cap="flat" cmpd="sng" algn="ctr">
                      <a:solidFill>
                        <a:srgbClr val="2A3756"/>
                      </a:solidFill>
                      <a:prstDash val="solid"/>
                      <a:round/>
                      <a:headEnd type="none" w="med" len="med"/>
                      <a:tailEnd type="none" w="med" len="med"/>
                    </a:lnR>
                    <a:lnT w="9525" cap="flat" cmpd="sng" algn="ctr">
                      <a:solidFill>
                        <a:srgbClr val="2A3756"/>
                      </a:solidFill>
                      <a:prstDash val="solid"/>
                      <a:round/>
                      <a:headEnd type="none" w="med" len="med"/>
                      <a:tailEnd type="none" w="med" len="med"/>
                    </a:lnT>
                    <a:lnB w="9525" cap="flat" cmpd="sng" algn="ctr">
                      <a:solidFill>
                        <a:srgbClr val="2A3756"/>
                      </a:solidFill>
                      <a:prstDash val="solid"/>
                      <a:round/>
                      <a:headEnd type="none" w="med" len="med"/>
                      <a:tailEnd type="none" w="med" len="med"/>
                    </a:lnB>
                    <a:solidFill>
                      <a:srgbClr val="121A2E"/>
                    </a:solidFill>
                  </a:tcPr>
                </a:tc>
                <a:tc>
                  <a:txBody>
                    <a:bodyPr/>
                    <a:lstStyle/>
                    <a:p>
                      <a:pPr indent="0" marL="0">
                        <a:buNone/>
                      </a:pPr>
                      <a:r>
                        <a:rPr lang="en-US" sz="1200" dirty="0">
                          <a:solidFill>
                            <a:srgbClr val="B7C4DC"/>
                          </a:solidFill>
                          <a:latin typeface="Malgun Gothic" pitchFamily="34" charset="0"/>
                          <a:ea typeface="Malgun Gothic" pitchFamily="34" charset="-122"/>
                          <a:cs typeface="Malgun Gothic" pitchFamily="34" charset="-120"/>
                        </a:rPr>
                        <a:t>모델+진화(연구)+에너지</a:t>
                      </a:r>
                      <a:endParaRPr lang="en-US" sz="1200" dirty="0">
                        <a:latin typeface="Malgun Gothic" charset="0"/>
                        <a:ea typeface="Malgun Gothic" charset="0"/>
                        <a:cs typeface="Malgun Gothic" charset="0"/>
                      </a:endParaRPr>
                    </a:p>
                  </a:txBody>
                  <a:tcPr marL="63500" marR="63500" marT="63500" marB="63500" anchor="ctr">
                    <a:lnL w="9525" cap="flat" cmpd="sng" algn="ctr">
                      <a:solidFill>
                        <a:srgbClr val="2A3756"/>
                      </a:solidFill>
                      <a:prstDash val="solid"/>
                      <a:round/>
                      <a:headEnd type="none" w="med" len="med"/>
                      <a:tailEnd type="none" w="med" len="med"/>
                    </a:lnL>
                    <a:lnR w="9525" cap="flat" cmpd="sng" algn="ctr">
                      <a:solidFill>
                        <a:srgbClr val="2A3756"/>
                      </a:solidFill>
                      <a:prstDash val="solid"/>
                      <a:round/>
                      <a:headEnd type="none" w="med" len="med"/>
                      <a:tailEnd type="none" w="med" len="med"/>
                    </a:lnR>
                    <a:lnT w="9525" cap="flat" cmpd="sng" algn="ctr">
                      <a:solidFill>
                        <a:srgbClr val="2A3756"/>
                      </a:solidFill>
                      <a:prstDash val="solid"/>
                      <a:round/>
                      <a:headEnd type="none" w="med" len="med"/>
                      <a:tailEnd type="none" w="med" len="med"/>
                    </a:lnT>
                    <a:lnB w="9525" cap="flat" cmpd="sng" algn="ctr">
                      <a:solidFill>
                        <a:srgbClr val="2A3756"/>
                      </a:solidFill>
                      <a:prstDash val="solid"/>
                      <a:round/>
                      <a:headEnd type="none" w="med" len="med"/>
                      <a:tailEnd type="none" w="med" len="med"/>
                    </a:lnB>
                    <a:solidFill>
                      <a:srgbClr val="121A2E"/>
                    </a:solidFill>
                  </a:tcPr>
                </a:tc>
              </a:tr>
              <a:tr h="502920">
                <a:tc>
                  <a:txBody>
                    <a:bodyPr/>
                    <a:lstStyle/>
                    <a:p>
                      <a:pPr indent="0" marL="0">
                        <a:buNone/>
                      </a:pPr>
                      <a:r>
                        <a:rPr lang="en-US" sz="1250" b="1" dirty="0">
                          <a:solidFill>
                            <a:srgbClr val="2DD4BF"/>
                          </a:solidFill>
                          <a:latin typeface="Malgun Gothic" pitchFamily="34" charset="0"/>
                          <a:ea typeface="Malgun Gothic" pitchFamily="34" charset="-122"/>
                          <a:cs typeface="Malgun Gothic" pitchFamily="34" charset="-120"/>
                        </a:rPr>
                        <a:t>Microsoft</a:t>
                      </a:r>
                      <a:endParaRPr lang="en-US" sz="1250" dirty="0">
                        <a:latin typeface="Malgun Gothic" charset="0"/>
                        <a:ea typeface="Malgun Gothic" charset="0"/>
                        <a:cs typeface="Malgun Gothic" charset="0"/>
                      </a:endParaRPr>
                    </a:p>
                  </a:txBody>
                  <a:tcPr marL="63500" marR="63500" marT="63500" marB="63500" anchor="ctr">
                    <a:lnL w="9525" cap="flat" cmpd="sng" algn="ctr">
                      <a:solidFill>
                        <a:srgbClr val="2A3756"/>
                      </a:solidFill>
                      <a:prstDash val="solid"/>
                      <a:round/>
                      <a:headEnd type="none" w="med" len="med"/>
                      <a:tailEnd type="none" w="med" len="med"/>
                    </a:lnL>
                    <a:lnR w="9525" cap="flat" cmpd="sng" algn="ctr">
                      <a:solidFill>
                        <a:srgbClr val="2A3756"/>
                      </a:solidFill>
                      <a:prstDash val="solid"/>
                      <a:round/>
                      <a:headEnd type="none" w="med" len="med"/>
                      <a:tailEnd type="none" w="med" len="med"/>
                    </a:lnR>
                    <a:lnT w="9525" cap="flat" cmpd="sng" algn="ctr">
                      <a:solidFill>
                        <a:srgbClr val="2A3756"/>
                      </a:solidFill>
                      <a:prstDash val="solid"/>
                      <a:round/>
                      <a:headEnd type="none" w="med" len="med"/>
                      <a:tailEnd type="none" w="med" len="med"/>
                    </a:lnT>
                    <a:lnB w="9525" cap="flat" cmpd="sng" algn="ctr">
                      <a:solidFill>
                        <a:srgbClr val="2A3756"/>
                      </a:solidFill>
                      <a:prstDash val="solid"/>
                      <a:round/>
                      <a:headEnd type="none" w="med" len="med"/>
                      <a:tailEnd type="none" w="med" len="med"/>
                    </a:lnB>
                    <a:solidFill>
                      <a:srgbClr val="121A2E"/>
                    </a:solidFill>
                  </a:tcPr>
                </a:tc>
                <a:tc>
                  <a:txBody>
                    <a:bodyPr/>
                    <a:lstStyle/>
                    <a:p>
                      <a:pPr indent="0" marL="0">
                        <a:buNone/>
                      </a:pPr>
                      <a:r>
                        <a:rPr lang="en-US" sz="1200" dirty="0">
                          <a:solidFill>
                            <a:srgbClr val="B7C4DC"/>
                          </a:solidFill>
                          <a:latin typeface="Malgun Gothic" pitchFamily="34" charset="0"/>
                          <a:ea typeface="Malgun Gothic" pitchFamily="34" charset="-122"/>
                          <a:cs typeface="Malgun Gothic" pitchFamily="34" charset="-120"/>
                        </a:rPr>
                        <a:t>Copilot, Azure, TMI 원전</a:t>
                      </a:r>
                      <a:endParaRPr lang="en-US" sz="1200" dirty="0">
                        <a:latin typeface="Malgun Gothic" charset="0"/>
                        <a:ea typeface="Malgun Gothic" charset="0"/>
                        <a:cs typeface="Malgun Gothic" charset="0"/>
                      </a:endParaRPr>
                    </a:p>
                  </a:txBody>
                  <a:tcPr marL="63500" marR="63500" marT="63500" marB="63500" anchor="ctr">
                    <a:lnL w="9525" cap="flat" cmpd="sng" algn="ctr">
                      <a:solidFill>
                        <a:srgbClr val="2A3756"/>
                      </a:solidFill>
                      <a:prstDash val="solid"/>
                      <a:round/>
                      <a:headEnd type="none" w="med" len="med"/>
                      <a:tailEnd type="none" w="med" len="med"/>
                    </a:lnL>
                    <a:lnR w="9525" cap="flat" cmpd="sng" algn="ctr">
                      <a:solidFill>
                        <a:srgbClr val="2A3756"/>
                      </a:solidFill>
                      <a:prstDash val="solid"/>
                      <a:round/>
                      <a:headEnd type="none" w="med" len="med"/>
                      <a:tailEnd type="none" w="med" len="med"/>
                    </a:lnR>
                    <a:lnT w="9525" cap="flat" cmpd="sng" algn="ctr">
                      <a:solidFill>
                        <a:srgbClr val="2A3756"/>
                      </a:solidFill>
                      <a:prstDash val="solid"/>
                      <a:round/>
                      <a:headEnd type="none" w="med" len="med"/>
                      <a:tailEnd type="none" w="med" len="med"/>
                    </a:lnT>
                    <a:lnB w="9525" cap="flat" cmpd="sng" algn="ctr">
                      <a:solidFill>
                        <a:srgbClr val="2A3756"/>
                      </a:solidFill>
                      <a:prstDash val="solid"/>
                      <a:round/>
                      <a:headEnd type="none" w="med" len="med"/>
                      <a:tailEnd type="none" w="med" len="med"/>
                    </a:lnB>
                    <a:solidFill>
                      <a:srgbClr val="121A2E"/>
                    </a:solidFill>
                  </a:tcPr>
                </a:tc>
                <a:tc>
                  <a:txBody>
                    <a:bodyPr/>
                    <a:lstStyle/>
                    <a:p>
                      <a:pPr indent="0" marL="0">
                        <a:buNone/>
                      </a:pPr>
                      <a:r>
                        <a:rPr lang="en-US" sz="1200" dirty="0">
                          <a:solidFill>
                            <a:srgbClr val="B7C4DC"/>
                          </a:solidFill>
                          <a:latin typeface="Malgun Gothic" pitchFamily="34" charset="0"/>
                          <a:ea typeface="Malgun Gothic" pitchFamily="34" charset="-122"/>
                          <a:cs typeface="Malgun Gothic" pitchFamily="34" charset="-120"/>
                        </a:rPr>
                        <a:t>AI Workforce + 전력 조달</a:t>
                      </a:r>
                      <a:endParaRPr lang="en-US" sz="1200" dirty="0">
                        <a:latin typeface="Malgun Gothic" charset="0"/>
                        <a:ea typeface="Malgun Gothic" charset="0"/>
                        <a:cs typeface="Malgun Gothic" charset="0"/>
                      </a:endParaRPr>
                    </a:p>
                  </a:txBody>
                  <a:tcPr marL="63500" marR="63500" marT="63500" marB="63500" anchor="ctr">
                    <a:lnL w="9525" cap="flat" cmpd="sng" algn="ctr">
                      <a:solidFill>
                        <a:srgbClr val="2A3756"/>
                      </a:solidFill>
                      <a:prstDash val="solid"/>
                      <a:round/>
                      <a:headEnd type="none" w="med" len="med"/>
                      <a:tailEnd type="none" w="med" len="med"/>
                    </a:lnL>
                    <a:lnR w="9525" cap="flat" cmpd="sng" algn="ctr">
                      <a:solidFill>
                        <a:srgbClr val="2A3756"/>
                      </a:solidFill>
                      <a:prstDash val="solid"/>
                      <a:round/>
                      <a:headEnd type="none" w="med" len="med"/>
                      <a:tailEnd type="none" w="med" len="med"/>
                    </a:lnR>
                    <a:lnT w="9525" cap="flat" cmpd="sng" algn="ctr">
                      <a:solidFill>
                        <a:srgbClr val="2A3756"/>
                      </a:solidFill>
                      <a:prstDash val="solid"/>
                      <a:round/>
                      <a:headEnd type="none" w="med" len="med"/>
                      <a:tailEnd type="none" w="med" len="med"/>
                    </a:lnT>
                    <a:lnB w="9525" cap="flat" cmpd="sng" algn="ctr">
                      <a:solidFill>
                        <a:srgbClr val="2A3756"/>
                      </a:solidFill>
                      <a:prstDash val="solid"/>
                      <a:round/>
                      <a:headEnd type="none" w="med" len="med"/>
                      <a:tailEnd type="none" w="med" len="med"/>
                    </a:lnB>
                    <a:solidFill>
                      <a:srgbClr val="121A2E"/>
                    </a:solidFill>
                  </a:tcPr>
                </a:tc>
              </a:tr>
              <a:tr h="502920">
                <a:tc>
                  <a:txBody>
                    <a:bodyPr/>
                    <a:lstStyle/>
                    <a:p>
                      <a:pPr indent="0" marL="0">
                        <a:buNone/>
                      </a:pPr>
                      <a:r>
                        <a:rPr lang="en-US" sz="1250" b="1" dirty="0">
                          <a:solidFill>
                            <a:srgbClr val="2DD4BF"/>
                          </a:solidFill>
                          <a:latin typeface="Malgun Gothic" pitchFamily="34" charset="0"/>
                          <a:ea typeface="Malgun Gothic" pitchFamily="34" charset="-122"/>
                          <a:cs typeface="Malgun Gothic" pitchFamily="34" charset="-120"/>
                        </a:rPr>
                        <a:t>Meta</a:t>
                      </a:r>
                      <a:endParaRPr lang="en-US" sz="1250" dirty="0">
                        <a:latin typeface="Malgun Gothic" charset="0"/>
                        <a:ea typeface="Malgun Gothic" charset="0"/>
                        <a:cs typeface="Malgun Gothic" charset="0"/>
                      </a:endParaRPr>
                    </a:p>
                  </a:txBody>
                  <a:tcPr marL="63500" marR="63500" marT="63500" marB="63500" anchor="ctr">
                    <a:lnL w="9525" cap="flat" cmpd="sng" algn="ctr">
                      <a:solidFill>
                        <a:srgbClr val="2A3756"/>
                      </a:solidFill>
                      <a:prstDash val="solid"/>
                      <a:round/>
                      <a:headEnd type="none" w="med" len="med"/>
                      <a:tailEnd type="none" w="med" len="med"/>
                    </a:lnL>
                    <a:lnR w="9525" cap="flat" cmpd="sng" algn="ctr">
                      <a:solidFill>
                        <a:srgbClr val="2A3756"/>
                      </a:solidFill>
                      <a:prstDash val="solid"/>
                      <a:round/>
                      <a:headEnd type="none" w="med" len="med"/>
                      <a:tailEnd type="none" w="med" len="med"/>
                    </a:lnR>
                    <a:lnT w="9525" cap="flat" cmpd="sng" algn="ctr">
                      <a:solidFill>
                        <a:srgbClr val="2A3756"/>
                      </a:solidFill>
                      <a:prstDash val="solid"/>
                      <a:round/>
                      <a:headEnd type="none" w="med" len="med"/>
                      <a:tailEnd type="none" w="med" len="med"/>
                    </a:lnT>
                    <a:lnB w="9525" cap="flat" cmpd="sng" algn="ctr">
                      <a:solidFill>
                        <a:srgbClr val="2A3756"/>
                      </a:solidFill>
                      <a:prstDash val="solid"/>
                      <a:round/>
                      <a:headEnd type="none" w="med" len="med"/>
                      <a:tailEnd type="none" w="med" len="med"/>
                    </a:lnB>
                    <a:solidFill>
                      <a:srgbClr val="121A2E"/>
                    </a:solidFill>
                  </a:tcPr>
                </a:tc>
                <a:tc>
                  <a:txBody>
                    <a:bodyPr/>
                    <a:lstStyle/>
                    <a:p>
                      <a:pPr indent="0" marL="0">
                        <a:buNone/>
                      </a:pPr>
                      <a:r>
                        <a:rPr lang="en-US" sz="1200" dirty="0">
                          <a:solidFill>
                            <a:srgbClr val="B7C4DC"/>
                          </a:solidFill>
                          <a:latin typeface="Malgun Gothic" pitchFamily="34" charset="0"/>
                          <a:ea typeface="Malgun Gothic" pitchFamily="34" charset="-122"/>
                          <a:cs typeface="Malgun Gothic" pitchFamily="34" charset="-120"/>
                        </a:rPr>
                        <a:t>Llama, Oklo 원전, 멀티모달</a:t>
                      </a:r>
                      <a:endParaRPr lang="en-US" sz="1200" dirty="0">
                        <a:latin typeface="Malgun Gothic" charset="0"/>
                        <a:ea typeface="Malgun Gothic" charset="0"/>
                        <a:cs typeface="Malgun Gothic" charset="0"/>
                      </a:endParaRPr>
                    </a:p>
                  </a:txBody>
                  <a:tcPr marL="63500" marR="63500" marT="63500" marB="63500" anchor="ctr">
                    <a:lnL w="9525" cap="flat" cmpd="sng" algn="ctr">
                      <a:solidFill>
                        <a:srgbClr val="2A3756"/>
                      </a:solidFill>
                      <a:prstDash val="solid"/>
                      <a:round/>
                      <a:headEnd type="none" w="med" len="med"/>
                      <a:tailEnd type="none" w="med" len="med"/>
                    </a:lnL>
                    <a:lnR w="9525" cap="flat" cmpd="sng" algn="ctr">
                      <a:solidFill>
                        <a:srgbClr val="2A3756"/>
                      </a:solidFill>
                      <a:prstDash val="solid"/>
                      <a:round/>
                      <a:headEnd type="none" w="med" len="med"/>
                      <a:tailEnd type="none" w="med" len="med"/>
                    </a:lnR>
                    <a:lnT w="9525" cap="flat" cmpd="sng" algn="ctr">
                      <a:solidFill>
                        <a:srgbClr val="2A3756"/>
                      </a:solidFill>
                      <a:prstDash val="solid"/>
                      <a:round/>
                      <a:headEnd type="none" w="med" len="med"/>
                      <a:tailEnd type="none" w="med" len="med"/>
                    </a:lnT>
                    <a:lnB w="9525" cap="flat" cmpd="sng" algn="ctr">
                      <a:solidFill>
                        <a:srgbClr val="2A3756"/>
                      </a:solidFill>
                      <a:prstDash val="solid"/>
                      <a:round/>
                      <a:headEnd type="none" w="med" len="med"/>
                      <a:tailEnd type="none" w="med" len="med"/>
                    </a:lnB>
                    <a:solidFill>
                      <a:srgbClr val="121A2E"/>
                    </a:solidFill>
                  </a:tcPr>
                </a:tc>
                <a:tc>
                  <a:txBody>
                    <a:bodyPr/>
                    <a:lstStyle/>
                    <a:p>
                      <a:pPr indent="0" marL="0">
                        <a:buNone/>
                      </a:pPr>
                      <a:r>
                        <a:rPr lang="en-US" sz="1200" dirty="0">
                          <a:solidFill>
                            <a:srgbClr val="B7C4DC"/>
                          </a:solidFill>
                          <a:latin typeface="Malgun Gothic" pitchFamily="34" charset="0"/>
                          <a:ea typeface="Malgun Gothic" pitchFamily="34" charset="-122"/>
                          <a:cs typeface="Malgun Gothic" pitchFamily="34" charset="-120"/>
                        </a:rPr>
                        <a:t>오픈모델 + 전력</a:t>
                      </a:r>
                      <a:endParaRPr lang="en-US" sz="1200" dirty="0">
                        <a:latin typeface="Malgun Gothic" charset="0"/>
                        <a:ea typeface="Malgun Gothic" charset="0"/>
                        <a:cs typeface="Malgun Gothic" charset="0"/>
                      </a:endParaRPr>
                    </a:p>
                  </a:txBody>
                  <a:tcPr marL="63500" marR="63500" marT="63500" marB="63500" anchor="ctr">
                    <a:lnL w="9525" cap="flat" cmpd="sng" algn="ctr">
                      <a:solidFill>
                        <a:srgbClr val="2A3756"/>
                      </a:solidFill>
                      <a:prstDash val="solid"/>
                      <a:round/>
                      <a:headEnd type="none" w="med" len="med"/>
                      <a:tailEnd type="none" w="med" len="med"/>
                    </a:lnL>
                    <a:lnR w="9525" cap="flat" cmpd="sng" algn="ctr">
                      <a:solidFill>
                        <a:srgbClr val="2A3756"/>
                      </a:solidFill>
                      <a:prstDash val="solid"/>
                      <a:round/>
                      <a:headEnd type="none" w="med" len="med"/>
                      <a:tailEnd type="none" w="med" len="med"/>
                    </a:lnR>
                    <a:lnT w="9525" cap="flat" cmpd="sng" algn="ctr">
                      <a:solidFill>
                        <a:srgbClr val="2A3756"/>
                      </a:solidFill>
                      <a:prstDash val="solid"/>
                      <a:round/>
                      <a:headEnd type="none" w="med" len="med"/>
                      <a:tailEnd type="none" w="med" len="med"/>
                    </a:lnT>
                    <a:lnB w="9525" cap="flat" cmpd="sng" algn="ctr">
                      <a:solidFill>
                        <a:srgbClr val="2A3756"/>
                      </a:solidFill>
                      <a:prstDash val="solid"/>
                      <a:round/>
                      <a:headEnd type="none" w="med" len="med"/>
                      <a:tailEnd type="none" w="med" len="med"/>
                    </a:lnB>
                    <a:solidFill>
                      <a:srgbClr val="121A2E"/>
                    </a:solidFill>
                  </a:tcPr>
                </a:tc>
              </a:tr>
              <a:tr h="502920">
                <a:tc>
                  <a:txBody>
                    <a:bodyPr/>
                    <a:lstStyle/>
                    <a:p>
                      <a:pPr indent="0" marL="0">
                        <a:buNone/>
                      </a:pPr>
                      <a:r>
                        <a:rPr lang="en-US" sz="1250" b="1" dirty="0">
                          <a:solidFill>
                            <a:srgbClr val="2DD4BF"/>
                          </a:solidFill>
                          <a:latin typeface="Malgun Gothic" pitchFamily="34" charset="0"/>
                          <a:ea typeface="Malgun Gothic" pitchFamily="34" charset="-122"/>
                          <a:cs typeface="Malgun Gothic" pitchFamily="34" charset="-120"/>
                        </a:rPr>
                        <a:t>Tesla</a:t>
                      </a:r>
                      <a:endParaRPr lang="en-US" sz="1250" dirty="0">
                        <a:latin typeface="Malgun Gothic" charset="0"/>
                        <a:ea typeface="Malgun Gothic" charset="0"/>
                        <a:cs typeface="Malgun Gothic" charset="0"/>
                      </a:endParaRPr>
                    </a:p>
                  </a:txBody>
                  <a:tcPr marL="63500" marR="63500" marT="63500" marB="63500" anchor="ctr">
                    <a:lnL w="9525" cap="flat" cmpd="sng" algn="ctr">
                      <a:solidFill>
                        <a:srgbClr val="2A3756"/>
                      </a:solidFill>
                      <a:prstDash val="solid"/>
                      <a:round/>
                      <a:headEnd type="none" w="med" len="med"/>
                      <a:tailEnd type="none" w="med" len="med"/>
                    </a:lnL>
                    <a:lnR w="9525" cap="flat" cmpd="sng" algn="ctr">
                      <a:solidFill>
                        <a:srgbClr val="2A3756"/>
                      </a:solidFill>
                      <a:prstDash val="solid"/>
                      <a:round/>
                      <a:headEnd type="none" w="med" len="med"/>
                      <a:tailEnd type="none" w="med" len="med"/>
                    </a:lnR>
                    <a:lnT w="9525" cap="flat" cmpd="sng" algn="ctr">
                      <a:solidFill>
                        <a:srgbClr val="2A3756"/>
                      </a:solidFill>
                      <a:prstDash val="solid"/>
                      <a:round/>
                      <a:headEnd type="none" w="med" len="med"/>
                      <a:tailEnd type="none" w="med" len="med"/>
                    </a:lnT>
                    <a:lnB w="9525" cap="flat" cmpd="sng" algn="ctr">
                      <a:solidFill>
                        <a:srgbClr val="2A3756"/>
                      </a:solidFill>
                      <a:prstDash val="solid"/>
                      <a:round/>
                      <a:headEnd type="none" w="med" len="med"/>
                      <a:tailEnd type="none" w="med" len="med"/>
                    </a:lnB>
                    <a:solidFill>
                      <a:srgbClr val="121A2E"/>
                    </a:solidFill>
                  </a:tcPr>
                </a:tc>
                <a:tc>
                  <a:txBody>
                    <a:bodyPr/>
                    <a:lstStyle/>
                    <a:p>
                      <a:pPr indent="0" marL="0">
                        <a:buNone/>
                      </a:pPr>
                      <a:r>
                        <a:rPr lang="en-US" sz="1200" dirty="0">
                          <a:solidFill>
                            <a:srgbClr val="B7C4DC"/>
                          </a:solidFill>
                          <a:latin typeface="Malgun Gothic" pitchFamily="34" charset="0"/>
                          <a:ea typeface="Malgun Gothic" pitchFamily="34" charset="-122"/>
                          <a:cs typeface="Malgun Gothic" pitchFamily="34" charset="-120"/>
                        </a:rPr>
                        <a:t>Optimus, FSD, Sim</a:t>
                      </a:r>
                      <a:endParaRPr lang="en-US" sz="1200" dirty="0">
                        <a:latin typeface="Malgun Gothic" charset="0"/>
                        <a:ea typeface="Malgun Gothic" charset="0"/>
                        <a:cs typeface="Malgun Gothic" charset="0"/>
                      </a:endParaRPr>
                    </a:p>
                  </a:txBody>
                  <a:tcPr marL="63500" marR="63500" marT="63500" marB="63500" anchor="ctr">
                    <a:lnL w="9525" cap="flat" cmpd="sng" algn="ctr">
                      <a:solidFill>
                        <a:srgbClr val="2A3756"/>
                      </a:solidFill>
                      <a:prstDash val="solid"/>
                      <a:round/>
                      <a:headEnd type="none" w="med" len="med"/>
                      <a:tailEnd type="none" w="med" len="med"/>
                    </a:lnL>
                    <a:lnR w="9525" cap="flat" cmpd="sng" algn="ctr">
                      <a:solidFill>
                        <a:srgbClr val="2A3756"/>
                      </a:solidFill>
                      <a:prstDash val="solid"/>
                      <a:round/>
                      <a:headEnd type="none" w="med" len="med"/>
                      <a:tailEnd type="none" w="med" len="med"/>
                    </a:lnR>
                    <a:lnT w="9525" cap="flat" cmpd="sng" algn="ctr">
                      <a:solidFill>
                        <a:srgbClr val="2A3756"/>
                      </a:solidFill>
                      <a:prstDash val="solid"/>
                      <a:round/>
                      <a:headEnd type="none" w="med" len="med"/>
                      <a:tailEnd type="none" w="med" len="med"/>
                    </a:lnT>
                    <a:lnB w="9525" cap="flat" cmpd="sng" algn="ctr">
                      <a:solidFill>
                        <a:srgbClr val="2A3756"/>
                      </a:solidFill>
                      <a:prstDash val="solid"/>
                      <a:round/>
                      <a:headEnd type="none" w="med" len="med"/>
                      <a:tailEnd type="none" w="med" len="med"/>
                    </a:lnB>
                    <a:solidFill>
                      <a:srgbClr val="121A2E"/>
                    </a:solidFill>
                  </a:tcPr>
                </a:tc>
                <a:tc>
                  <a:txBody>
                    <a:bodyPr/>
                    <a:lstStyle/>
                    <a:p>
                      <a:pPr indent="0" marL="0">
                        <a:buNone/>
                      </a:pPr>
                      <a:r>
                        <a:rPr lang="en-US" sz="1200" dirty="0">
                          <a:solidFill>
                            <a:srgbClr val="B7C4DC"/>
                          </a:solidFill>
                          <a:latin typeface="Malgun Gothic" pitchFamily="34" charset="0"/>
                          <a:ea typeface="Malgun Gothic" pitchFamily="34" charset="-122"/>
                          <a:cs typeface="Malgun Gothic" pitchFamily="34" charset="-120"/>
                        </a:rPr>
                        <a:t>체화(로봇)+지각+시뮬레이션</a:t>
                      </a:r>
                      <a:endParaRPr lang="en-US" sz="1200" dirty="0">
                        <a:latin typeface="Malgun Gothic" charset="0"/>
                        <a:ea typeface="Malgun Gothic" charset="0"/>
                        <a:cs typeface="Malgun Gothic" charset="0"/>
                      </a:endParaRPr>
                    </a:p>
                  </a:txBody>
                  <a:tcPr marL="63500" marR="63500" marT="63500" marB="63500" anchor="ctr">
                    <a:lnL w="9525" cap="flat" cmpd="sng" algn="ctr">
                      <a:solidFill>
                        <a:srgbClr val="2A3756"/>
                      </a:solidFill>
                      <a:prstDash val="solid"/>
                      <a:round/>
                      <a:headEnd type="none" w="med" len="med"/>
                      <a:tailEnd type="none" w="med" len="med"/>
                    </a:lnL>
                    <a:lnR w="9525" cap="flat" cmpd="sng" algn="ctr">
                      <a:solidFill>
                        <a:srgbClr val="2A3756"/>
                      </a:solidFill>
                      <a:prstDash val="solid"/>
                      <a:round/>
                      <a:headEnd type="none" w="med" len="med"/>
                      <a:tailEnd type="none" w="med" len="med"/>
                    </a:lnR>
                    <a:lnT w="9525" cap="flat" cmpd="sng" algn="ctr">
                      <a:solidFill>
                        <a:srgbClr val="2A3756"/>
                      </a:solidFill>
                      <a:prstDash val="solid"/>
                      <a:round/>
                      <a:headEnd type="none" w="med" len="med"/>
                      <a:tailEnd type="none" w="med" len="med"/>
                    </a:lnT>
                    <a:lnB w="9525" cap="flat" cmpd="sng" algn="ctr">
                      <a:solidFill>
                        <a:srgbClr val="2A3756"/>
                      </a:solidFill>
                      <a:prstDash val="solid"/>
                      <a:round/>
                      <a:headEnd type="none" w="med" len="med"/>
                      <a:tailEnd type="none" w="med" len="med"/>
                    </a:lnB>
                    <a:solidFill>
                      <a:srgbClr val="121A2E"/>
                    </a:solidFill>
                  </a:tcPr>
                </a:tc>
              </a:tr>
              <a:tr h="502920">
                <a:tc>
                  <a:txBody>
                    <a:bodyPr/>
                    <a:lstStyle/>
                    <a:p>
                      <a:pPr indent="0" marL="0">
                        <a:buNone/>
                      </a:pPr>
                      <a:r>
                        <a:rPr lang="en-US" sz="1250" b="1" dirty="0">
                          <a:solidFill>
                            <a:srgbClr val="2DD4BF"/>
                          </a:solidFill>
                          <a:latin typeface="Malgun Gothic" pitchFamily="34" charset="0"/>
                          <a:ea typeface="Malgun Gothic" pitchFamily="34" charset="-122"/>
                          <a:cs typeface="Malgun Gothic" pitchFamily="34" charset="-120"/>
                        </a:rPr>
                        <a:t>Amazon</a:t>
                      </a:r>
                      <a:endParaRPr lang="en-US" sz="1250" dirty="0">
                        <a:latin typeface="Malgun Gothic" charset="0"/>
                        <a:ea typeface="Malgun Gothic" charset="0"/>
                        <a:cs typeface="Malgun Gothic" charset="0"/>
                      </a:endParaRPr>
                    </a:p>
                  </a:txBody>
                  <a:tcPr marL="63500" marR="63500" marT="63500" marB="63500" anchor="ctr">
                    <a:lnL w="9525" cap="flat" cmpd="sng" algn="ctr">
                      <a:solidFill>
                        <a:srgbClr val="2A3756"/>
                      </a:solidFill>
                      <a:prstDash val="solid"/>
                      <a:round/>
                      <a:headEnd type="none" w="med" len="med"/>
                      <a:tailEnd type="none" w="med" len="med"/>
                    </a:lnL>
                    <a:lnR w="9525" cap="flat" cmpd="sng" algn="ctr">
                      <a:solidFill>
                        <a:srgbClr val="2A3756"/>
                      </a:solidFill>
                      <a:prstDash val="solid"/>
                      <a:round/>
                      <a:headEnd type="none" w="med" len="med"/>
                      <a:tailEnd type="none" w="med" len="med"/>
                    </a:lnR>
                    <a:lnT w="9525" cap="flat" cmpd="sng" algn="ctr">
                      <a:solidFill>
                        <a:srgbClr val="2A3756"/>
                      </a:solidFill>
                      <a:prstDash val="solid"/>
                      <a:round/>
                      <a:headEnd type="none" w="med" len="med"/>
                      <a:tailEnd type="none" w="med" len="med"/>
                    </a:lnT>
                    <a:lnB w="9525" cap="flat" cmpd="sng" algn="ctr">
                      <a:solidFill>
                        <a:srgbClr val="2A3756"/>
                      </a:solidFill>
                      <a:prstDash val="solid"/>
                      <a:round/>
                      <a:headEnd type="none" w="med" len="med"/>
                      <a:tailEnd type="none" w="med" len="med"/>
                    </a:lnB>
                    <a:solidFill>
                      <a:srgbClr val="121A2E"/>
                    </a:solidFill>
                  </a:tcPr>
                </a:tc>
                <a:tc>
                  <a:txBody>
                    <a:bodyPr/>
                    <a:lstStyle/>
                    <a:p>
                      <a:pPr indent="0" marL="0">
                        <a:buNone/>
                      </a:pPr>
                      <a:r>
                        <a:rPr lang="en-US" sz="1200" dirty="0">
                          <a:solidFill>
                            <a:srgbClr val="B7C4DC"/>
                          </a:solidFill>
                          <a:latin typeface="Malgun Gothic" pitchFamily="34" charset="0"/>
                          <a:ea typeface="Malgun Gothic" pitchFamily="34" charset="-122"/>
                          <a:cs typeface="Malgun Gothic" pitchFamily="34" charset="-120"/>
                        </a:rPr>
                        <a:t>Bedrock, 전력 투자, 로지스틱스 로봇</a:t>
                      </a:r>
                      <a:endParaRPr lang="en-US" sz="1200" dirty="0">
                        <a:latin typeface="Malgun Gothic" charset="0"/>
                        <a:ea typeface="Malgun Gothic" charset="0"/>
                        <a:cs typeface="Malgun Gothic" charset="0"/>
                      </a:endParaRPr>
                    </a:p>
                  </a:txBody>
                  <a:tcPr marL="63500" marR="63500" marT="63500" marB="63500" anchor="ctr">
                    <a:lnL w="9525" cap="flat" cmpd="sng" algn="ctr">
                      <a:solidFill>
                        <a:srgbClr val="2A3756"/>
                      </a:solidFill>
                      <a:prstDash val="solid"/>
                      <a:round/>
                      <a:headEnd type="none" w="med" len="med"/>
                      <a:tailEnd type="none" w="med" len="med"/>
                    </a:lnL>
                    <a:lnR w="9525" cap="flat" cmpd="sng" algn="ctr">
                      <a:solidFill>
                        <a:srgbClr val="2A3756"/>
                      </a:solidFill>
                      <a:prstDash val="solid"/>
                      <a:round/>
                      <a:headEnd type="none" w="med" len="med"/>
                      <a:tailEnd type="none" w="med" len="med"/>
                    </a:lnR>
                    <a:lnT w="9525" cap="flat" cmpd="sng" algn="ctr">
                      <a:solidFill>
                        <a:srgbClr val="2A3756"/>
                      </a:solidFill>
                      <a:prstDash val="solid"/>
                      <a:round/>
                      <a:headEnd type="none" w="med" len="med"/>
                      <a:tailEnd type="none" w="med" len="med"/>
                    </a:lnT>
                    <a:lnB w="9525" cap="flat" cmpd="sng" algn="ctr">
                      <a:solidFill>
                        <a:srgbClr val="2A3756"/>
                      </a:solidFill>
                      <a:prstDash val="solid"/>
                      <a:round/>
                      <a:headEnd type="none" w="med" len="med"/>
                      <a:tailEnd type="none" w="med" len="med"/>
                    </a:lnB>
                    <a:solidFill>
                      <a:srgbClr val="121A2E"/>
                    </a:solidFill>
                  </a:tcPr>
                </a:tc>
                <a:tc>
                  <a:txBody>
                    <a:bodyPr/>
                    <a:lstStyle/>
                    <a:p>
                      <a:pPr indent="0" marL="0">
                        <a:buNone/>
                      </a:pPr>
                      <a:r>
                        <a:rPr lang="en-US" sz="1200" dirty="0">
                          <a:solidFill>
                            <a:srgbClr val="B7C4DC"/>
                          </a:solidFill>
                          <a:latin typeface="Malgun Gothic" pitchFamily="34" charset="0"/>
                          <a:ea typeface="Malgun Gothic" pitchFamily="34" charset="-122"/>
                          <a:cs typeface="Malgun Gothic" pitchFamily="34" charset="-120"/>
                        </a:rPr>
                        <a:t>클라우드+에너지+체화</a:t>
                      </a:r>
                      <a:endParaRPr lang="en-US" sz="1200" dirty="0">
                        <a:latin typeface="Malgun Gothic" charset="0"/>
                        <a:ea typeface="Malgun Gothic" charset="0"/>
                        <a:cs typeface="Malgun Gothic" charset="0"/>
                      </a:endParaRPr>
                    </a:p>
                  </a:txBody>
                  <a:tcPr marL="63500" marR="63500" marT="63500" marB="63500" anchor="ctr">
                    <a:lnL w="9525" cap="flat" cmpd="sng" algn="ctr">
                      <a:solidFill>
                        <a:srgbClr val="2A3756"/>
                      </a:solidFill>
                      <a:prstDash val="solid"/>
                      <a:round/>
                      <a:headEnd type="none" w="med" len="med"/>
                      <a:tailEnd type="none" w="med" len="med"/>
                    </a:lnL>
                    <a:lnR w="9525" cap="flat" cmpd="sng" algn="ctr">
                      <a:solidFill>
                        <a:srgbClr val="2A3756"/>
                      </a:solidFill>
                      <a:prstDash val="solid"/>
                      <a:round/>
                      <a:headEnd type="none" w="med" len="med"/>
                      <a:tailEnd type="none" w="med" len="med"/>
                    </a:lnR>
                    <a:lnT w="9525" cap="flat" cmpd="sng" algn="ctr">
                      <a:solidFill>
                        <a:srgbClr val="2A3756"/>
                      </a:solidFill>
                      <a:prstDash val="solid"/>
                      <a:round/>
                      <a:headEnd type="none" w="med" len="med"/>
                      <a:tailEnd type="none" w="med" len="med"/>
                    </a:lnT>
                    <a:lnB w="9525" cap="flat" cmpd="sng" algn="ctr">
                      <a:solidFill>
                        <a:srgbClr val="2A3756"/>
                      </a:solidFill>
                      <a:prstDash val="solid"/>
                      <a:round/>
                      <a:headEnd type="none" w="med" len="med"/>
                      <a:tailEnd type="none" w="med" len="med"/>
                    </a:lnB>
                    <a:solidFill>
                      <a:srgbClr val="121A2E"/>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0F1A"/>
        </a:solidFill>
      </p:bgPr>
    </p:bg>
    <p:spTree>
      <p:nvGrpSpPr>
        <p:cNvPr id="1" name=""/>
        <p:cNvGrpSpPr/>
        <p:nvPr/>
      </p:nvGrpSpPr>
      <p:grpSpPr>
        <a:xfrm>
          <a:off x="0" y="0"/>
          <a:ext cx="0" cy="0"/>
          <a:chOff x="0" y="0"/>
          <a:chExt cx="0" cy="0"/>
        </a:xfrm>
      </p:grpSpPr>
      <p:pic>
        <p:nvPicPr>
          <p:cNvPr id="2" name="Image 0" descr="assets/hero.png">    </p:cNvPr>
          <p:cNvPicPr>
            <a:picLocks noChangeAspect="1"/>
          </p:cNvPicPr>
          <p:nvPr/>
        </p:nvPicPr>
        <p:blipFill>
          <a:blip r:embed="rId1">
            <a:alphaModFix amt="65000"/>
          </a:blip>
          <a:stretch>
            <a:fillRect/>
          </a:stretch>
        </p:blipFill>
        <p:spPr>
          <a:xfrm>
            <a:off x="7752699" y="502920"/>
            <a:ext cx="4256116" cy="5852160"/>
          </a:xfrm>
          <a:prstGeom prst="rect">
            <a:avLst/>
          </a:prstGeom>
        </p:spPr>
      </p:pic>
      <p:sp>
        <p:nvSpPr>
          <p:cNvPr id="3" name="Text 0"/>
          <p:cNvSpPr/>
          <p:nvPr/>
        </p:nvSpPr>
        <p:spPr>
          <a:xfrm>
            <a:off x="731520" y="2011680"/>
            <a:ext cx="6949440" cy="1828800"/>
          </a:xfrm>
          <a:prstGeom prst="rect">
            <a:avLst/>
          </a:prstGeom>
          <a:noFill/>
          <a:ln/>
        </p:spPr>
        <p:txBody>
          <a:bodyPr wrap="square" lIns="0" tIns="0" rIns="0" bIns="0" rtlCol="0" anchor="ctr"/>
          <a:lstStyle/>
          <a:p>
            <a:pPr indent="0" marL="0">
              <a:lnSpc>
                <a:spcPct val="110000"/>
              </a:lnSpc>
              <a:buNone/>
            </a:pPr>
            <a:r>
              <a:rPr lang="en-US" sz="4000" b="1" dirty="0">
                <a:solidFill>
                  <a:srgbClr val="EAF0FF"/>
                </a:solidFill>
                <a:latin typeface="Malgun Gothic" pitchFamily="34" charset="0"/>
                <a:ea typeface="Malgun Gothic" pitchFamily="34" charset="-122"/>
                <a:cs typeface="Malgun Gothic" pitchFamily="34" charset="-120"/>
              </a:rPr>
              <a:t>AI는 지금,</a:t>
            </a:r>
            <a:endParaRPr lang="en-US" sz="4000" dirty="0"/>
          </a:p>
          <a:p>
            <a:pPr indent="0" marL="0">
              <a:lnSpc>
                <a:spcPct val="110000"/>
              </a:lnSpc>
              <a:buNone/>
            </a:pPr>
            <a:r>
              <a:rPr lang="en-US" sz="4000" b="1" dirty="0">
                <a:solidFill>
                  <a:srgbClr val="EAF0FF"/>
                </a:solidFill>
                <a:latin typeface="Malgun Gothic" pitchFamily="34" charset="0"/>
                <a:ea typeface="Malgun Gothic" pitchFamily="34" charset="-122"/>
                <a:cs typeface="Malgun Gothic" pitchFamily="34" charset="-120"/>
              </a:rPr>
              <a:t>몸을 얻는 중입니다.</a:t>
            </a:r>
            <a:endParaRPr lang="en-US" sz="4000" dirty="0"/>
          </a:p>
        </p:txBody>
      </p:sp>
      <p:sp>
        <p:nvSpPr>
          <p:cNvPr id="4" name="Text 1"/>
          <p:cNvSpPr/>
          <p:nvPr/>
        </p:nvSpPr>
        <p:spPr>
          <a:xfrm>
            <a:off x="749808" y="3977640"/>
            <a:ext cx="6583680" cy="731520"/>
          </a:xfrm>
          <a:prstGeom prst="rect">
            <a:avLst/>
          </a:prstGeom>
          <a:noFill/>
          <a:ln/>
        </p:spPr>
        <p:txBody>
          <a:bodyPr wrap="square" lIns="0" tIns="0" rIns="0" bIns="0" rtlCol="0" anchor="ctr"/>
          <a:lstStyle/>
          <a:p>
            <a:pPr indent="0" marL="0">
              <a:lnSpc>
                <a:spcPct val="120000"/>
              </a:lnSpc>
              <a:buNone/>
            </a:pPr>
            <a:r>
              <a:rPr lang="en-US" sz="1500" dirty="0">
                <a:solidFill>
                  <a:srgbClr val="B7C4DC"/>
                </a:solidFill>
                <a:latin typeface="Malgun Gothic" pitchFamily="34" charset="0"/>
                <a:ea typeface="Malgun Gothic" pitchFamily="34" charset="-122"/>
                <a:cs typeface="Malgun Gothic" pitchFamily="34" charset="-120"/>
              </a:rPr>
              <a:t>13개 기관 · 하나의 몸 — 가족별 위치를 알면, 다음에 무엇이 올지 보입니다.</a:t>
            </a:r>
            <a:endParaRPr lang="en-US" sz="1500" dirty="0"/>
          </a:p>
        </p:txBody>
      </p:sp>
      <p:sp>
        <p:nvSpPr>
          <p:cNvPr id="5" name="Text 2"/>
          <p:cNvSpPr/>
          <p:nvPr/>
        </p:nvSpPr>
        <p:spPr>
          <a:xfrm>
            <a:off x="749808" y="6126480"/>
            <a:ext cx="8229600" cy="365760"/>
          </a:xfrm>
          <a:prstGeom prst="rect">
            <a:avLst/>
          </a:prstGeom>
          <a:noFill/>
          <a:ln/>
        </p:spPr>
        <p:txBody>
          <a:bodyPr wrap="square" lIns="0" tIns="0" rIns="0" bIns="0" rtlCol="0" anchor="ctr"/>
          <a:lstStyle/>
          <a:p>
            <a:pPr indent="0" marL="0">
              <a:buNone/>
            </a:pPr>
            <a:r>
              <a:rPr lang="en-US" sz="1100" spc="200" kern="0" dirty="0">
                <a:solidFill>
                  <a:srgbClr val="8493AE"/>
                </a:solidFill>
                <a:latin typeface="Consolas" pitchFamily="34" charset="0"/>
                <a:ea typeface="Consolas" pitchFamily="34" charset="-122"/>
                <a:cs typeface="Consolas" pitchFamily="34" charset="-120"/>
              </a:rPr>
              <a:t>AI EVOLUTION BIBLE 2035 · 13 FAMILIES · ONE BODY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Evolution Bible 2035</dc:title>
  <dc:subject>PptxGenJS Presentation</dc:subject>
  <dc:creator>ITCEN CORE</dc:creator>
  <cp:lastModifiedBy>ITCEN CORE</cp:lastModifiedBy>
  <cp:revision>1</cp:revision>
  <dcterms:created xsi:type="dcterms:W3CDTF">2026-06-30T06:56:01Z</dcterms:created>
  <dcterms:modified xsi:type="dcterms:W3CDTF">2026-06-30T06:56:01Z</dcterms:modified>
</cp:coreProperties>
</file>