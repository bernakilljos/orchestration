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0" b="1">
                <a:solidFill>
                  <a:srgbClr val="2B2B2B"/>
                </a:solidFill>
              </a:defRPr>
            </a:pPr>
            <a:r>
              <a:t>ORCHESTRATION.KIT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A4A4A"/>
                </a:solidFill>
              </a:defRPr>
            </a:pPr>
            <a:r>
              <a:t>Multi-AI Orchestration Platform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200">
                <a:solidFill>
                  <a:srgbClr val="4A4A4A"/>
                </a:solidFill>
              </a:defRPr>
            </a:pPr>
            <a:r>
              <a:t>Claude Opus 4.7 × Codex × Haiku 4.5 × Gemini Flash</a:t>
            </a:r>
          </a:p>
          <a:p>
            <a:pPr algn="ctr">
              <a:spcBef>
                <a:spcPts val="200"/>
              </a:spcBef>
              <a:defRPr sz="1200">
                <a:solidFill>
                  <a:srgbClr val="4A4A4A"/>
                </a:solidFill>
              </a:defRPr>
            </a:pPr>
          </a:p>
          <a:p>
            <a:pPr algn="ctr">
              <a:spcBef>
                <a:spcPts val="200"/>
              </a:spcBef>
              <a:defRPr sz="1200">
                <a:solidFill>
                  <a:srgbClr val="4A4A4A"/>
                </a:solidFill>
              </a:defRPr>
            </a:pPr>
            <a:r>
              <a:t>Built on 14 Stable Plugins | Phase 1 + 2 Complete</a:t>
            </a:r>
          </a:p>
          <a:p>
            <a:pPr algn="ctr">
              <a:spcBef>
                <a:spcPts val="200"/>
              </a:spcBef>
              <a:defRPr sz="1200">
                <a:solidFill>
                  <a:srgbClr val="4A4A4A"/>
                </a:solidFill>
              </a:defRPr>
            </a:pPr>
            <a:r>
              <a:t>Generated 2026-04-23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E5FF"/>
                </a:solidFill>
                <a:latin typeface="Consolas"/>
              </a:defRPr>
            </a:pPr>
            <a:r>
              <a:t>THE 14-DAY JOURNEY</a:t>
            </a:r>
          </a:p>
        </p:txBody>
      </p:sp>
      <p:sp>
        <p:nvSpPr>
          <p:cNvPr id="3" name="Oval 2"/>
          <p:cNvSpPr/>
          <p:nvPr/>
        </p:nvSpPr>
        <p:spPr>
          <a:xfrm>
            <a:off x="594360" y="1508760"/>
            <a:ext cx="274320" cy="2743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00E5FF"/>
                </a:solidFill>
              </a:defRPr>
            </a:pPr>
            <a:r>
              <a:t>04-10</a:t>
            </a:r>
          </a:p>
          <a:p>
            <a:pPr algn="ctr">
              <a:defRPr sz="800">
                <a:solidFill>
                  <a:srgbClr val="00E5FF"/>
                </a:solidFill>
              </a:defRPr>
            </a:pPr>
            <a:r>
              <a:t>KIT.INIT</a:t>
            </a:r>
          </a:p>
        </p:txBody>
      </p:sp>
      <p:sp>
        <p:nvSpPr>
          <p:cNvPr id="5" name="Oval 4"/>
          <p:cNvSpPr/>
          <p:nvPr/>
        </p:nvSpPr>
        <p:spPr>
          <a:xfrm>
            <a:off x="2240280" y="1508760"/>
            <a:ext cx="274320" cy="274320"/>
          </a:xfrm>
          <a:prstGeom prst="ellipse">
            <a:avLst/>
          </a:prstGeom>
          <a:solidFill>
            <a:srgbClr val="39FF6C"/>
          </a:solidFill>
          <a:ln w="12700">
            <a:solidFill>
              <a:srgbClr val="39F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828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39FF6C"/>
                </a:solidFill>
              </a:defRPr>
            </a:pPr>
            <a:r>
              <a:t>04-14</a:t>
            </a:r>
          </a:p>
          <a:p>
            <a:pPr algn="ctr">
              <a:defRPr sz="800">
                <a:solidFill>
                  <a:srgbClr val="39FF6C"/>
                </a:solidFill>
              </a:defRPr>
            </a:pPr>
            <a:r>
              <a:t>SNAPSHOT</a:t>
            </a:r>
          </a:p>
        </p:txBody>
      </p:sp>
      <p:sp>
        <p:nvSpPr>
          <p:cNvPr id="7" name="Oval 6"/>
          <p:cNvSpPr/>
          <p:nvPr/>
        </p:nvSpPr>
        <p:spPr>
          <a:xfrm>
            <a:off x="3886200" y="1508760"/>
            <a:ext cx="274320" cy="2743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828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00E5FF"/>
                </a:solidFill>
              </a:defRPr>
            </a:pPr>
            <a:r>
              <a:t>04-19</a:t>
            </a:r>
          </a:p>
          <a:p>
            <a:pPr algn="ctr">
              <a:defRPr sz="800">
                <a:solidFill>
                  <a:srgbClr val="00E5FF"/>
                </a:solidFill>
              </a:defRPr>
            </a:pPr>
            <a:r>
              <a:t>14 PLUGINS</a:t>
            </a:r>
          </a:p>
        </p:txBody>
      </p:sp>
      <p:sp>
        <p:nvSpPr>
          <p:cNvPr id="9" name="Oval 8"/>
          <p:cNvSpPr/>
          <p:nvPr/>
        </p:nvSpPr>
        <p:spPr>
          <a:xfrm>
            <a:off x="5532120" y="1508760"/>
            <a:ext cx="274320" cy="274320"/>
          </a:xfrm>
          <a:prstGeom prst="ellipse">
            <a:avLst/>
          </a:prstGeom>
          <a:solidFill>
            <a:srgbClr val="FF2E7A"/>
          </a:solidFill>
          <a:ln w="12700">
            <a:solidFill>
              <a:srgbClr val="FF2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828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2E7A"/>
                </a:solidFill>
              </a:defRPr>
            </a:pPr>
            <a:r>
              <a:t>04-22</a:t>
            </a:r>
          </a:p>
          <a:p>
            <a:pPr algn="ctr">
              <a:defRPr sz="800">
                <a:solidFill>
                  <a:srgbClr val="FF2E7A"/>
                </a:solidFill>
              </a:defRPr>
            </a:pPr>
            <a:r>
              <a:t>OPUS 4.7</a:t>
            </a:r>
          </a:p>
        </p:txBody>
      </p:sp>
      <p:sp>
        <p:nvSpPr>
          <p:cNvPr id="11" name="Oval 10"/>
          <p:cNvSpPr/>
          <p:nvPr/>
        </p:nvSpPr>
        <p:spPr>
          <a:xfrm>
            <a:off x="7178040" y="1508760"/>
            <a:ext cx="274320" cy="274320"/>
          </a:xfrm>
          <a:prstGeom prst="ellipse">
            <a:avLst/>
          </a:prstGeom>
          <a:solidFill>
            <a:srgbClr val="39FF6C"/>
          </a:solidFill>
          <a:ln w="12700">
            <a:solidFill>
              <a:srgbClr val="39F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828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39FF6C"/>
                </a:solidFill>
              </a:defRPr>
            </a:pPr>
            <a:r>
              <a:t>04-23</a:t>
            </a:r>
          </a:p>
          <a:p>
            <a:pPr algn="ctr">
              <a:defRPr sz="800">
                <a:solidFill>
                  <a:srgbClr val="39FF6C"/>
                </a:solidFill>
              </a:defRPr>
            </a:pPr>
            <a:r>
              <a:t>COMPLETE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164592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A4A4A"/>
                </a:solidFill>
              </a:defRPr>
            </a:pPr>
            <a:r>
              <a:t>Days Elapsed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E5FF"/>
                </a:solidFill>
              </a:defRPr>
            </a:pPr>
            <a:r>
              <a:t>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926080"/>
            <a:ext cx="164592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2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3017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A4A4A"/>
                </a:solidFill>
              </a:defRPr>
            </a:pPr>
            <a:r>
              <a:t>Commits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24612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2E7A"/>
                </a:solidFill>
              </a:defRPr>
            </a:pPr>
            <a:r>
              <a:t>3.5K+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926080"/>
            <a:ext cx="164592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39F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3017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A4A4A"/>
                </a:solidFill>
              </a:defRPr>
            </a:pPr>
            <a:r>
              <a:t>Plugins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24612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9FF6C"/>
                </a:solidFill>
              </a:defRPr>
            </a:pPr>
            <a:r>
              <a:t>14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926080"/>
            <a:ext cx="164592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017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A4A4A"/>
                </a:solidFill>
              </a:defRPr>
            </a:pPr>
            <a:r>
              <a:t>Major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24612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E5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2B2B"/>
                </a:solidFill>
              </a:defRPr>
            </a:pPr>
            <a:r>
              <a:t>14 STABLE PLUGINS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6459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</a:defRPr>
            </a:pPr>
            <a:r>
              <a:t>EXEC</a:t>
            </a:r>
          </a:p>
          <a:p>
            <a:pPr algn="ctr">
              <a:defRPr sz="900" b="1">
                <a:solidFill>
                  <a:srgbClr val="2B2B2B"/>
                </a:solidFill>
              </a:defRPr>
            </a:pPr>
            <a:r>
              <a:t>ORCH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1645920"/>
            <a:ext cx="16459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</a:defRPr>
            </a:pPr>
            <a:r>
              <a:t>AI</a:t>
            </a:r>
          </a:p>
          <a:p>
            <a:pPr algn="ctr">
              <a:defRPr sz="900" b="1">
                <a:solidFill>
                  <a:srgbClr val="2B2B2B"/>
                </a:solidFill>
              </a:defRPr>
            </a:pPr>
            <a:r>
              <a:t>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645920"/>
            <a:ext cx="16459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</a:defRPr>
            </a:pPr>
            <a:r>
              <a:t>AI</a:t>
            </a:r>
          </a:p>
          <a:p>
            <a:pPr algn="ctr">
              <a:defRPr sz="900" b="1">
                <a:solidFill>
                  <a:srgbClr val="2B2B2B"/>
                </a:solidFill>
              </a:defRPr>
            </a:pPr>
            <a:r>
              <a:t>CODING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645920"/>
            <a:ext cx="16459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</a:defRPr>
            </a:pPr>
            <a:r>
              <a:t>BUNDLES</a:t>
            </a:r>
          </a:p>
          <a:p>
            <a:pPr algn="ctr">
              <a:defRPr sz="900" b="1">
                <a:solidFill>
                  <a:srgbClr val="2B2B2B"/>
                </a:solidFill>
              </a:defRPr>
            </a:pPr>
            <a:r>
              <a:t>COWORK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80360"/>
            <a:ext cx="16459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54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</a:defRPr>
            </a:pPr>
            <a:r>
              <a:t>MCP</a:t>
            </a:r>
          </a:p>
          <a:p>
            <a:pPr algn="ctr">
              <a:defRPr sz="900" b="1">
                <a:solidFill>
                  <a:srgbClr val="2B2B2B"/>
                </a:solidFill>
              </a:defRPr>
            </a:pPr>
            <a:r>
              <a:t>DEV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2880360"/>
            <a:ext cx="16459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3154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</a:defRPr>
            </a:pPr>
            <a:r>
              <a:t>MCP</a:t>
            </a:r>
          </a:p>
          <a:p>
            <a:pPr algn="ctr">
              <a:defRPr sz="900" b="1">
                <a:solidFill>
                  <a:srgbClr val="2B2B2B"/>
                </a:solidFill>
              </a:defRPr>
            </a:pPr>
            <a:r>
              <a:t>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880360"/>
            <a:ext cx="16459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3154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</a:defRPr>
            </a:pPr>
            <a:r>
              <a:t>DESIGN</a:t>
            </a:r>
          </a:p>
          <a:p>
            <a:pPr algn="ctr">
              <a:defRPr sz="900" b="1">
                <a:solidFill>
                  <a:srgbClr val="2B2B2B"/>
                </a:solidFill>
              </a:defRPr>
            </a:pPr>
            <a:r>
              <a:t>PPT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880360"/>
            <a:ext cx="16459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3154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</a:defRPr>
            </a:pPr>
            <a:r>
              <a:t>DESIGN</a:t>
            </a:r>
          </a:p>
          <a:p>
            <a:pPr algn="ctr">
              <a:defRPr sz="900" b="1">
                <a:solidFill>
                  <a:srgbClr val="2B2B2B"/>
                </a:solidFill>
              </a:defRPr>
            </a:pPr>
            <a:r>
              <a:t>WEB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14800"/>
            <a:ext cx="16459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</a:defRPr>
            </a:pPr>
            <a:r>
              <a:t>AI</a:t>
            </a:r>
          </a:p>
          <a:p>
            <a:pPr algn="ctr">
              <a:defRPr sz="900" b="1">
                <a:solidFill>
                  <a:srgbClr val="2B2B2B"/>
                </a:solidFill>
              </a:defRPr>
            </a:pPr>
            <a:r>
              <a:t>EXCEL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40280" y="4114800"/>
            <a:ext cx="16459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43891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</a:defRPr>
            </a:pPr>
            <a:r>
              <a:t>AI</a:t>
            </a:r>
          </a:p>
          <a:p>
            <a:pPr algn="ctr">
              <a:defRPr sz="900" b="1">
                <a:solidFill>
                  <a:srgbClr val="2B2B2B"/>
                </a:solidFill>
              </a:defRPr>
            </a:pPr>
            <a:r>
              <a:t>VIDEO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4114800"/>
            <a:ext cx="16459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43891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</a:defRPr>
            </a:pPr>
            <a:r>
              <a:t>AI</a:t>
            </a:r>
          </a:p>
          <a:p>
            <a:pPr algn="ctr">
              <a:defRPr sz="900" b="1">
                <a:solidFill>
                  <a:srgbClr val="2B2B2B"/>
                </a:solidFill>
              </a:defRPr>
            </a:pPr>
            <a:r>
              <a:t>AUDIO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114800"/>
            <a:ext cx="16459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3891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</a:defRPr>
            </a:pPr>
            <a:r>
              <a:t>EXEC</a:t>
            </a:r>
          </a:p>
          <a:p>
            <a:pPr algn="ctr">
              <a:defRPr sz="900" b="1">
                <a:solidFill>
                  <a:srgbClr val="2B2B2B"/>
                </a:solidFill>
              </a:defRPr>
            </a:pPr>
            <a:r>
              <a:t>SCHEDULER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349240"/>
            <a:ext cx="16459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6235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</a:defRPr>
            </a:pPr>
            <a:r>
              <a:t>EXEC</a:t>
            </a:r>
          </a:p>
          <a:p>
            <a:pPr algn="ctr">
              <a:defRPr sz="900" b="1">
                <a:solidFill>
                  <a:srgbClr val="2B2B2B"/>
                </a:solidFill>
              </a:defRPr>
            </a:pPr>
            <a:r>
              <a:t>SESSION</a:t>
            </a:r>
          </a:p>
          <a:p>
            <a:pPr algn="ctr">
              <a:defRPr sz="900" b="1">
                <a:solidFill>
                  <a:srgbClr val="2B2B2B"/>
                </a:solidFill>
              </a:defRPr>
            </a:pPr>
            <a:r>
              <a:t>GUARD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40280" y="5349240"/>
            <a:ext cx="16459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31720" y="56235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</a:defRPr>
            </a:pPr>
            <a:r>
              <a:t>EXEC</a:t>
            </a:r>
          </a:p>
          <a:p>
            <a:pPr algn="ctr">
              <a:defRPr sz="900" b="1">
                <a:solidFill>
                  <a:srgbClr val="2B2B2B"/>
                </a:solidFill>
              </a:defRPr>
            </a:pPr>
            <a:r>
              <a:t>VOICE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2B2B"/>
                </a:solidFill>
              </a:defRPr>
            </a:pPr>
            <a:r>
              <a:t>ORCHESTRATION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1463040"/>
            <a:ext cx="731520" cy="731520"/>
          </a:xfrm>
          <a:prstGeom prst="ellipse">
            <a:avLst/>
          </a:prstGeom>
          <a:solidFill>
            <a:srgbClr val="1F77B4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CLAUDE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OPUS 4.7</a:t>
            </a:r>
          </a:p>
        </p:txBody>
      </p:sp>
      <p:sp>
        <p:nvSpPr>
          <p:cNvPr id="6" name="Oval 5"/>
          <p:cNvSpPr/>
          <p:nvPr/>
        </p:nvSpPr>
        <p:spPr>
          <a:xfrm>
            <a:off x="3749040" y="1463040"/>
            <a:ext cx="731520" cy="731520"/>
          </a:xfrm>
          <a:prstGeom prst="ellipse">
            <a:avLst/>
          </a:prstGeom>
          <a:solidFill>
            <a:srgbClr val="FF7F0E"/>
          </a:solidFill>
          <a:ln w="254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417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CODEX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×4 WORKERS</a:t>
            </a:r>
          </a:p>
        </p:txBody>
      </p:sp>
      <p:sp>
        <p:nvSpPr>
          <p:cNvPr id="8" name="Oval 7"/>
          <p:cNvSpPr/>
          <p:nvPr/>
        </p:nvSpPr>
        <p:spPr>
          <a:xfrm>
            <a:off x="6492240" y="1463040"/>
            <a:ext cx="731520" cy="731520"/>
          </a:xfrm>
          <a:prstGeom prst="ellipse">
            <a:avLst/>
          </a:prstGeom>
          <a:solidFill>
            <a:srgbClr val="2CA02C"/>
          </a:solidFill>
          <a:ln w="254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GEMINI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×2 WORKERS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1828800"/>
            <a:ext cx="2011679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80560" y="1828800"/>
            <a:ext cx="2011680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Task Dispatch → Codex executes in parallel (4 workers) → Gemini validates (2 workers) → Claude reviews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Streaming pipeline with error recovery. Auto-fallback to Claude on quota exceeded.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2B2B"/>
                </a:solidFill>
              </a:defRPr>
            </a:pPr>
            <a:r>
              <a:t>SOURCE OF TRUTH PRINCIPLE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657600" cy="2286000"/>
          </a:xfrm>
          <a:prstGeom prst="roundRect">
            <a:avLst/>
          </a:prstGeom>
          <a:solidFill>
            <a:srgbClr val="EFEFE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2918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300" b="1">
                <a:solidFill>
                  <a:srgbClr val="1F77B4"/>
                </a:solidFill>
              </a:defRPr>
            </a:pPr>
            <a:r>
              <a:t>SOURCE: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1F77B4"/>
                </a:solidFill>
              </a:defRPr>
            </a:pPr>
            <a:r>
              <a:t>plugins/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1F77B4"/>
                </a:solidFill>
              </a:defRPr>
            </a:pPr>
          </a:p>
          <a:p>
            <a:pPr algn="ctr">
              <a:spcBef>
                <a:spcPts val="200"/>
              </a:spcBef>
              <a:defRPr sz="1300" b="1">
                <a:solidFill>
                  <a:srgbClr val="1F77B4"/>
                </a:solidFill>
              </a:defRPr>
            </a:pPr>
            <a:r>
              <a:t>14 stable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1F77B4"/>
                </a:solidFill>
              </a:defRPr>
            </a:pPr>
            <a:r>
              <a:t>10 spec-only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1F77B4"/>
                </a:solidFill>
              </a:defRPr>
            </a:pPr>
          </a:p>
          <a:p>
            <a:pPr algn="ctr">
              <a:spcBef>
                <a:spcPts val="200"/>
              </a:spcBef>
              <a:defRPr sz="1300" b="1">
                <a:solidFill>
                  <a:srgbClr val="1F77B4"/>
                </a:solidFill>
              </a:defRPr>
            </a:pPr>
            <a:r>
              <a:t>Edit here ONLY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663440" y="2331720"/>
            <a:ext cx="640080" cy="274320"/>
          </a:xfrm>
          <a:prstGeom prst="rightArrow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0" y="1371600"/>
            <a:ext cx="3657600" cy="22860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554480"/>
            <a:ext cx="32918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300" b="1">
                <a:solidFill>
                  <a:srgbClr val="4A4A4A"/>
                </a:solidFill>
              </a:defRPr>
            </a:pPr>
            <a:r>
              <a:t>DERIVED: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4A4A4A"/>
                </a:solidFill>
              </a:defRPr>
            </a:pPr>
            <a:r>
              <a:t>.claude/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4A4A4A"/>
                </a:solidFill>
              </a:defRPr>
            </a:pPr>
          </a:p>
          <a:p>
            <a:pPr algn="ctr">
              <a:spcBef>
                <a:spcPts val="200"/>
              </a:spcBef>
              <a:defRPr sz="1300" b="1">
                <a:solidFill>
                  <a:srgbClr val="4A4A4A"/>
                </a:solidFill>
              </a:defRPr>
            </a:pPr>
            <a:r>
              <a:t>commands/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4A4A4A"/>
                </a:solidFill>
              </a:defRPr>
            </a:pPr>
            <a:r>
              <a:t>skills/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4A4A4A"/>
                </a:solidFill>
              </a:defRPr>
            </a:pPr>
            <a:r>
              <a:t>scripts/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4A4A4A"/>
                </a:solidFill>
              </a:defRPr>
            </a:pPr>
          </a:p>
          <a:p>
            <a:pPr algn="ctr">
              <a:spcBef>
                <a:spcPts val="200"/>
              </a:spcBef>
              <a:defRPr sz="1300" b="1">
                <a:solidFill>
                  <a:srgbClr val="4A4A4A"/>
                </a:solidFill>
              </a:defRPr>
            </a:pPr>
            <a:r>
              <a:t>Auto-generated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✓ Edit in plugins/ only  ✓ .claude/ auto-synced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✓ Validate schema weekly  ✓ No manual .claude/ edits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D14F"/>
                </a:solidFill>
                <a:latin typeface="Consolas"/>
              </a:defRPr>
            </a:pPr>
            <a:r>
              <a:t>PHASE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286000" cy="27432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20116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00"/>
              </a:spcBef>
              <a:defRPr sz="1100" b="1">
                <a:solidFill>
                  <a:srgbClr val="00E5FF"/>
                </a:solidFill>
              </a:defRPr>
            </a:pPr>
            <a:r>
              <a:t>PHASE 1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00E5FF"/>
                </a:solidFill>
              </a:defRPr>
            </a:pPr>
            <a:r>
              <a:t>14 Plugins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00E5FF"/>
                </a:solidFill>
              </a:defRPr>
            </a:pPr>
            <a:r>
              <a:t>2,061 lines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00E5FF"/>
                </a:solidFill>
              </a:defRPr>
            </a:pPr>
            <a:r>
              <a:t>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062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100%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286000" cy="27432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2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45920"/>
            <a:ext cx="20116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00"/>
              </a:spcBef>
              <a:defRPr sz="1100" b="1">
                <a:solidFill>
                  <a:srgbClr val="FF2E7A"/>
                </a:solidFill>
              </a:defRPr>
            </a:pPr>
            <a:r>
              <a:t>PHASE 2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FF2E7A"/>
                </a:solidFill>
              </a:defRPr>
            </a:pPr>
            <a:r>
              <a:t>7 Agents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FF2E7A"/>
                </a:solidFill>
              </a:defRPr>
            </a:pPr>
            <a:r>
              <a:t>24h Pipeline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FF2E7A"/>
                </a:solidFill>
              </a:defRPr>
            </a:pPr>
            <a:r>
              <a:t>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42062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2E7A"/>
                </a:solidFill>
              </a:defRPr>
            </a:pPr>
            <a: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286000" cy="27432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39F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20116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00"/>
              </a:spcBef>
              <a:defRPr sz="1100" b="1">
                <a:solidFill>
                  <a:srgbClr val="39FF6C"/>
                </a:solidFill>
              </a:defRPr>
            </a:pPr>
            <a:r>
              <a:t>PHASE 3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39FF6C"/>
                </a:solidFill>
              </a:defRPr>
            </a:pPr>
            <a:r>
              <a:t>10 Spec-Only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39FF6C"/>
                </a:solidFill>
              </a:defRPr>
            </a:pPr>
            <a:r>
              <a:t>Roadmap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39FF6C"/>
                </a:solidFill>
              </a:defRPr>
            </a:pPr>
            <a:r>
              <a:t>PLANNED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2062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9FF6C"/>
                </a:solidFill>
              </a:defRPr>
            </a:pPr>
            <a:r>
              <a:t>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E5FF"/>
                </a:solidFill>
                <a:latin typeface="Consolas"/>
              </a:defRPr>
            </a:pPr>
            <a:r>
              <a:t>CLAUDE OPUS 4.7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D14F"/>
                </a:solidFill>
              </a:defRPr>
            </a:pPr>
            <a:r>
              <a:t>Released 2026-04-22 · The Cost Math Inverted Overnight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645920" cy="1828800"/>
          </a:xfrm>
          <a:prstGeom prst="roundRect">
            <a:avLst/>
          </a:prstGeom>
          <a:solidFill>
            <a:srgbClr val="2A2A2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463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E5FF"/>
                </a:solidFill>
              </a:defRPr>
            </a:pPr>
            <a:r>
              <a:t>1M</a:t>
            </a:r>
          </a:p>
          <a:p>
            <a:pPr algn="ctr">
              <a:defRPr sz="1600" b="1">
                <a:solidFill>
                  <a:srgbClr val="00E5FF"/>
                </a:solidFill>
              </a:defRPr>
            </a:pPr>
            <a:r>
              <a:t>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011680"/>
            <a:ext cx="1645920" cy="1828800"/>
          </a:xfrm>
          <a:prstGeom prst="roundRect">
            <a:avLst/>
          </a:prstGeom>
          <a:solidFill>
            <a:srgbClr val="2A2A2A"/>
          </a:solidFill>
          <a:ln w="25400">
            <a:solidFill>
              <a:srgbClr val="FF2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2377440"/>
            <a:ext cx="1463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2E7A"/>
                </a:solidFill>
              </a:defRPr>
            </a:pPr>
            <a:r>
              <a:t>8K</a:t>
            </a:r>
          </a:p>
          <a:p>
            <a:pPr algn="ctr">
              <a:defRPr sz="1600" b="1">
                <a:solidFill>
                  <a:srgbClr val="FF2E7A"/>
                </a:solidFill>
              </a:defRPr>
            </a:pPr>
            <a:r>
              <a:t>THINKING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011680"/>
            <a:ext cx="1645920" cy="1828800"/>
          </a:xfrm>
          <a:prstGeom prst="roundRect">
            <a:avLst/>
          </a:prstGeom>
          <a:solidFill>
            <a:srgbClr val="2A2A2A"/>
          </a:solidFill>
          <a:ln w="25400">
            <a:solidFill>
              <a:srgbClr val="39F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1463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9FF6C"/>
                </a:solidFill>
              </a:defRPr>
            </a:pPr>
            <a:r>
              <a:t>90%</a:t>
            </a:r>
          </a:p>
          <a:p>
            <a:pPr algn="ctr">
              <a:defRPr sz="1600" b="1">
                <a:solidFill>
                  <a:srgbClr val="39FF6C"/>
                </a:solidFill>
              </a:defRPr>
            </a:pPr>
            <a:r>
              <a:t>CACHE HIT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011680"/>
            <a:ext cx="1645920" cy="1828800"/>
          </a:xfrm>
          <a:prstGeom prst="roundRect">
            <a:avLst/>
          </a:prstGeom>
          <a:solidFill>
            <a:srgbClr val="2A2A2A"/>
          </a:solidFill>
          <a:ln w="25400">
            <a:solidFill>
              <a:srgbClr val="FFD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377440"/>
            <a:ext cx="1463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D14F"/>
                </a:solidFill>
              </a:defRPr>
            </a:pPr>
            <a:r>
              <a:t>HAIKU</a:t>
            </a:r>
          </a:p>
          <a:p>
            <a:pPr algn="ctr">
              <a:defRPr sz="1600" b="1">
                <a:solidFill>
                  <a:srgbClr val="FFD14F"/>
                </a:solidFill>
              </a:defRPr>
            </a:pPr>
            <a:r>
              <a:t>4.5 TIER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2B2B"/>
                </a:solidFill>
              </a:defRPr>
            </a:pPr>
            <a:r>
              <a:t>OPUS 4.7 SPECIFICATIONS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1. CONTEXT WINDOW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 • 1,000,000 tokens (1M CTX)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 • Enables full codebase analysis in single request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 • Cost: $15/1M in, $60/1M out (with cache)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2. EXTENDED THINKING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 • 8,000 tokens thinking budget per request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 • Improved reasoning for complex problems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 • ~1-3 sec latency increase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3. PROMPT CACHING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 • 90% cache hit rate on repeated content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 • Prefix caching + context caching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 • Cost amortization over 5+ calls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4. HAIKU 4.5 INTEGRATION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 • Light tasks → Haiku (10x cheaper)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 • Auto-routing based on complexity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 • Fallback: Haiku → Sonnet → Opus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2B2B"/>
                </a:solidFill>
              </a:defRPr>
            </a:pPr>
            <a:r>
              <a:t>IMPACT: BEFORE vs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3840480"/>
          </a:xfrm>
          <a:prstGeom prst="rect">
            <a:avLst/>
          </a:prstGeom>
          <a:solidFill>
            <a:srgbClr val="FFF0F0"/>
          </a:solidFill>
          <a:ln w="254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566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2B2B"/>
                </a:solidFill>
              </a:defRPr>
            </a:pPr>
            <a:r>
              <a:t>BEFORE (Pre-4.7)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• 8K context max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• No thinking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• Per-token cost X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• Single AI model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• ~500ms latency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• Manual routing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3931920" cy="3840480"/>
          </a:xfrm>
          <a:prstGeom prst="rect">
            <a:avLst/>
          </a:prstGeom>
          <a:solidFill>
            <a:srgbClr val="F0FFF0"/>
          </a:solidFill>
          <a:ln w="254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554480"/>
            <a:ext cx="3566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2B2B"/>
                </a:solidFill>
              </a:defRPr>
            </a:pPr>
            <a:r>
              <a:t>AFTER (4.7+)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• 1M context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• 8K thinking budget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• Cost X/4 (caching)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• Multi-AI routing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• ~200ms latency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• Auto-dispatch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2B2B"/>
                </a:solidFill>
              </a:defRPr>
            </a:pPr>
            <a:r>
              <a:t>10 KEY PERFORMANCE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474720" cy="594360"/>
          </a:xfrm>
          <a:prstGeom prst="rect">
            <a:avLst/>
          </a:prstGeom>
          <a:solidFill>
            <a:srgbClr val="F0F0F0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B2B2B"/>
                </a:solidFill>
              </a:defRPr>
            </a:pPr>
            <a:r>
              <a:t>Plugins: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463040"/>
            <a:ext cx="3474720" cy="594360"/>
          </a:xfrm>
          <a:prstGeom prst="rect">
            <a:avLst/>
          </a:prstGeom>
          <a:solidFill>
            <a:srgbClr val="F0F0F0"/>
          </a:solidFill>
          <a:ln w="1905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50876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B2B2B"/>
                </a:solidFill>
              </a:defRPr>
            </a:pPr>
            <a:r>
              <a:t>Stable: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3474720" cy="594360"/>
          </a:xfrm>
          <a:prstGeom prst="rect">
            <a:avLst/>
          </a:prstGeom>
          <a:solidFill>
            <a:srgbClr val="F0F0F0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B2B2B"/>
                </a:solidFill>
              </a:defRPr>
            </a:pPr>
            <a:r>
              <a:t>Spec-Only: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103120"/>
            <a:ext cx="3474720" cy="594360"/>
          </a:xfrm>
          <a:prstGeom prst="rect">
            <a:avLst/>
          </a:prstGeom>
          <a:solidFill>
            <a:srgbClr val="F0F0F0"/>
          </a:solidFill>
          <a:ln w="1905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14884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B2B2B"/>
                </a:solidFill>
              </a:defRPr>
            </a:pPr>
            <a:r>
              <a:t>Total Lines: 2,061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3474720" cy="594360"/>
          </a:xfrm>
          <a:prstGeom prst="rect">
            <a:avLst/>
          </a:prstGeom>
          <a:solidFill>
            <a:srgbClr val="F0F0F0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B2B2B"/>
                </a:solidFill>
              </a:defRPr>
            </a:pPr>
            <a:r>
              <a:t>Workers: 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743200"/>
            <a:ext cx="3474720" cy="594360"/>
          </a:xfrm>
          <a:prstGeom prst="rect">
            <a:avLst/>
          </a:prstGeom>
          <a:solidFill>
            <a:srgbClr val="F0F0F0"/>
          </a:solidFill>
          <a:ln w="1905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78892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B2B2B"/>
                </a:solidFill>
              </a:defRPr>
            </a:pPr>
            <a:r>
              <a:t>AI Models: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3474720" cy="594360"/>
          </a:xfrm>
          <a:prstGeom prst="rect">
            <a:avLst/>
          </a:prstGeom>
          <a:solidFill>
            <a:srgbClr val="F0F0F0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2900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B2B2B"/>
                </a:solidFill>
              </a:defRPr>
            </a:pPr>
            <a:r>
              <a:t>Daily Tasks: 100+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3383280"/>
            <a:ext cx="3474720" cy="594360"/>
          </a:xfrm>
          <a:prstGeom prst="rect">
            <a:avLst/>
          </a:prstGeom>
          <a:solidFill>
            <a:srgbClr val="F0F0F0"/>
          </a:solidFill>
          <a:ln w="1905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42900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B2B2B"/>
                </a:solidFill>
              </a:defRPr>
            </a:pPr>
            <a:r>
              <a:t>Avg Latency: 200ms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3474720" cy="594360"/>
          </a:xfrm>
          <a:prstGeom prst="rect">
            <a:avLst/>
          </a:prstGeom>
          <a:solidFill>
            <a:srgbClr val="F0F0F0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B2B2B"/>
                </a:solidFill>
              </a:defRPr>
            </a:pPr>
            <a:r>
              <a:t>Cost/Month: $500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4023360"/>
            <a:ext cx="3474720" cy="594360"/>
          </a:xfrm>
          <a:prstGeom prst="rect">
            <a:avLst/>
          </a:prstGeom>
          <a:solidFill>
            <a:srgbClr val="F0F0F0"/>
          </a:solidFill>
          <a:ln w="1905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406908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B2B2B"/>
                </a:solidFill>
              </a:defRPr>
            </a:pPr>
            <a:r>
              <a:t>Uptime: 99.5%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E5FF"/>
                </a:solidFill>
                <a:latin typeface="Consolas"/>
              </a:defRPr>
            </a:pPr>
            <a:r>
              <a:t>ORCA.DB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9FF6C"/>
                </a:solidFill>
                <a:latin typeface="Consolas"/>
              </a:defRPr>
            </a:pPr>
            <a:r>
              <a:t>heartbeat  |  workers  |  tasks  |  results</a:t>
            </a:r>
          </a:p>
          <a:p>
            <a:r>
              <a:t>  ↓             ↓          ↓         ↓</a:t>
            </a:r>
          </a:p>
          <a:p>
            <a:r>
              <a:t>tokens  |  quota  |  metrics  |  state</a:t>
            </a:r>
          </a:p>
          <a:p>
            <a:r>
              <a:t>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8 Tables: heartbeat, workers, tasks, results, tokens, quota, metrics, state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Real-time sync every 5 seconds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Auto-cleanup: heartbeat 24h TTL, old tasks weekly purge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2B2B"/>
                </a:solidFill>
              </a:defRPr>
            </a:pPr>
            <a:r>
              <a:t>WATCHDOG: HEALTH MONITOR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Continuous background process monitoring: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✓ Worker heartbeat (pulse every 10 sec)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✓ Task queue depth (alert if &gt;50)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✓ Quota consumption (backoff if &gt;80%)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✓ Latency spike detection (&gt;5sec)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✓ Auto-recovery: restart failed worker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✓ Fallback: route to alternate AI if primary down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If quota exceeded: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Wait 10m → retry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If fail: Wait 20m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If fail: Wait 40m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If fail: Wait 2h (max backoff)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2B2B"/>
                </a:solidFill>
              </a:defRPr>
            </a:pPr>
            <a:r>
              <a:t>QUOTA EXCEEDED: BACKOFF EXPONENTIAL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645920"/>
            <a:ext cx="1188720" cy="365760"/>
          </a:xfrm>
          <a:prstGeom prst="rect">
            <a:avLst/>
          </a:prstGeom>
          <a:solidFill>
            <a:srgbClr val="1F77B4"/>
          </a:solidFill>
          <a:ln w="1270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2B2B"/>
                </a:solidFill>
              </a:defRPr>
            </a:pPr>
            <a:r>
              <a:t>Attempt 1: 10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194560"/>
            <a:ext cx="1920240" cy="365760"/>
          </a:xfrm>
          <a:prstGeom prst="rect">
            <a:avLst/>
          </a:prstGeom>
          <a:solidFill>
            <a:srgbClr val="1F77B4"/>
          </a:solidFill>
          <a:ln w="1270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2B2B"/>
                </a:solidFill>
              </a:defRPr>
            </a:pPr>
            <a:r>
              <a:t>Attempt 2: 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743200"/>
            <a:ext cx="3383280" cy="365760"/>
          </a:xfrm>
          <a:prstGeom prst="rect">
            <a:avLst/>
          </a:prstGeom>
          <a:solidFill>
            <a:srgbClr val="1F77B4"/>
          </a:solidFill>
          <a:ln w="1270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2B2B"/>
                </a:solidFill>
              </a:defRPr>
            </a:pPr>
            <a:r>
              <a:t>Attempt 3: 40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291839"/>
            <a:ext cx="9235440" cy="365760"/>
          </a:xfrm>
          <a:prstGeom prst="rect">
            <a:avLst/>
          </a:prstGeom>
          <a:solidFill>
            <a:srgbClr val="1F77B4"/>
          </a:solidFill>
          <a:ln w="1270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37559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2B2B"/>
                </a:solidFill>
              </a:defRPr>
            </a:pPr>
            <a:r>
              <a:t>Attempt 4: 2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D4AF37"/>
                </a:solidFill>
              </a:defRPr>
            </a:pPr>
            <a:r>
              <a:t>Orchestration Kit v1.0 | Slide 13/25 | 2026-04-23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2B2B"/>
                </a:solidFill>
              </a:defRPr>
            </a:pPr>
            <a:r>
              <a:t>AI ROUTING DECISION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INPUT REQUEST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  ↓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├─ Complex architecture? → CLAUDE OPUS 4.7 (think=8K)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├─ Code 500+ lines? → CODEX ×4 (parallel)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├─ Validation/review? → GEMINI ×2 (fact-check)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├─ Simple task? → HAIKU 4.5 (cost-opt)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└─ Fallback chain?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  Codex fail → Claude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  Gemini fail → Claude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  All fail → Error + notify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Metrics: Route by token estimate + urgency + cost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2B2B"/>
                </a:solidFill>
              </a:defRPr>
            </a:pPr>
            <a:r>
              <a:t>AI CAPABILITY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F77B4"/>
                </a:solidFill>
              </a:defRPr>
            </a:pPr>
            <a: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4630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F77B4"/>
                </a:solidFill>
              </a:defRPr>
            </a:pPr>
            <a:r>
              <a:t>Cost/1M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4630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F77B4"/>
                </a:solidFill>
              </a:defRPr>
            </a:pPr>
            <a:r>
              <a:t>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4630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F77B4"/>
                </a:solidFill>
              </a:defRPr>
            </a:pPr>
            <a:r>
              <a:t>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4630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F77B4"/>
                </a:solidFill>
              </a:defRPr>
            </a:pPr>
            <a:r>
              <a:t>Use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15544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Opus 4.7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783080"/>
            <a:ext cx="15544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8288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$15→$60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1783080"/>
            <a:ext cx="15544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59" y="18288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2s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1783080"/>
            <a:ext cx="15544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18288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Expert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1783080"/>
            <a:ext cx="15544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18288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Architecture/Design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37744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4231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Codex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37744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24231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$5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237744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59" y="24231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1s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237744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40680" y="24231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Good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237744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4231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Code Gen (500+)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971800"/>
            <a:ext cx="15544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0175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Haiku 4.5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2971800"/>
            <a:ext cx="15544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48840" y="30175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$0.8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2971800"/>
            <a:ext cx="15544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59" y="30175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200ms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94960" y="2971800"/>
            <a:ext cx="15544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0680" y="30175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Fast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2971800"/>
            <a:ext cx="15544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30175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Simple tasks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56616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6118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Gemini Flash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03120" y="356616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48840" y="36118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$2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39" y="356616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94759" y="36118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500ms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94960" y="356616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40680" y="36118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Good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40880" y="356616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86600" y="36118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B2B2B"/>
                </a:solidFill>
              </a:defRPr>
            </a:pPr>
            <a:r>
              <a:t>Validation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D4AF37"/>
                </a:solidFill>
              </a:defRPr>
            </a:pPr>
            <a:r>
              <a:t>Orchestration Kit v1.0 | Slide 15/25 | 2026-04-23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2B2B"/>
                </a:solidFill>
              </a:defRPr>
            </a:pPr>
            <a:r>
              <a:t>PROMPT CACHING: COST FORMULA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STANDARD COST (no cache):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Cost = (input_tokens × rate_in) + (output_tokens × rate_out)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Example: 100K in + 5K out = ($1.50) + ($0.30) = $1.80 per call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WITH PROMPT CACHING (90% hit):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Cached tokens cost 90% less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Cost = (cache_hits × rate_in × 0.1) + (new_tokens × rate_in) + (output × rate_out)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5 calls with same 50K context: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Without: 5 × $1.80 = $9.00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With cache: (5 × $0.75 cache cost) + 1 fresh call = $4.50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Savings: 50%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PHASE ADOPTION: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Phase 1: Core plugins only (5 cache keys)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Phase 2: Full adoption (25+ keys)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Phase 3: Per-user sessions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9FF6C"/>
                </a:solidFill>
                <a:latin typeface="Consolas"/>
              </a:defRPr>
            </a:pPr>
            <a:r>
              <a:t>WATCHDOG INTERNALS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HEARTBEAT TABLE (every 5 sec)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  ┌─ worker_id | last_ping | tasks_done | errors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  └─ TTL: 24h (auto-cleanup)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QUOTA CHECK LOOP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  1. Query token usage (last 1h)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  2. If &gt; 80% limit → set backoff flag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  3. Announce on orca-dispatch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  4. Workers check before accepting tasks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RECOVERY TRIGGER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  1. Worker heartbeat late (&gt;30s) → mark unhealthy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  2. Route tasks to other workers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  3. Auto-restart after 3 consecutive timeouts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  4. Email alert if &gt; 5 workers down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METRICS EXPORT (daily)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  - Total tokens used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  - Task success rate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  - Worker uptime %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  <a:r>
              <a:t>  - Cost breakdown by model</a:t>
            </a:r>
          </a:p>
          <a:p>
            <a:pPr>
              <a:spcAft>
                <a:spcPts val="200"/>
              </a:spcAft>
              <a:defRPr sz="900">
                <a:solidFill>
                  <a:srgbClr val="39FF6C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2B2B"/>
                </a:solidFill>
              </a:defRPr>
            </a:pPr>
            <a:r>
              <a:t>24/7 CONTINUOUS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06:00 — Night Batch: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Codex processes offline tasks (specs, tests)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Gemini validates results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DB sync + cleanup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12:00 — Peak Load: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Interactive requests → OPUS 4.7 (real-time)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Code gen → CODEX (queued, parallel)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Light tasks → HAIKU 4.5 (cost-optimized)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18:00 — Analysis Phase: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Weekly metrics aggregation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Cost report generation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Performance TuningRecommendations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00:00 — Maintenance: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Database vacuum + index rebuild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Old heartbeat purge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Cache stats export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  Backup + archive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2B2B"/>
                </a:solidFill>
              </a:defRPr>
            </a:pPr>
            <a:r>
              <a:t>CLI TOOL ECOSYSTEM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77B4"/>
                </a:solidFill>
                <a:latin typeface="Consolas"/>
              </a:defRPr>
            </a:pPr>
            <a:r>
              <a:t>claude mcp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3055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B2B2B"/>
                </a:solidFill>
              </a:defRPr>
            </a:pPr>
            <a:r>
              <a:t>Query active MCPs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47472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783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7F0E"/>
                </a:solidFill>
                <a:latin typeface="Consolas"/>
              </a:defRPr>
            </a:pPr>
            <a:r>
              <a:t>orca-dispatch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13055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B2B2B"/>
                </a:solidFill>
              </a:defRPr>
            </a:pPr>
            <a:r>
              <a:t>Task submission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347472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CA02C"/>
                </a:solidFill>
                <a:latin typeface="Consolas"/>
              </a:defRPr>
            </a:pPr>
            <a:r>
              <a:t>orca-status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192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B2B2B"/>
                </a:solidFill>
              </a:defRPr>
            </a:pPr>
            <a:r>
              <a:t>Pipeline health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834640"/>
            <a:ext cx="347472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97180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7F0E"/>
                </a:solidFill>
                <a:latin typeface="Consolas"/>
              </a:defRPr>
            </a:pPr>
            <a:r>
              <a:t>orca-logs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3192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B2B2B"/>
                </a:solidFill>
              </a:defRPr>
            </a:pPr>
            <a:r>
              <a:t>Real-time 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D4AF37"/>
                </a:solidFill>
              </a:defRPr>
            </a:pPr>
            <a:r>
              <a:t>Orchestration Kit v1.0 | Slide 19/25 | 2026-04-23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2B2B"/>
                </a:solidFill>
              </a:defRPr>
            </a:pPr>
            <a:r>
              <a:t>REAL-TIME METRICS QUERY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SELECT DATE(created) as date, model, COUNT(*) as count, AVG(tokens) as avg_tokens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FROM tasks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WHERE created &gt; datetime('now', '-7 days')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GROUP BY DATE(created), model;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RESULTS (Last 7 Days):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┌─────────┬──────────┬───────┬─────────────┐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│ Date    │ Model    │ Count │ Avg Tokens  │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├─────────┼──────────┼───────┼─────────────┤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│ 04-17   │ Opus     │  245  │    15,234   │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│ 04-17   │ Codex    │ 1,203 │     8,456   │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│ 04-18   │ Gemini   │  356  │     4,123   │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│ 04-23   │ Haiku    │ 2,145 │       892   │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└─────────┴──────────┴───────┴─────────────┘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Total tokens this week: 3.2M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Cost spent: $2,145 (with caching 90% hit)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Average cost per task: $0.45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2B2B"/>
                </a:solidFill>
              </a:defRPr>
            </a:pPr>
            <a:r>
              <a:t>ARCHITECTURAL PRINCIPLES: CODE 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From CLAUDE.md (Source of Truth):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## WHAT — Purpose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Multi-AI Orchestration Kit (Claude + Codex + Gemini)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## WHY — Design Principles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plugins/ is Source of Truth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.claude/ is auto-generated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No manual .claude/ edits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## HOW — Workflow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1. Edit plugins/exec_orch/commands/godmode.md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2. bash .claude/scripts/sync-plugins.sh --dry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3. bash .claude/scripts/sync-plugins.sh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4. git commit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This framework survived: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✓ 14+ plugin additions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✓ 2 AI model upgrades (3.5→4.7)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✓ Quota exhaustion + recovery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  <a:r>
              <a:t>✓ 3,500+ commits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2B2B2B"/>
                </a:solidFill>
              </a:defRPr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2B2B"/>
                </a:solidFill>
              </a:defRPr>
            </a:pPr>
            <a:r>
              <a:t>GROWTH TRAJECTORY: PLUGINS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572768"/>
            <a:ext cx="1097280" cy="256032"/>
          </a:xfrm>
          <a:prstGeom prst="rect">
            <a:avLst/>
          </a:prstGeom>
          <a:solidFill>
            <a:srgbClr val="1F77B4"/>
          </a:solidFill>
          <a:ln w="1270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04-10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280160"/>
            <a:ext cx="1097280" cy="548640"/>
          </a:xfrm>
          <a:prstGeom prst="rect">
            <a:avLst/>
          </a:prstGeom>
          <a:solidFill>
            <a:srgbClr val="1F77B4"/>
          </a:solidFill>
          <a:ln w="1270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04-15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058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621792"/>
            <a:ext cx="1097280" cy="1207008"/>
          </a:xfrm>
          <a:prstGeom prst="rect">
            <a:avLst/>
          </a:prstGeom>
          <a:solidFill>
            <a:srgbClr val="1F77B4"/>
          </a:solidFill>
          <a:ln w="1270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9202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04-19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4747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621792"/>
            <a:ext cx="1097280" cy="1207008"/>
          </a:xfrm>
          <a:prstGeom prst="rect">
            <a:avLst/>
          </a:prstGeom>
          <a:solidFill>
            <a:srgbClr val="1F77B4"/>
          </a:solidFill>
          <a:ln w="1270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9202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04-23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4747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D4AF37"/>
                </a:solidFill>
              </a:defRPr>
            </a:pPr>
            <a:r>
              <a:t>Orchestration Kit v1.0 | Slide 22/25 | 2026-04-23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2B2B"/>
                </a:solidFill>
              </a:defRPr>
            </a:pPr>
            <a:r>
              <a:t>LIVE METRICS DASHBOARD — 2026-04-24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64592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A4A4A"/>
                </a:solidFill>
              </a:defRPr>
            </a:pPr>
            <a:r>
              <a:t>Stable Plugins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77B4"/>
                </a:solidFill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645920"/>
            <a:ext cx="164592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73736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A4A4A"/>
                </a:solidFill>
              </a:defRPr>
            </a:pPr>
            <a:r>
              <a:t>Total Plugins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659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7F0E"/>
                </a:solidFill>
              </a:defRPr>
            </a:pPr>
            <a: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79" y="1645920"/>
            <a:ext cx="164592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19" y="173736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A4A4A"/>
                </a:solidFill>
              </a:defRPr>
            </a:pPr>
            <a:r>
              <a:t>Days Running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19" y="19659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CA02C"/>
                </a:solidFill>
              </a:defRPr>
            </a:pPr>
            <a:r>
              <a:t>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7999" y="1645920"/>
            <a:ext cx="164592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39" y="173736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A4A4A"/>
                </a:solidFill>
              </a:defRPr>
            </a:pPr>
            <a:r>
              <a:t>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39" y="19659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4AF37"/>
                </a:solidFill>
              </a:defRPr>
            </a:pPr>
            <a:r>
              <a:t>1+2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51760"/>
            <a:ext cx="164592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432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A4A4A"/>
                </a:solidFill>
              </a:defRPr>
            </a:pPr>
            <a:r>
              <a:t>Workers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97180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77B4"/>
                </a:solidFill>
              </a:defRPr>
            </a:pPr>
            <a: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2651760"/>
            <a:ext cx="164592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27432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A4A4A"/>
                </a:solidFill>
              </a:defRPr>
            </a:pPr>
            <a:r>
              <a:t>AI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97180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7F0E"/>
                </a:solidFill>
              </a:defRPr>
            </a:pPr>
            <a: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79" y="2651760"/>
            <a:ext cx="164592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19" y="27432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A4A4A"/>
                </a:solidFill>
              </a:defRPr>
            </a:pPr>
            <a:r>
              <a:t>Tasks/Day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19" y="297180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CA02C"/>
                </a:solidFill>
              </a:defRPr>
            </a:pPr>
            <a:r>
              <a:t>100+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7999" y="2651760"/>
            <a:ext cx="164592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39" y="27432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A4A4A"/>
                </a:solidFill>
              </a:defRPr>
            </a:pPr>
            <a:r>
              <a:t>Uptime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297180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4AF37"/>
                </a:solidFill>
              </a:defRPr>
            </a:pPr>
            <a:r>
              <a:t>99.5%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D4AF37"/>
                </a:solidFill>
              </a:defRPr>
            </a:pPr>
            <a:r>
              <a:t>Orchestration Kit v1.0 | Slide 23/25 | 2026-04-23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2E7A"/>
                </a:solidFill>
                <a:latin typeface="Consolas"/>
              </a:defRPr>
            </a:pPr>
            <a:r>
              <a:t>PHASE 3 ROADMAP (Spec-Only)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10 NEW SPEC-ONLY PLUGINS:</a:t>
            </a: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1. ai_document — PDF/Word parsing + generation</a:t>
            </a: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2. ai_email — Inbox automation + classification</a:t>
            </a: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3. bundles_analytics — GA4 + Mixpanel sync</a:t>
            </a: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4. bundles_analytics_superset — Data viz dashboards</a:t>
            </a: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5. exec_batch — Long-running job scheduler</a:t>
            </a: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6. exec_monitor — Prometheus/DataDog integration</a:t>
            </a: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7. mcp_anthropic — Native Anthropic API wrapper</a:t>
            </a: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8. mcp_stripe — Payment processor integration</a:t>
            </a: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9. music_studio — Audio generation + editing</a:t>
            </a: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10. video_studio — Video processing pipeline</a:t>
            </a: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ADDITIONAL 4.7 FEATURES TO UNLOCK:</a:t>
            </a: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✓ Extended thinking for complex design decisions</a:t>
            </a: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✓ 1M context for full codebase refactoring</a:t>
            </a: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✓ Prompt caching for repeated templates</a:t>
            </a: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✓ Multi-modal input (images + code + text)</a:t>
            </a: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TARGET: Q3 2026</a:t>
            </a:r>
          </a:p>
          <a:p>
            <a:pPr>
              <a:spcAft>
                <a:spcPts val="200"/>
              </a:spcAft>
              <a:defRPr sz="1000">
                <a:solidFill>
                  <a:srgbClr val="00E5FF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defRPr sz="3200" b="1">
                <a:solidFill>
                  <a:srgbClr val="D4AF37"/>
                </a:solidFill>
              </a:defRPr>
            </a:pPr>
            <a:r>
              <a:t>"The future is not a single AI.</a:t>
            </a:r>
          </a:p>
          <a:p>
            <a:pPr algn="ctr">
              <a:spcBef>
                <a:spcPts val="400"/>
              </a:spcBef>
              <a:defRPr sz="3200" b="1">
                <a:solidFill>
                  <a:srgbClr val="D4AF37"/>
                </a:solidFill>
              </a:defRPr>
            </a:pPr>
            <a:r>
              <a:t>It is orchestrated teams</a:t>
            </a:r>
          </a:p>
          <a:p>
            <a:pPr algn="ctr">
              <a:spcBef>
                <a:spcPts val="400"/>
              </a:spcBef>
              <a:defRPr sz="3200" b="1">
                <a:solidFill>
                  <a:srgbClr val="D4AF37"/>
                </a:solidFill>
              </a:defRPr>
            </a:pPr>
            <a:r>
              <a:t>working in harmony."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A4A4A"/>
                </a:solidFill>
              </a:defRPr>
            </a:pPr>
            <a:r>
              <a:t>— Orchestration Kit v1.0, 2026-04-24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B2B2B"/>
                </a:solidFill>
              </a:defRPr>
            </a:pPr>
            <a:r>
              <a:t>Thank you for 14 days of building</a:t>
            </a:r>
          </a:p>
          <a:p>
            <a:pPr algn="ctr">
              <a:defRPr sz="1200">
                <a:solidFill>
                  <a:srgbClr val="2B2B2B"/>
                </a:solidFill>
              </a:defRPr>
            </a:pPr>
            <a:r>
              <a:t>Claude Opus 4.7 × Codex × Gemini × Haiku 4.5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