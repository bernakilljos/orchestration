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6400800" cy="10972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0" b="1">
                <a:solidFill>
                  <a:srgbClr val="FAFAF5"/>
                </a:solidFill>
                <a:latin typeface="Malgun Gothic"/>
              </a:defRPr>
            </a:pPr>
            <a:r>
              <a:t>ORCHESTRATION</a:t>
            </a:r>
            <a:br/>
            <a:r>
              <a:t>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FAFAF5"/>
                </a:solidFill>
                <a:latin typeface="Malgun Gothic"/>
              </a:defRPr>
            </a:pPr>
            <a:r>
              <a:t>The journey of one developer — before and after Claude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5C62F"/>
                </a:solidFill>
                <a:latin typeface="Consolas"/>
              </a:defRPr>
            </a:pPr>
            <a:r>
              <a:t>2026-04-10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37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5C62F"/>
                </a:solidFill>
                <a:latin typeface="Consolas"/>
              </a:defRPr>
            </a:pPr>
            <a:r>
              <a:t>2026-04-20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5C62F"/>
                </a:solidFill>
                <a:latin typeface="Consolas"/>
              </a:defRPr>
            </a:pPr>
            <a:r>
              <a:t>2026-04-23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onsolas"/>
              </a:defRPr>
            </a:pPr>
            <a:r>
              <a:t>Vol. 1 · Issue 1 · Premium Edition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01 · YOUR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02/20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E13B2A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23060"/>
            <a:ext cx="2103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DAYS APR 10→23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0A0A"/>
                </a:solidFill>
              </a:defRPr>
            </a:pPr>
            <a:r>
              <a:t>FROM SCRATCH TO PHASE 2 ABSORPTION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2344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555555"/>
                </a:solidFill>
              </a:defRPr>
            </a:pPr>
            <a:r>
              <a:t>Apr 10: Project inception · Scratch start · First commit</a:t>
            </a:r>
          </a:p>
          <a:p>
            <a:pPr>
              <a:spcBef>
                <a:spcPts val="400"/>
              </a:spcBef>
              <a:defRPr sz="1000">
                <a:solidFill>
                  <a:srgbClr val="555555"/>
                </a:solidFill>
              </a:defRPr>
            </a:pPr>
            <a:r>
              <a:t>Apr 19: 14 stable plugins · 21 total spec (Phase 1)</a:t>
            </a:r>
          </a:p>
          <a:p>
            <a:pPr>
              <a:spcBef>
                <a:spcPts val="400"/>
              </a:spcBef>
              <a:defRPr sz="1000">
                <a:solidFill>
                  <a:srgbClr val="555555"/>
                </a:solidFill>
              </a:defRPr>
            </a:pPr>
            <a:r>
              <a:t>Apr 22: Claude Opus 4.7 released · Architecture inverted</a:t>
            </a:r>
          </a:p>
          <a:p>
            <a:pPr>
              <a:spcBef>
                <a:spcPts val="400"/>
              </a:spcBef>
              <a:defRPr sz="1000">
                <a:solidFill>
                  <a:srgbClr val="555555"/>
                </a:solidFill>
              </a:defRPr>
            </a:pPr>
            <a:r>
              <a:t>Apr 23: Phase 1+2 absorbed · Cost model recomputed</a:t>
            </a:r>
          </a:p>
          <a:p>
            <a:pPr>
              <a:spcBef>
                <a:spcPts val="400"/>
              </a:spcBef>
              <a:defRPr sz="1000">
                <a:solidFill>
                  <a:srgbClr val="555555"/>
                </a:solidFill>
              </a:defRPr>
            </a:pPr>
            <a:r>
              <a:t>May-Jun: Phase 3 spec-only · 10 more plugins waiting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731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MILESTONES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18872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● 04-10: Start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● 04-14: 5 plugins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● 04-19: 14 plugins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● 04-22: Opus 4.7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● 04-23: 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FF8C00"/>
                </a:solidFill>
                <a:latin typeface="Malgun Gothic"/>
              </a:defRPr>
            </a:pPr>
            <a:r>
              <a:t>A kit built in 14 days.</a:t>
            </a:r>
            <a:br/>
            <a:r>
              <a:t>A kit reborn in 24 hours.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Source: Internal commit history, Apr 10-23,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01 · PLUGIN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03/20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8C00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21031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1F6FB6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24912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SPEC-ONLY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40"/>
            <a:ext cx="21031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8E44AD"/>
                </a:solidFill>
                <a:latin typeface="Consolas"/>
              </a:defRPr>
            </a:pPr>
            <a: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05072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TOTAL 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731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ACTIVE &amp; PLANNED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555555"/>
                </a:solidFill>
              </a:defRPr>
            </a:pPr>
            <a:r>
              <a:t>exec_orch, exec_scheduler, exec_session</a:t>
            </a:r>
          </a:p>
          <a:p>
            <a:pPr>
              <a:spcBef>
                <a:spcPts val="300"/>
              </a:spcBef>
              <a:defRPr sz="950">
                <a:solidFill>
                  <a:srgbClr val="555555"/>
                </a:solidFill>
              </a:defRPr>
            </a:pPr>
            <a:r>
              <a:t>mcp_dev, mcp_data, mcp_web, mcp_collab</a:t>
            </a:r>
          </a:p>
          <a:p>
            <a:pPr>
              <a:spcBef>
                <a:spcPts val="300"/>
              </a:spcBef>
              <a:defRPr sz="950">
                <a:solidFill>
                  <a:srgbClr val="555555"/>
                </a:solidFill>
              </a:defRPr>
            </a:pPr>
            <a:r>
              <a:t>design_ppt, design_excel, design_web</a:t>
            </a:r>
          </a:p>
          <a:p>
            <a:pPr>
              <a:spcBef>
                <a:spcPts val="300"/>
              </a:spcBef>
              <a:defRPr sz="950">
                <a:solidFill>
                  <a:srgbClr val="555555"/>
                </a:solidFill>
              </a:defRPr>
            </a:pPr>
            <a:r>
              <a:t>review_qa, review_perf</a:t>
            </a:r>
          </a:p>
          <a:p>
            <a:pPr>
              <a:spcBef>
                <a:spcPts val="300"/>
              </a:spcBef>
              <a:defRPr sz="950">
                <a:solidFill>
                  <a:srgbClr val="555555"/>
                </a:solidFill>
              </a:defRPr>
            </a:pPr>
            <a:r>
              <a:t>— (core)</a:t>
            </a:r>
          </a:p>
          <a:p>
            <a:pPr>
              <a:spcBef>
                <a:spcPts val="300"/>
              </a:spcBef>
              <a:defRPr sz="950">
                <a:solidFill>
                  <a:srgbClr val="555555"/>
                </a:solidFill>
              </a:defRPr>
            </a:pPr>
            <a:r>
              <a:t>+ 10 spec-only (cost_, perf_, growth_, ai_, sec_, infra_)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1887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555555"/>
                </a:solidFill>
              </a:defRPr>
            </a:pPr>
            <a:r>
              <a:t>◆ exec: 4</a:t>
            </a:r>
          </a:p>
          <a:p>
            <a:pPr>
              <a:spcBef>
                <a:spcPts val="400"/>
              </a:spcBef>
              <a:defRPr sz="1000" b="1">
                <a:solidFill>
                  <a:srgbClr val="555555"/>
                </a:solidFill>
              </a:defRPr>
            </a:pPr>
            <a:r>
              <a:t>■ mcp: 5</a:t>
            </a:r>
          </a:p>
          <a:p>
            <a:pPr>
              <a:spcBef>
                <a:spcPts val="400"/>
              </a:spcBef>
              <a:defRPr sz="1000" b="1">
                <a:solidFill>
                  <a:srgbClr val="555555"/>
                </a:solidFill>
              </a:defRPr>
            </a:pPr>
            <a:r>
              <a:t>◉ design: 3</a:t>
            </a:r>
          </a:p>
          <a:p>
            <a:pPr>
              <a:spcBef>
                <a:spcPts val="400"/>
              </a:spcBef>
              <a:defRPr sz="1000" b="1">
                <a:solidFill>
                  <a:srgbClr val="555555"/>
                </a:solidFill>
              </a:defRPr>
            </a:pPr>
            <a:r>
              <a:t>▲ review: 1</a:t>
            </a:r>
          </a:p>
          <a:p>
            <a:pPr>
              <a:spcBef>
                <a:spcPts val="400"/>
              </a:spcBef>
              <a:defRPr sz="1000" b="1">
                <a:solidFill>
                  <a:srgbClr val="555555"/>
                </a:solidFill>
              </a:defRPr>
            </a:pPr>
            <a:r>
              <a:t>● core: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FF8C00"/>
                </a:solidFill>
                <a:latin typeface="Malgun Gothic"/>
              </a:defRPr>
            </a:pPr>
            <a:r>
              <a:t>One engine. Fourteen applications.</a:t>
            </a:r>
            <a:br/>
            <a:r>
              <a:t>Zero drift.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Phase 1 complete (14 stable). Phase 2 spec: 10 plugins. Phase 3 roadmap: 10+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01 · 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04/20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65760" y="1371600"/>
            <a:ext cx="731520" cy="731520"/>
          </a:xfrm>
          <a:prstGeom prst="ellipse">
            <a:avLst/>
          </a:prstGeom>
          <a:solidFill>
            <a:srgbClr val="E13B2A"/>
          </a:solidFill>
          <a:ln>
            <a:solidFill>
              <a:srgbClr val="E13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AFAF5"/>
                </a:solidFill>
              </a:defRPr>
            </a:pPr>
            <a:r>
              <a:t>Claude</a:t>
            </a:r>
            <a:br/>
            <a:r>
              <a:t>50%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1371600"/>
            <a:ext cx="731520" cy="731520"/>
          </a:xfrm>
          <a:prstGeom prst="ellipse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600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AFAF5"/>
                </a:solidFill>
              </a:defRPr>
            </a:pPr>
            <a:r>
              <a:t>Codex</a:t>
            </a:r>
            <a:br/>
            <a:r>
              <a:t>25%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1371600"/>
            <a:ext cx="731520" cy="731520"/>
          </a:xfrm>
          <a:prstGeom prst="ellipse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600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AFAF5"/>
                </a:solidFill>
              </a:defRPr>
            </a:pPr>
            <a:r>
              <a:t>Gemini</a:t>
            </a:r>
            <a:br/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THE ROUTING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2344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Each AI excels at different scales. Claude handles design &amp; judgment. Codex powers the heavy lifting (code 500+ lines). Gemini verifies &amp; documents.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exec_orch decides who works based on: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• Task size &amp; complexity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• Token budget remaining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• API quota status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• Time-to-completion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SPECS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1887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1">
                <a:solidFill>
                  <a:srgbClr val="555555"/>
                </a:solidFill>
              </a:defRPr>
            </a:pPr>
            <a:r>
              <a:t>◆ Workers: 6 total</a:t>
            </a:r>
          </a:p>
          <a:p>
            <a:pPr>
              <a:spcBef>
                <a:spcPts val="300"/>
              </a:spcBef>
              <a:defRPr sz="900" b="1">
                <a:solidFill>
                  <a:srgbClr val="555555"/>
                </a:solidFill>
              </a:defRPr>
            </a:pPr>
            <a:r>
              <a:t>◆ Queue: .claude/tasks/</a:t>
            </a:r>
          </a:p>
          <a:p>
            <a:pPr>
              <a:spcBef>
                <a:spcPts val="300"/>
              </a:spcBef>
              <a:defRPr sz="900" b="1">
                <a:solidFill>
                  <a:srgbClr val="555555"/>
                </a:solidFill>
              </a:defRPr>
            </a:pPr>
            <a:r>
              <a:t>◆ Locks: .lock files</a:t>
            </a:r>
          </a:p>
          <a:p>
            <a:pPr>
              <a:spcBef>
                <a:spcPts val="300"/>
              </a:spcBef>
              <a:defRPr sz="900" b="1">
                <a:solidFill>
                  <a:srgbClr val="555555"/>
                </a:solidFill>
              </a:defRPr>
            </a:pPr>
            <a:r>
              <a:t>◆ Heartbeat: 5min</a:t>
            </a:r>
          </a:p>
          <a:p>
            <a:pPr>
              <a:spcBef>
                <a:spcPts val="300"/>
              </a:spcBef>
              <a:defRPr sz="900" b="1">
                <a:solidFill>
                  <a:srgbClr val="555555"/>
                </a:solidFill>
              </a:defRPr>
            </a:pPr>
            <a:r>
              <a:t>◆ Backoff: 10m-2h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FF8C00"/>
                </a:solidFill>
                <a:latin typeface="Malgun Gothic"/>
              </a:defRPr>
            </a:pPr>
            <a:r>
              <a:t>Each AI has a job.</a:t>
            </a:r>
            <a:br/>
            <a:r>
              <a:t>The engine keeps them in their lane.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Source: plugins/exec_orch/plugin.json, route_dispatch.md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01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05/20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8C00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23060"/>
            <a:ext cx="2103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731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plugins/ → sync → .claude/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1887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Edit only in plugins/. The sync script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mirrors to .claude/ (commands, skills, etc).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This eliminates drift &amp; manual conflicts.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All changes committed together: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git add plugins/ .claude/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git commit -m "feat: ..."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.claude/ files are auto-generated.</a:t>
            </a:r>
          </a:p>
          <a:p>
            <a:pPr>
              <a:spcBef>
                <a:spcPts val="200"/>
              </a:spcBef>
              <a:defRPr sz="950">
                <a:solidFill>
                  <a:srgbClr val="555555"/>
                </a:solidFill>
              </a:defRPr>
            </a:pPr>
            <a:r>
              <a:t>Editing there = lost on next sync.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EDIT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18872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2AA15E"/>
                </a:solidFill>
              </a:defRPr>
            </a:pPr>
            <a:r>
              <a:t>plugins/ ✓ YES</a:t>
            </a:r>
          </a:p>
          <a:p>
            <a:pPr>
              <a:spcBef>
                <a:spcPts val="300"/>
              </a:spcBef>
              <a:defRPr sz="850">
                <a:solidFill>
                  <a:srgbClr val="E13B2A"/>
                </a:solidFill>
              </a:defRPr>
            </a:pPr>
            <a:r>
              <a:t>.claude/cmd ✗ NO</a:t>
            </a:r>
          </a:p>
          <a:p>
            <a:pPr>
              <a:spcBef>
                <a:spcPts val="300"/>
              </a:spcBef>
              <a:defRPr sz="850">
                <a:solidFill>
                  <a:srgbClr val="E13B2A"/>
                </a:solidFill>
              </a:defRPr>
            </a:pPr>
            <a:r>
              <a:t>.claude/skill ✗ NO</a:t>
            </a:r>
          </a:p>
          <a:p>
            <a:pPr>
              <a:spcBef>
                <a:spcPts val="300"/>
              </a:spcBef>
              <a:defRPr sz="850">
                <a:solidFill>
                  <a:srgbClr val="2AA15E"/>
                </a:solidFill>
              </a:defRPr>
            </a:pPr>
            <a:r>
              <a:t>.claude/scripts ✓ YES</a:t>
            </a:r>
          </a:p>
          <a:p>
            <a:pPr>
              <a:spcBef>
                <a:spcPts val="300"/>
              </a:spcBef>
              <a:defRPr sz="850">
                <a:solidFill>
                  <a:srgbClr val="2AA15E"/>
                </a:solidFill>
              </a:defRPr>
            </a:pPr>
            <a:r>
              <a:t>.claude/hooks ✓ 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FF8C00"/>
                </a:solidFill>
                <a:latin typeface="Malgun Gothic"/>
              </a:defRPr>
            </a:pPr>
            <a:r>
              <a:t>If it's not in plugins/, it doesn't exist.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Principle: Single Source of Truth (SSOT) prevents drift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01 · FUTURE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06/20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1F6FB6"/>
                </a:solidFill>
                <a:latin typeface="Consolas"/>
              </a:defRPr>
            </a:pPr>
            <a: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PLANNED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21031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8C00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24912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ACTIVE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40"/>
            <a:ext cx="21031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8E44AD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05072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IN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731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PHASE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2344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555555"/>
                </a:solidFill>
              </a:defRPr>
            </a:pPr>
            <a:r>
              <a:t>▸ Phase 1 (Q2): 14 stable</a:t>
            </a:r>
            <a:br/>
            <a:r>
              <a:t>  Status: Complete</a:t>
            </a:r>
          </a:p>
          <a:p>
            <a:pPr>
              <a:spcBef>
                <a:spcPts val="300"/>
              </a:spcBef>
              <a:defRPr sz="1000">
                <a:solidFill>
                  <a:srgbClr val="555555"/>
                </a:solidFill>
              </a:defRPr>
            </a:pPr>
            <a:r>
              <a:t>▸ Phase 2 (Q3): 10 spec-only</a:t>
            </a:r>
            <a:br/>
            <a:r>
              <a:t>  Status: In spec</a:t>
            </a:r>
          </a:p>
          <a:p>
            <a:pPr>
              <a:spcBef>
                <a:spcPts val="300"/>
              </a:spcBef>
              <a:defRPr sz="1000">
                <a:solidFill>
                  <a:srgbClr val="555555"/>
                </a:solidFill>
              </a:defRPr>
            </a:pPr>
            <a:r>
              <a:t>▸ Phase 3 (Q4): 2+ major</a:t>
            </a:r>
            <a:br/>
            <a:r>
              <a:t>  Status: Design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PHASE 3 IDEAS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18872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● cost_*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● perf_*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● growth_*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● ai_*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● sec_*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● infra_*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FF8C00"/>
                </a:solidFill>
                <a:latin typeface="Malgun Gothic"/>
              </a:defRPr>
            </a:pPr>
            <a:r>
              <a:t>14 stars today.</a:t>
            </a:r>
            <a:br/>
            <a:r>
              <a:t>40 constellations tomorrow.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Roadmap: docs/2026-04-19/로드맵.md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13B2A"/>
          </a:solidFill>
          <a:ln>
            <a:solidFill>
              <a:srgbClr val="E13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02 · THE INFLECTION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07/20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2286000"/>
          </a:xfrm>
          <a:prstGeom prst="rect">
            <a:avLst/>
          </a:prstGeom>
          <a:solidFill>
            <a:srgbClr val="0A0A0A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AFAF5"/>
                </a:solidFill>
                <a:latin typeface="Malgun Gothic"/>
              </a:defRPr>
            </a:pPr>
            <a:r>
              <a:t>OPUS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5C62F"/>
                </a:solidFill>
              </a:defRPr>
            </a:pPr>
            <a:r>
              <a:t>April 22, 2026 — The Premise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E13B2A"/>
                </a:solidFill>
                <a:latin typeface="Consolas"/>
              </a:defRPr>
            </a:pPr>
            <a:r>
              <a:t>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</a:defRPr>
            </a:pPr>
            <a:r>
              <a:t>Context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8C00"/>
                </a:solidFill>
                <a:latin typeface="Consolas"/>
              </a:defRPr>
            </a:pPr>
            <a:r>
              <a:t>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</a:defRPr>
            </a:pPr>
            <a:r>
              <a:t>Thinking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2AA15E"/>
                </a:solidFill>
                <a:latin typeface="Consolas"/>
              </a:defRPr>
            </a:pPr>
            <a: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</a:defRPr>
            </a:pPr>
            <a:r>
              <a:t>Caching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F6FB6"/>
                </a:solidFill>
                <a:latin typeface="Consolas"/>
              </a:defRPr>
            </a:pPr>
            <a:r>
              <a:t>$0.8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</a:defRPr>
            </a:pPr>
            <a:r>
              <a:t>Haiku per 1M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 b="1">
                <a:solidFill>
                  <a:srgbClr val="E13B2A"/>
                </a:solidFill>
                <a:latin typeface="Malgun Gothic"/>
              </a:defRPr>
            </a:pPr>
            <a:r>
              <a:t>The cost math inverted overnight.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07/20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Opus 4.7 pricing: $15/1M in, $75/1M out. Cache: $0.30/1M reads, 90% discount.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13B2A"/>
          </a:solidFill>
          <a:ln>
            <a:solidFill>
              <a:srgbClr val="E13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02 ·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08/20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8600" y="640080"/>
            <a:ext cx="4114800" cy="5486400"/>
          </a:xfrm>
          <a:prstGeom prst="rect">
            <a:avLst/>
          </a:prstGeom>
          <a:solidFill>
            <a:srgbClr val="FFF0F0"/>
          </a:solidFill>
          <a:ln w="25400">
            <a:solidFill>
              <a:srgbClr val="E13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13B2A"/>
                </a:solidFill>
              </a:defRPr>
            </a:pPr>
            <a:r>
              <a:t>BEFORE 04-20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344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Plugins: 5 stable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Context: 100K typical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Cost/mo: $1200+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Backoff: Linear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SoT: Manual sync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Workers: 2 Codex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640080"/>
            <a:ext cx="4114800" cy="5486400"/>
          </a:xfrm>
          <a:prstGeom prst="rect">
            <a:avLst/>
          </a:prstGeom>
          <a:solidFill>
            <a:srgbClr val="F0FFF0"/>
          </a:solidFill>
          <a:ln w="25400">
            <a:solidFill>
              <a:srgbClr val="2A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7772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A15E"/>
                </a:solidFill>
              </a:defRPr>
            </a:pPr>
            <a:r>
              <a:t>AFTER 04-23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2344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Plugins: 14 stable + 10 spec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Context: 1M (100×)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Cost/mo: $180 (85% ↓)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Backoff: Exponential 10m-2h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SoT: Automated sync</a:t>
            </a:r>
          </a:p>
          <a:p>
            <a:pPr>
              <a:spcBef>
                <a:spcPts val="500"/>
              </a:spcBef>
              <a:defRPr sz="1000">
                <a:solidFill>
                  <a:srgbClr val="555555"/>
                </a:solidFill>
              </a:defRPr>
            </a:pPr>
            <a:r>
              <a:t>• Workers: 4 Claude + 2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029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2AA15E"/>
                </a:solidFill>
              </a:defRPr>
            </a:pPr>
            <a:r>
              <a:t>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212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2AA15E"/>
                </a:solidFill>
                <a:latin typeface="Malgun Gothic"/>
              </a:defRPr>
            </a:pPr>
            <a:r>
              <a:t>Not rebuilt. Absorbed.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3093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2AA15E"/>
                </a:solidFill>
              </a:defRPr>
            </a:pPr>
            <a:r>
              <a:t>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Context window 100K → 1M. Caching: 90% discount on cache reads. Cost: $1200 → $180/mo equivalent usage.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09/20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6217920"/>
          </a:xfrm>
          <a:prstGeom prst="rect">
            <a:avLst/>
          </a:prstGeom>
          <a:solidFill>
            <a:srgbClr val="FFF9E6"/>
          </a:solidFill>
          <a:ln>
            <a:solidFill>
              <a:srgbClr val="FFF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WHAT GOT ADDED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19" y="1234439"/>
            <a:ext cx="1463040" cy="822960"/>
          </a:xfrm>
          <a:prstGeom prst="roundRect">
            <a:avLst/>
          </a:prstGeom>
          <a:solidFill>
            <a:srgbClr val="E13B2A"/>
          </a:solidFill>
          <a:ln>
            <a:solidFill>
              <a:srgbClr val="E13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234439"/>
            <a:ext cx="1463040" cy="82296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691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234439"/>
            <a:ext cx="1463040" cy="822960"/>
          </a:xfrm>
          <a:prstGeom prst="roundRect">
            <a:avLst/>
          </a:prstGeom>
          <a:solidFill>
            <a:srgbClr val="F5C62F"/>
          </a:solidFill>
          <a:ln>
            <a:solidFill>
              <a:srgbClr val="F5C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2,061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1691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4999" y="1234439"/>
            <a:ext cx="1463040" cy="822960"/>
          </a:xfrm>
          <a:prstGeom prst="round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19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19" y="1691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1234439"/>
            <a:ext cx="1463040" cy="82296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280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33/33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691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19" y="2331720"/>
            <a:ext cx="1463040" cy="822960"/>
          </a:xfrm>
          <a:prstGeom prst="roundRect">
            <a:avLst/>
          </a:prstGeom>
          <a:solidFill>
            <a:srgbClr val="E13B2A"/>
          </a:solidFill>
          <a:ln>
            <a:solidFill>
              <a:srgbClr val="E13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37743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SAVINGS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0280" y="2331720"/>
            <a:ext cx="1463040" cy="82296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237743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10-2h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BACKOFF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2331720"/>
            <a:ext cx="1463040" cy="822960"/>
          </a:xfrm>
          <a:prstGeom prst="roundRect">
            <a:avLst/>
          </a:prstGeom>
          <a:solidFill>
            <a:srgbClr val="F5C62F"/>
          </a:solidFill>
          <a:ln>
            <a:solidFill>
              <a:srgbClr val="F5C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59" y="237743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59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PLUGINS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4999" y="2331720"/>
            <a:ext cx="1463040" cy="822960"/>
          </a:xfrm>
          <a:prstGeom prst="round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19" y="237743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19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VALIDATORS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59" y="2331720"/>
            <a:ext cx="1463040" cy="82296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237743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AFAF5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FAF5"/>
                </a:solidFill>
              </a:defRPr>
            </a:pPr>
            <a:r>
              <a:t>BREAKING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651760"/>
            <a:ext cx="731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</a:defRPr>
            </a:pPr>
            <a:r>
              <a:t>Phase 1+2</a:t>
            </a:r>
            <a:br/>
            <a:r>
              <a:t>@ a glance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FF8C00"/>
                </a:solidFill>
                <a:latin typeface="Malgun Gothic"/>
              </a:defRPr>
            </a:pPr>
            <a:r>
              <a:t>Everything happened at once.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Snapshot: orca.db + .claude/ structure + Phase 1 plugins complete + Phase 2 spec absorbed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10/20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1F6FB6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23060"/>
            <a:ext cx="2103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731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orca.db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workers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  ├─ id, name, status, heartbeat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tasks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  ├─ id, plugin, status, created_at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queue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  ├─ id, task_id, priority, status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completions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  ├─ id, task_id, output, error, duration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metrics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  ├─ timestamp, token_count, cost, ai_model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logs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  ├─ id, level, message, timestamp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quota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  ├─ ai_model, remaining, next_reset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heartbeats</a:t>
            </a:r>
          </a:p>
          <a:p>
            <a:pPr>
              <a:defRPr sz="800">
                <a:solidFill>
                  <a:srgbClr val="555555"/>
                </a:solidFill>
                <a:latin typeface="Consolas"/>
              </a:defRPr>
            </a:pPr>
            <a:r>
              <a:t>  ├─ worker_id, timestamp,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1887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◆ State tracking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■ Task queue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◉ Priorities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▲ Results store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● Observability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◊ History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□ Rate limiting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▸ Health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1F6FB6"/>
                </a:solidFill>
              </a:defRPr>
            </a:pPr>
            <a:r>
              <a:t>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1F6FB6"/>
                </a:solidFill>
                <a:latin typeface="Malgun Gothic"/>
              </a:defRPr>
            </a:pPr>
            <a:r>
              <a:t>One file. Eight tables.</a:t>
            </a:r>
            <a:br/>
            <a:r>
              <a:t>Zero race conditions.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1F6FB6"/>
                </a:solidFill>
              </a:defRPr>
            </a:pPr>
            <a:r>
              <a:t>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orca.db: ~/.claude/orca/orca.db (SQLite, journaled, ACID-compliant)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11/20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8C0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23060"/>
            <a:ext cx="2103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MIN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731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0A0A"/>
                </a:solidFill>
              </a:defRPr>
            </a:pPr>
            <a:r>
              <a:t>BACKOFF CURVE (exponential)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1887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  <a:latin typeface="Consolas"/>
              </a:defRPr>
            </a:pPr>
            <a:r>
              <a:t>Attempt 1: 10 min wait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  <a:latin typeface="Consolas"/>
              </a:defRPr>
            </a:pPr>
            <a:r>
              <a:t>Attempt 2: 20 min wait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  <a:latin typeface="Consolas"/>
              </a:defRPr>
            </a:pPr>
            <a:r>
              <a:t>Attempt 3: 40 min wait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  <a:latin typeface="Consolas"/>
              </a:defRPr>
            </a:pPr>
            <a:r>
              <a:t>Attempt 4: 80 min wait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  <a:latin typeface="Consolas"/>
              </a:defRPr>
            </a:pPr>
            <a:r>
              <a:t>Attempt 5: 120 min (cap) wait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  <a:latin typeface="Consolas"/>
              </a:defRPr>
            </a:pPr>
            <a:r>
              <a:t>Max: 2 hours per dead worker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  <a:latin typeface="Consolas"/>
              </a:defRPr>
            </a:pPr>
            <a:r>
              <a:t>Resets on: Successful task 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1887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 b="1">
                <a:solidFill>
                  <a:srgbClr val="2AA15E"/>
                </a:solidFill>
              </a:defRPr>
            </a:pPr>
            <a:r>
              <a:t>✓ Auto-restart</a:t>
            </a:r>
          </a:p>
          <a:p>
            <a:pPr>
              <a:spcBef>
                <a:spcPts val="300"/>
              </a:spcBef>
              <a:defRPr sz="950" b="1">
                <a:solidFill>
                  <a:srgbClr val="2AA15E"/>
                </a:solidFill>
              </a:defRPr>
            </a:pPr>
            <a:r>
              <a:t>✓ Heartbeat check</a:t>
            </a:r>
          </a:p>
          <a:p>
            <a:pPr>
              <a:spcBef>
                <a:spcPts val="300"/>
              </a:spcBef>
              <a:defRPr sz="950" b="1">
                <a:solidFill>
                  <a:srgbClr val="2AA15E"/>
                </a:solidFill>
              </a:defRPr>
            </a:pPr>
            <a:r>
              <a:t>✓ Dead detection</a:t>
            </a:r>
          </a:p>
          <a:p>
            <a:pPr>
              <a:spcBef>
                <a:spcPts val="300"/>
              </a:spcBef>
              <a:defRPr sz="950" b="1">
                <a:solidFill>
                  <a:srgbClr val="2AA15E"/>
                </a:solidFill>
              </a:defRPr>
            </a:pPr>
            <a:r>
              <a:t>✓ Exp. backoff</a:t>
            </a:r>
          </a:p>
          <a:p>
            <a:pPr>
              <a:spcBef>
                <a:spcPts val="300"/>
              </a:spcBef>
              <a:defRPr sz="950" b="1">
                <a:solidFill>
                  <a:srgbClr val="2AA15E"/>
                </a:solidFill>
              </a:defRPr>
            </a:pPr>
            <a:r>
              <a:t>✓ Grace period</a:t>
            </a:r>
          </a:p>
          <a:p>
            <a:pPr>
              <a:spcBef>
                <a:spcPts val="300"/>
              </a:spcBef>
              <a:defRPr sz="950" b="1">
                <a:solidFill>
                  <a:srgbClr val="2AA15E"/>
                </a:solidFill>
              </a:defRPr>
            </a:pPr>
            <a:r>
              <a:t>✓ Alert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FF8C00"/>
                </a:solidFill>
                <a:latin typeface="Malgun Gothic"/>
              </a:defRPr>
            </a:pPr>
            <a:r>
              <a:t>Dead workers don't stay dead.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Watchdog: .claude/scripts/orca-watchdog.sh (runs every 2 min, infinite loop)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ROUTING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12/20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DECISION TREE: Budget OK? → Model Fit → AI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[START] Budget remaining?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YES → [AI SELECTION]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├─ Task size &lt; 5K tokens? → Gemini (verify, docs)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├─ Task size 5K-500K? → Sonnet (balance)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├─ Task size &gt; 500K? → Claude Opus 4.7 (design, judgment)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└─ Code &gt; 500 lines? → Codex (implementation) + Claude review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NO → [FALLBACK]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├─ Quota exceeded? → Use Claude direct (cache hit)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├─ Time critical? → Haiku 4.5 (fast inference)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└─ Else → Queue &amp; retry later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[RESULT] Task → Queue → Assigned worker → Execution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     │              │                    └─ Log metrics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         └─ Status update → .claude/state/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88880"/>
                </a:solidFill>
              </a:defRPr>
            </a:pPr>
            <a:r>
              <a:t>Models: Opus (red) | Sonnet (orange) | Haiku (blue) | Codex (purple) | Gemini (green)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Route logic: plugins/exec_orch/skills/route_dispatch.md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AI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13/20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AI MODEL MATRIX — Price, Context,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Consolas"/>
              </a:defRPr>
            </a:pPr>
          </a:p>
          <a:p>
            <a:pPr>
              <a:defRPr sz="850" b="1">
                <a:solidFill>
                  <a:srgbClr val="555555"/>
                </a:solidFill>
                <a:latin typeface="Consolas"/>
              </a:defRPr>
            </a:pPr>
            <a:r>
              <a:t>Metric              Opus 4.7     Sonnet 4.6   Haiku 4.5    Codex 4     Gemini Flash</a:t>
            </a:r>
          </a:p>
          <a:p>
            <a:pPr>
              <a:defRPr sz="850" b="1">
                <a:solidFill>
                  <a:srgbClr val="555555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850">
                <a:solidFill>
                  <a:srgbClr val="555555"/>
                </a:solidFill>
                <a:latin typeface="Consolas"/>
              </a:defRPr>
            </a:pPr>
            <a:r>
              <a:t>In Price/1M         $15.00       $3.00        $0.80        $4.00       $0.075</a:t>
            </a:r>
          </a:p>
          <a:p>
            <a:pPr>
              <a:defRPr sz="850">
                <a:solidFill>
                  <a:srgbClr val="555555"/>
                </a:solidFill>
                <a:latin typeface="Consolas"/>
              </a:defRPr>
            </a:pPr>
            <a:r>
              <a:t>Out Price/1M        $75.00       $12.00       $4.00        $9.00       $0.30</a:t>
            </a:r>
          </a:p>
          <a:p>
            <a:pPr>
              <a:defRPr sz="850">
                <a:solidFill>
                  <a:srgbClr val="555555"/>
                </a:solidFill>
                <a:latin typeface="Consolas"/>
              </a:defRPr>
            </a:pPr>
            <a:r>
              <a:t>Context Window      1M tokens    200K         128K         8K          1M</a:t>
            </a:r>
          </a:p>
          <a:p>
            <a:pPr>
              <a:defRPr sz="850">
                <a:solidFill>
                  <a:srgbClr val="555555"/>
                </a:solidFill>
                <a:latin typeface="Consolas"/>
              </a:defRPr>
            </a:pPr>
            <a:r>
              <a:t>Cache Hit %         90%          90%          90%          —           85%</a:t>
            </a:r>
          </a:p>
          <a:p>
            <a:pPr>
              <a:defRPr sz="850">
                <a:solidFill>
                  <a:srgbClr val="555555"/>
                </a:solidFill>
                <a:latin typeface="Consolas"/>
              </a:defRPr>
            </a:pPr>
            <a:r>
              <a:t>24h Score           9/10         8/10         7/10         6/10        5/10</a:t>
            </a:r>
          </a:p>
          <a:p>
            <a:pPr>
              <a:defRPr sz="850">
                <a:solidFill>
                  <a:srgbClr val="555555"/>
                </a:solidFill>
                <a:latin typeface="Consolas"/>
              </a:defRPr>
            </a:pPr>
            <a:r>
              <a:t>Batch API           Yes          Yes          —            —           —</a:t>
            </a:r>
          </a:p>
          <a:p>
            <a:pPr>
              <a:defRPr sz="850">
                <a:solidFill>
                  <a:srgbClr val="555555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754880" y="5029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1F6FB6"/>
                </a:solidFill>
              </a:defRPr>
            </a:pPr>
            <a:r>
              <a:t>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212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1F6FB6"/>
                </a:solidFill>
                <a:latin typeface="Malgun Gothic"/>
              </a:defRPr>
            </a:pPr>
            <a:r>
              <a:t>Choose the right AI for the job.</a:t>
            </a:r>
            <a:br/>
            <a:r>
              <a:t>Cost follows precision.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3093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1F6FB6"/>
                </a:solidFill>
              </a:defRPr>
            </a:pPr>
            <a:r>
              <a:t>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Prices effective April 23, 2026. Context: 1M achievable via Opus 4.7 + caching.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CACHING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14/20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2AA15E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23060"/>
            <a:ext cx="2103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24H SAVED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731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0A0A"/>
                </a:solidFill>
              </a:defRPr>
            </a:pPr>
            <a:r>
              <a:t>COST PER 1M TOKENS (Haiku)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2344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onsolas"/>
              </a:defRPr>
            </a:pPr>
            <a:r>
              <a:t>No Cache         5-min TTL        1-hour TTL</a:t>
            </a:r>
          </a:p>
          <a:p>
            <a:pPr>
              <a:defRPr sz="900">
                <a:solidFill>
                  <a:srgbClr val="555555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defRPr sz="900">
                <a:solidFill>
                  <a:srgbClr val="555555"/>
                </a:solidFill>
                <a:latin typeface="Consolas"/>
              </a:defRPr>
            </a:pPr>
            <a:r>
              <a:t>$4.00            $0.80 (-80%)     $0.46 (-88%)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Use case selection: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• Session-based (5-10 min): Code review loops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• Batch processing (1h): Multi-task runs</a:t>
            </a:r>
          </a:p>
          <a:p>
            <a:pPr>
              <a:spcBef>
                <a:spcPts val="200"/>
              </a:spcBef>
              <a:defRPr sz="900">
                <a:solidFill>
                  <a:srgbClr val="555555"/>
                </a:solidFill>
              </a:defRPr>
            </a:pPr>
            <a:r>
              <a:t>• Long-term (24h): Static reference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1887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Cost = (prompt + cache_new) × in_price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+ (cache_hits) × cache_price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+ output × out_price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cache_price = in_price × 0.10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Example (Opus):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100K prompt: $1.50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50K cached reads: $0.075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10K output: $0.75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────────────────</a:t>
            </a:r>
          </a:p>
          <a:p>
            <a:pPr>
              <a:spcBef>
                <a:spcPts val="10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Total: $2.325 (-85% vs uncached)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2AA15E"/>
                </a:solidFill>
              </a:defRPr>
            </a:pPr>
            <a:r>
              <a:t>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2AA15E"/>
                </a:solidFill>
                <a:latin typeface="Malgun Gothic"/>
              </a:defRPr>
            </a:pPr>
            <a:r>
              <a:t>Cache is free money.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2AA15E"/>
                </a:solidFill>
              </a:defRPr>
            </a:pPr>
            <a:r>
              <a:t>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Cache read cost: 10% of input token price. TTL: 5 minutes to 24 hours.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CONTINUOUS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15/20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ORCHESTRATION FLOW — 24/7 Automated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1. [TRIGGER]  User submits task → ~/.claude/orca/incoming/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↓ Time: Real-time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2. [SCAN]     Orca dispatcher polls every 30s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Detects new task file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↓ Time: &lt;1 min latency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3. [ROUTE]    exec_orch evaluates: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• Budget (remaining tokens)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• Model fit (task size)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• Quota (rate limits)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↓ Time: 5-10 seconds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4. [QUEUE]    Task moved to .claude/tasks/queue/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Lock file created (.lock)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↓ Time: &lt;1 second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5. [ASSIGN]   Worker picked (round-robin + health)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.claude/state/worker-N.json updated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↓ Time: 1-2 seconds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6. [EXECUTE]  Worker runs task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Logs written to orca.db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↓ Time: 30s - 5min (task-dependent)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7. [RESULT]   Output written to task file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Lock released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↓ Time: &lt;1 second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8. [METRICS]  Cost, token count, duration logged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           Backoff reset if successful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   ↓ Time: &lt;1 second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  <a:r>
              <a:t>[LOOP] All tasks processed → Return to step 2 (continuous)</a:t>
            </a:r>
          </a:p>
          <a:p>
            <a:pPr>
              <a:spcBef>
                <a:spcPts val="0"/>
              </a:spcBef>
              <a:defRPr sz="800">
                <a:solidFill>
                  <a:srgbClr val="555555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Total cycle time: 30s-5min per task (dominated by execution, not routing)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16/20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CLI TOOLKIT — Setup · Observe · Respond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AFAF5"/>
                </a:solidFill>
              </a:defRPr>
            </a:pPr>
            <a: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$ orca-dispatch &lt;file&gt; [ai]</a:t>
            </a:r>
          </a:p>
          <a:p>
            <a:pPr>
              <a:spcBef>
                <a:spcPts val="4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$ orca-enable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234440"/>
            <a:ext cx="3840480" cy="320040"/>
          </a:xfrm>
          <a:prstGeom prst="rect">
            <a:avLst/>
          </a:prstGeom>
          <a:solidFill>
            <a:srgbClr val="2AA15E"/>
          </a:solidFill>
          <a:ln>
            <a:solidFill>
              <a:srgbClr val="2A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2801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AFAF5"/>
                </a:solidFill>
              </a:defRPr>
            </a:pPr>
            <a: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64592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$ orca-status</a:t>
            </a:r>
          </a:p>
          <a:p>
            <a:pPr>
              <a:spcBef>
                <a:spcPts val="4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$ orca-metrics --24h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840480" cy="32004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0332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AFAF5"/>
                </a:solidFill>
              </a:defRPr>
            </a:pPr>
            <a:r>
              <a:t>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$ orca-retry &lt;task_id&gt;</a:t>
            </a:r>
          </a:p>
          <a:p>
            <a:pPr>
              <a:spcBef>
                <a:spcPts val="4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$ orca-quota-check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657600"/>
            <a:ext cx="3840480" cy="320040"/>
          </a:xfrm>
          <a:prstGeom prst="rect">
            <a:avLst/>
          </a:prstGeom>
          <a:solidFill>
            <a:srgbClr val="E13B2A"/>
          </a:solidFill>
          <a:ln>
            <a:solidFill>
              <a:srgbClr val="E13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70332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AFAF5"/>
                </a:solidFill>
              </a:defRPr>
            </a:pPr>
            <a:r>
              <a:t>EMERGENCY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06908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$ orca-stop</a:t>
            </a:r>
          </a:p>
          <a:p>
            <a:pPr>
              <a:spcBef>
                <a:spcPts val="400"/>
              </a:spcBef>
              <a:defRPr sz="850">
                <a:solidFill>
                  <a:srgbClr val="555555"/>
                </a:solidFill>
                <a:latin typeface="Consolas"/>
              </a:defRPr>
            </a:pPr>
            <a:r>
              <a:t>$ orca-reset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2344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</a:defRPr>
            </a:pPr>
            <a:r>
              <a:t>24H</a:t>
            </a:r>
            <a:br/>
            <a:r>
              <a:t>AUTO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8463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029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FF8C00"/>
                </a:solidFill>
                <a:latin typeface="Malgun Gothic"/>
              </a:defRPr>
            </a:pPr>
            <a:r>
              <a:t>Two commands start it.</a:t>
            </a:r>
            <a:br/>
            <a:r>
              <a:t>Two commands save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1264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F8C00"/>
                </a:solidFill>
              </a:defRPr>
            </a:pPr>
            <a:r>
              <a:t>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Scripts: .claude/scripts/orca-*.sh (executable from .claude/)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6FB6"/>
          </a:solidFill>
          <a:ln>
            <a:solidFill>
              <a:srgbClr val="1F6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17/20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SQL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555555"/>
                </a:solidFill>
                <a:latin typeface="Consolas"/>
              </a:defRPr>
            </a:pPr>
            <a:r>
              <a:t>SELECT ai_model,</a:t>
            </a:r>
          </a:p>
          <a:p>
            <a:pPr>
              <a:defRPr sz="750">
                <a:solidFill>
                  <a:srgbClr val="555555"/>
                </a:solidFill>
                <a:latin typeface="Consolas"/>
              </a:defRPr>
            </a:pPr>
            <a:r>
              <a:t>       SUM(tokens) as total,</a:t>
            </a:r>
          </a:p>
          <a:p>
            <a:pPr>
              <a:defRPr sz="750">
                <a:solidFill>
                  <a:srgbClr val="555555"/>
                </a:solidFill>
                <a:latin typeface="Consolas"/>
              </a:defRPr>
            </a:pPr>
            <a:r>
              <a:t>       AVG(cost) as avg_cost</a:t>
            </a:r>
          </a:p>
          <a:p>
            <a:pPr>
              <a:defRPr sz="750">
                <a:solidFill>
                  <a:srgbClr val="555555"/>
                </a:solidFill>
                <a:latin typeface="Consolas"/>
              </a:defRPr>
            </a:pPr>
            <a:r>
              <a:t>FROM metrics</a:t>
            </a:r>
          </a:p>
          <a:p>
            <a:pPr>
              <a:defRPr sz="750">
                <a:solidFill>
                  <a:srgbClr val="555555"/>
                </a:solidFill>
                <a:latin typeface="Consolas"/>
              </a:defRPr>
            </a:pPr>
            <a:r>
              <a:t>WHERE timestamp</a:t>
            </a:r>
          </a:p>
          <a:p>
            <a:pPr>
              <a:defRPr sz="750">
                <a:solidFill>
                  <a:srgbClr val="555555"/>
                </a:solidFill>
                <a:latin typeface="Consolas"/>
              </a:defRPr>
            </a:pPr>
            <a:r>
              <a:t>  &gt; datetime('now','-24h')</a:t>
            </a:r>
          </a:p>
          <a:p>
            <a:pPr>
              <a:defRPr sz="750">
                <a:solidFill>
                  <a:srgbClr val="555555"/>
                </a:solidFill>
                <a:latin typeface="Consolas"/>
              </a:defRPr>
            </a:pPr>
            <a:r>
              <a:t>GROUP BY ai_model;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731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0A0A"/>
                </a:solidFill>
              </a:defRPr>
            </a:pPr>
            <a:r>
              <a:t>RESULT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Cost by AI (24h):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Claude   ████████░ $85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Codex    ██░░░░░░░ $22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Gemini   █░░░░░░░░  $8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Sonnet   ███░░░░░░ $34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Top queries: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• Cost/AI model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• Success rate %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• Average latency</a:t>
            </a:r>
          </a:p>
          <a:p>
            <a:pPr>
              <a:spcBef>
                <a:spcPts val="100"/>
              </a:spcBef>
              <a:defRPr sz="850">
                <a:solidFill>
                  <a:srgbClr val="555555"/>
                </a:solidFill>
              </a:defRPr>
            </a:pPr>
            <a:r>
              <a:t>• Token usage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0972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Measure what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you manage.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Track cost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trends. Catch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budget drifts.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Find bottlenecks.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Optimize AI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selection.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Reset quotas.</a:t>
            </a:r>
          </a:p>
          <a:p>
            <a:pPr>
              <a:spcBef>
                <a:spcPts val="300"/>
              </a:spcBef>
              <a:defRPr sz="950" b="1">
                <a:solidFill>
                  <a:srgbClr val="555555"/>
                </a:solidFill>
              </a:defRPr>
            </a:pPr>
            <a:r>
              <a:t>Plan capacity.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8463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1F6FB6"/>
                </a:solidFill>
              </a:defRPr>
            </a:pPr>
            <a:r>
              <a:t>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029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1F6FB6"/>
                </a:solidFill>
                <a:latin typeface="Malgun Gothic"/>
              </a:defRPr>
            </a:pPr>
            <a:r>
              <a:t>Measure what you want to manage.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1264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1F6FB6"/>
                </a:solidFill>
              </a:defRPr>
            </a:pPr>
            <a:r>
              <a:t>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DB: ~/.claude/orca/orca.db (SQLite). Queries via orca-metrics CLI.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AA15E"/>
          </a:solidFill>
          <a:ln>
            <a:solidFill>
              <a:srgbClr val="2A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18/20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ORIGINAL 8 PRINCIPLES — Still 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✓ 1. SoT (Source of Truth): plugins/ is the origin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✓ 2. 500 lines max per file: Readability at all costs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✓ 3. Hooks for automation: Never hardcode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✓ 4. Modular plugins: Single responsibility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✓ 5. AI role clarity: Each AI has a lane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✓ 6. Explicit dependencies: No silent coupling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✓ 7. Monthly updates: Living documentation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✓ 8. Cost observability: Measure every cent</a:t>
            </a:r>
          </a:p>
          <a:p/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↻ NEW: 1M context + caching: Opus 4.7 game-changer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↻ NEW: Watchdog + backoff: Resilience as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8463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2AA15E"/>
                </a:solidFill>
              </a:defRPr>
            </a:pPr>
            <a:r>
              <a:t>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029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2AA15E"/>
                </a:solidFill>
                <a:latin typeface="Malgun Gothic"/>
              </a:defRPr>
            </a:pPr>
            <a:r>
              <a:t>The skeleton held.</a:t>
            </a:r>
            <a:br/>
            <a:r>
              <a:t>The muscles grew.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1264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2AA15E"/>
                </a:solidFill>
              </a:defRPr>
            </a:pPr>
            <a:r>
              <a:t>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Philosophy: Brij Kishore Pandey, CLAUDE.md § 5 Rules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</a:defRPr>
            </a:pPr>
            <a:r>
              <a:t>PART 03 ·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645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19/20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7432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3175">
            <a:solidFill>
              <a:srgbClr val="DD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731520"/>
            <a:ext cx="21031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8E44AD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23060"/>
            <a:ext cx="21031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5555"/>
                </a:solidFill>
                <a:latin typeface="Malgun Gothic"/>
              </a:defRPr>
            </a:pPr>
            <a:r>
              <a:t>SPEC-ONLY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731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0A0A"/>
                </a:solidFill>
              </a:defRPr>
            </a:pPr>
            <a:r>
              <a:t>PHASE 3 PIPELINE (Q4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1887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○ cost_optimizer — Token budgeting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○ perf_benchmarker — Latency profiling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○ growth_tracker — Scaling analysis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○ ai_agent_sdk — Native agents API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○ sec_vault — Secret management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○ infra_k8s — Kubernetes orchestration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○ vision_ocr — Document parsing</a:t>
            </a:r>
          </a:p>
          <a:p>
            <a:pPr>
              <a:spcBef>
                <a:spcPts val="300"/>
              </a:spcBef>
              <a:defRPr sz="900">
                <a:solidFill>
                  <a:srgbClr val="555555"/>
                </a:solidFill>
              </a:defRPr>
            </a:pPr>
            <a:r>
              <a:t>○ + 3 more (TBD)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731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8C00"/>
                </a:solidFill>
              </a:defRPr>
            </a:pPr>
            <a:r>
              <a:t>UNTAPPED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1887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 b="1">
                <a:solidFill>
                  <a:srgbClr val="8E44AD"/>
                </a:solidFill>
              </a:defRPr>
            </a:pPr>
            <a:r>
              <a:t>▸ Agent SDK</a:t>
            </a:r>
          </a:p>
          <a:p>
            <a:pPr>
              <a:spcBef>
                <a:spcPts val="400"/>
              </a:spcBef>
              <a:defRPr sz="950" b="1">
                <a:solidFill>
                  <a:srgbClr val="8E44AD"/>
                </a:solidFill>
              </a:defRPr>
            </a:pPr>
            <a:r>
              <a:t>▸ Artifacts</a:t>
            </a:r>
          </a:p>
          <a:p>
            <a:pPr>
              <a:spcBef>
                <a:spcPts val="400"/>
              </a:spcBef>
              <a:defRPr sz="950" b="1">
                <a:solidFill>
                  <a:srgbClr val="8E44AD"/>
                </a:solidFill>
              </a:defRPr>
            </a:pPr>
            <a:r>
              <a:t>▸ Files API</a:t>
            </a:r>
          </a:p>
          <a:p>
            <a:pPr>
              <a:spcBef>
                <a:spcPts val="400"/>
              </a:spcBef>
              <a:defRPr sz="950" b="1">
                <a:solidFill>
                  <a:srgbClr val="8E44AD"/>
                </a:solidFill>
              </a:defRPr>
            </a:pPr>
            <a:r>
              <a:t>▸ Vision (multi-modal)</a:t>
            </a:r>
          </a:p>
          <a:p>
            <a:pPr>
              <a:spcBef>
                <a:spcPts val="400"/>
              </a:spcBef>
              <a:defRPr sz="950" b="1">
                <a:solidFill>
                  <a:srgbClr val="8E44AD"/>
                </a:solidFill>
              </a:defRPr>
            </a:pPr>
            <a:r>
              <a:t>▸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663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8E44AD"/>
                </a:solidFill>
              </a:defRPr>
            </a:pPr>
            <a:r>
              <a:t>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46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 b="1">
                <a:solidFill>
                  <a:srgbClr val="8E44AD"/>
                </a:solidFill>
                <a:latin typeface="Malgun Gothic"/>
              </a:defRPr>
            </a:pPr>
            <a:r>
              <a:t>26 planned. 40 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9436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8E44AD"/>
                </a:solidFill>
              </a:defRPr>
            </a:pPr>
            <a:r>
              <a:t>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88880"/>
                </a:solidFill>
              </a:defRPr>
            </a:pPr>
            <a:r>
              <a:t>Roadmap: docs/2026-04-19/로드맵.md · Phase 1 (complete) · Phase 2 (in spec) · Phase 3 (design)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AFAF5"/>
                </a:solidFill>
                <a:latin typeface="Malgun Gothic"/>
              </a:defRPr>
            </a:pPr>
            <a:r>
              <a:t>5 CORE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737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8C00"/>
                </a:solidFill>
              </a:defRPr>
            </a:pPr>
            <a:r>
              <a:t>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7373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 b="1">
                <a:solidFill>
                  <a:srgbClr val="FF8C00"/>
                </a:solidFill>
              </a:defRPr>
            </a:pPr>
            <a:r>
              <a:t>One engine. Fourteen applications. Zero drift.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E13B2A"/>
                </a:solidFill>
              </a:defRPr>
            </a:pPr>
            <a:r>
              <a:t>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 b="1">
                <a:solidFill>
                  <a:srgbClr val="E13B2A"/>
                </a:solidFill>
              </a:defRPr>
            </a:pPr>
            <a:r>
              <a:t>The cost math inverted overnight.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1F6FB6"/>
                </a:solidFill>
              </a:defRPr>
            </a:pPr>
            <a:r>
              <a:t>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3832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 b="1">
                <a:solidFill>
                  <a:srgbClr val="1F6FB6"/>
                </a:solidFill>
              </a:defRPr>
            </a:pPr>
            <a:r>
              <a:t>Measure what you want to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2AA15E"/>
                </a:solidFill>
              </a:defRPr>
            </a:pPr>
            <a:r>
              <a:t>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062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 b="1">
                <a:solidFill>
                  <a:srgbClr val="2AA15E"/>
                </a:solidFill>
              </a:defRPr>
            </a:pPr>
            <a:r>
              <a:t>The skeleton held. The muscles grew.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8E44AD"/>
                </a:solidFill>
              </a:defRPr>
            </a:pPr>
            <a:r>
              <a:t>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0292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 b="1">
                <a:solidFill>
                  <a:srgbClr val="8E44AD"/>
                </a:solidFill>
              </a:defRPr>
            </a:pPr>
            <a:r>
              <a:t>26 planned. 40 possible.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88880"/>
                </a:solidFill>
              </a:defRPr>
            </a:pPr>
            <a:r>
              <a:t>Orchestration Kit v1 · 14 days · 14 stable plugins · 1M context · 90% cost savings</a:t>
            </a:r>
          </a:p>
          <a:p>
            <a:pPr algn="ctr">
              <a:defRPr sz="900">
                <a:solidFill>
                  <a:srgbClr val="888880"/>
                </a:solidFill>
              </a:defRPr>
            </a:pPr>
            <a:r>
              <a:t>2026-04-23 · Vol. 1 Issue 1 Premium Edition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─────── END OF REPORT 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0"/>
                </a:solidFill>
                <a:latin typeface="Consolas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