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Claude Code 완벽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한 장의 그림으로 보는 Claude Code 의 모든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orchestration_v1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1.  Claude Code 란 무엇인가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2.  6 레이어 아키텍처 — 케이크처럼 쌓인 시스템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3.  4 가지 Work Modes — 사용자가 만나는 4 개 얼굴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4.  Claude 모델 라인업 — Opus / Sonnet / Haiku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5.  Context System — AI 의 기억 장치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6.  Integrations &amp; Connectors — 외부 세계와 연결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7.  Create — 결과물을 만드는 3 가지 방식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8.  For Teams — 팀 사용 옵션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9.  마인드맵 — 한 장에 다 보기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Claude Code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터미널에서 동작하는 AI 코딩 에이전트.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단순 챗봇이 아니라 파일·MCP·하위 에이전트를 다루는 운영체제 레이어.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1. Claude Code 의 핵심 정체성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Anthropic 의 공식 CLI — npm i -g @anthropic-ai/claude-code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대화 ≠ 끝 — 파일 읽기·쓰기·편집·실행 모두 직접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~/.claude/, ./CLAUDE.md, .claude/ 세 영역으로 메모리 분리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Skills, Hooks, MCP, Sub-agents 가 1급 시민 (first-class)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가격: Pro $20 / Max5x $100 / Max20x $200 / API pay-per-use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한 줄 요약: "AI 동료가 당신 컴퓨터에 들어와 함께 일한다."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6 레이어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위에서 아래로 — 사용자에 가까울수록 위쪽,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인프라에 가까울수록 아래쪽.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2. Claude Code 의 7 층 케이크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05840"/>
            <a:ext cx="9601200" cy="809897"/>
          </a:xfrm>
          <a:prstGeom prst="rect">
            <a:avLst/>
          </a:prstGeom>
          <a:solidFill>
            <a:srgbClr val="F4D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" cy="809897"/>
          </a:xfrm>
          <a:prstGeom prst="rect">
            <a:avLst/>
          </a:prstGeom>
          <a:solidFill>
            <a:srgbClr val="AA9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005840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TOP — Workflow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05840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Architect  •  Creator  • 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15737"/>
            <a:ext cx="9601200" cy="809897"/>
          </a:xfrm>
          <a:prstGeom prst="rect">
            <a:avLst/>
          </a:prstGeom>
          <a:solidFill>
            <a:srgbClr val="D5C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15737"/>
            <a:ext cx="822960" cy="809897"/>
          </a:xfrm>
          <a:prstGeom prst="rect">
            <a:avLst/>
          </a:prstGeom>
          <a:solidFill>
            <a:srgbClr val="958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815737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LAYER 5 — Agent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15737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Multi-Agent  •  Sub-agents  •  Hooks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625634"/>
            <a:ext cx="9601200" cy="809897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25634"/>
            <a:ext cx="822960" cy="809897"/>
          </a:xfrm>
          <a:prstGeom prst="rect">
            <a:avLst/>
          </a:prstGeom>
          <a:solidFill>
            <a:srgbClr val="87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25634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LAYER 4 — Commands &amp; Shortcuts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25634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/help  •  /compact  •  @filename  •  Esc·Esc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35531"/>
            <a:ext cx="9601200" cy="809897"/>
          </a:xfrm>
          <a:prstGeom prst="rect">
            <a:avLst/>
          </a:prstGeom>
          <a:solidFill>
            <a:srgbClr val="C7E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35531"/>
            <a:ext cx="822960" cy="809897"/>
          </a:xfrm>
          <a:prstGeom prst="rect">
            <a:avLst/>
          </a:prstGeom>
          <a:solidFill>
            <a:srgbClr val="8BA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435531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LAYER 3 — MCP 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35531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USB-C for AI  •  200+ tools  •  GitHub·Slack·Notion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245428"/>
            <a:ext cx="9601200" cy="809897"/>
          </a:xfrm>
          <a:prstGeom prst="rect">
            <a:avLst/>
          </a:prstGeom>
          <a:solidFill>
            <a:srgbClr val="E8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45428"/>
            <a:ext cx="822960" cy="809897"/>
          </a:xfrm>
          <a:prstGeom prst="rect">
            <a:avLst/>
          </a:prstGeom>
          <a:solidFill>
            <a:srgbClr val="A29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245428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LAYER 2 — Skills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245428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~/.claude/skills/  •  auto-activate  •  SKILL.md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055325"/>
            <a:ext cx="9601200" cy="809897"/>
          </a:xfrm>
          <a:prstGeom prst="rect">
            <a:avLst/>
          </a:prstGeom>
          <a:solidFill>
            <a:srgbClr val="E8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55325"/>
            <a:ext cx="822960" cy="809897"/>
          </a:xfrm>
          <a:prstGeom prst="rect">
            <a:avLst/>
          </a:prstGeom>
          <a:solidFill>
            <a:srgbClr val="A28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055325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LAYER 1 — Memory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055325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CLAUDE.md  •  .claudeignore  •  Global·Project·Folder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865222"/>
            <a:ext cx="9601200" cy="809897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865222"/>
            <a:ext cx="822960" cy="809897"/>
          </a:xfrm>
          <a:prstGeom prst="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865222"/>
            <a:ext cx="32004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FOUNDATION — The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865222"/>
            <a:ext cx="5943600" cy="809897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File access  •  Hours-long tasks  •  Full 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4 가지 Work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Claude 를 만나는 4 개의 입구 — 용도에 따라 다른 입구를 선택.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3. Work Modes — 4 개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기본 대화창.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시작하기 가장 쉬움.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90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90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19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Cowork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47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내 PC 에 산다.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파일 읽고 문서 만듦.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개발자의 무기.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터미널에서 자율 실행.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96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68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68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7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Claude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5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지속적 폴더.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팀에 적합.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모델 라인업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한 종류 AI 가 아니라 4 종 — 작업 성격에 맞춰 사용.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4. Claude 모델 — 4 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Opus 4.7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최신·최강.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생각이 필요한 모든 것에.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90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90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19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Sonnet 4.6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47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빠르고 날렵함.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속도가 깊이보다 중요할 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Haiku 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초고속.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가볍고 저렴, 작은 작업에.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96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68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68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7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Extended 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5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답변 전 내부 사고.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복잡 추론 시 켜기.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Context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AI 의 "기억" 을 관리하는 5 가지 도구 —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환각(hallucination) 을 막고 일관성 유지.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5. Context System — 5 가지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1.  CLAUDE.md         프로젝트의 헌법. AI 가 항상 읽음.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Global / Project / Folder 3 단계 (Last wins)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2.  Markdown Files    내 음성·규칙·예시를 .md 로.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프롬프트 라이브러리 대체.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3.  AskUserQuestion   AI 가 사용자에게 폼으로 묻기 (선택지·라벨).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자유텍스트 답변보다 정확.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4.  1M Token Window   책 한 권을 한 번에 읽음.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대화 중 환각 격감.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5.  Global Instructions  영구 규칙. 한 번 설정 → 영원히 적용.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Integrations &amp; Connectors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Claude 가 외부 세계와 만나는 4 가지 방식.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6. Integrations — 외부 연결 4 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Claude in Excel    셀 D14 가 실제 무엇인지 안다.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스프레드시트 안의 AI.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Claude in Chrome   웹 작업 자율 완료.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브라우저 에이전트.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Connectors         Slack·Drive·Notion·50+ 도구 1-click 연결.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실제 앱을 읽음.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•  Plugins            사전 제작 스킬팩 (Sales·Legal·Marketing·Data).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                      한 번 클릭으로 설치.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결과물을 만드는 3 가지 방식 —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단순 텍스트가 아닌 진짜 산출물.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7. Create — 결과물 3 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Claude 안의 인터랙티브 출력.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계산기·차트·대시보드.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53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82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반복 가능한 워크플로우.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AI 직원의 SOP.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333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05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Prompt Templates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2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팀 전체가 공유하는 시작 프롬프트.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한 번 설정 → 영원히 사용.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For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팀 사용 — 3 단계 옵션.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8. For Teams — 3 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Team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5~150 시트.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공유 프로젝트, 데이터 학습 안함.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53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82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SSO·관리자·보안 컴플라이언스.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법무팀 질문 시.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333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05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Shared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2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한 프로젝트, 전체 팀.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같은 컨텍스트·같은 품질.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마인드맵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지금까지의 모든 것을 한 장으로.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9. Claude is eating up everything — 한 장 요약</a:t>
            </a:r>
          </a:p>
        </p:txBody>
      </p:sp>
      <p:sp>
        <p:nvSpPr>
          <p:cNvPr id="4" name="Oval 3"/>
          <p:cNvSpPr/>
          <p:nvPr/>
        </p:nvSpPr>
        <p:spPr>
          <a:xfrm>
            <a:off x="5458968" y="3017520"/>
            <a:ext cx="1280160" cy="128016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8" y="3017520"/>
            <a:ext cx="1280160" cy="12801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1768" y="914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1768" y="914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 Modes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9048" y="1143000.0"/>
            <a:ext cx="0.0" cy="25146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01768" y="1463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463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1965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965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Cowork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2468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468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963" y="2057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963" y="2057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Models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99048" y="2286000.0"/>
            <a:ext cx="3009195.0" cy="13716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10963" y="2606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6683" y="2606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Opus 4.7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963" y="3108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6683" y="3108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Sonnet 4.6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963" y="3611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6683" y="3611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Haiku 4.5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963" y="4343399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963" y="4343399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3657600"/>
            <a:ext cx="3009195.0" cy="914399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10963" y="4892039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6683" y="4892039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CLAUDE.md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963" y="5394959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6683" y="5394959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1M Token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963" y="5897879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6683" y="5897879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AskUser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01768" y="5486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5486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Integrations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9048" y="3657600"/>
            <a:ext cx="0.0" cy="20574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01768" y="6035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6035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1768" y="6537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7488" y="6537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Chrome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01768" y="7040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7040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Connectors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2573" y="4343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2573" y="4343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Create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089853.0" y="3657600"/>
            <a:ext cx="3009195.0" cy="9144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992573" y="4892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8293" y="4892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Artifacts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92573" y="5394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38293" y="5394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Skills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92573" y="5897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8293" y="5897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Prompts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92573" y="2057400"/>
            <a:ext cx="2194560" cy="4572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92573" y="205740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For Teams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3089853.0" y="2286000.0"/>
            <a:ext cx="3009195.0" cy="1371600.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992573" y="260604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38293" y="260604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Team Plan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92573" y="3108960"/>
            <a:ext cx="2194560" cy="411480"/>
          </a:xfrm>
          <a:prstGeom prst="roundRect">
            <a:avLst/>
          </a:prstGeom>
          <a:solidFill>
            <a:srgbClr val="E8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38293" y="310896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Enterprise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92573" y="3611880"/>
            <a:ext cx="2194560" cy="411480"/>
          </a:xfrm>
          <a:prstGeom prst="roundRect">
            <a:avLst/>
          </a:prstGeom>
          <a:solidFill>
            <a:srgbClr val="F4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38293" y="3611880"/>
            <a:ext cx="21031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2D2D2D"/>
                </a:solidFill>
                <a:latin typeface="맑은 고딕"/>
              </a:rPr>
              <a:t>Shared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다음: 사용자 작업 단계 / 플러그인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참조: docs/screens/arch/  ·  guide.txt  · 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