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12080" y="914400"/>
            <a:ext cx="1828800" cy="182880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1828800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맑은 고딕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4400" b="1">
                <a:solidFill>
                  <a:srgbClr val="2D2D2D"/>
                </a:solidFill>
                <a:latin typeface="맑은 고딕"/>
              </a:rPr>
              <a:t>사용자 작업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>
                <a:solidFill>
                  <a:srgbClr val="E89B7A"/>
                </a:solidFill>
                <a:latin typeface="맑은 고딕"/>
              </a:rPr>
              <a:t>이 킷을 어떻게 쓰는가 — 7 단계 워크플로우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맑은 고딕"/>
              </a:rPr>
              <a:t>orchestration_v1 · 2026-04-23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1.  큰 그림 — 어떤 일을 자동화하나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2.  Step 1: 설치 (3 가지 방법)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3.  Step 2: CLAUDE.md 확인·커스터마이즈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4.  Step 3: Claude Code 실행 + 첫 작업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5.  Step 4: 작업 의뢰 — 자연어로 말하면 자동 라우팅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6.  Step 5: 워커 모니터링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7.  Step 6: 결과물 확인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8.  Step 7: git 커밋·푸시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9.  트러블슈팅 + 자주 쓰는 슬래시 커맨드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큰 그림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사용자 = 팀장. AI 들 = 팀원.</a:t>
            </a:r>
          </a:p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당신은 "무엇을" 만 말하고 "어떻게" 는 AI 가 처리.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600" b="1">
                <a:solidFill>
                  <a:srgbClr val="2D2D2D"/>
                </a:solidFill>
                <a:latin typeface="맑은 고딕"/>
              </a:rPr>
              <a:t>1. 큰 그림 — 누가 무엇을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E89B7A"/>
                </a:solidFill>
                <a:latin typeface="맑은 고딕"/>
              </a:rPr>
              <a:t>사용자가 하는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21208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무엇을 만들지 결정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방향 승인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최종 검토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결과 확인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(설계·라우팅·실행은 AI 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6366F1"/>
                </a:solidFill>
                <a:latin typeface="맑은 고딕"/>
              </a:rPr>
              <a:t>킷이 자동으로 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521208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Codex/Gemini/Claude 라우팅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task-instruction.md 작성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병렬 워커 실행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핸드오프 (handoff-log)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검증 → 채택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outputs/ 저장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설치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3 가지 방법 — 본인 환경에 맞게 선택.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2D2D2D"/>
                </a:solidFill>
                <a:latin typeface="맑은 고딕"/>
              </a:rPr>
              <a:t>2. Step 1 — 설치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3322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2682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GUI 위자드 (추천)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313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OrchestrationKit-Setup.exe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경로 선택 → 컴포넌트 → 설치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160" y="1371600"/>
            <a:ext cx="3322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653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53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8240" y="1508760"/>
            <a:ext cx="2682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git clone (CLI)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2011680"/>
            <a:ext cx="313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git clone &lt;repo&gt;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setup\setup.bat C:\work\myproject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33360" y="1371600"/>
            <a:ext cx="3322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705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05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440" y="1508760"/>
            <a:ext cx="2682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사일런트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6240" y="2011680"/>
            <a:ext cx="313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Setup.exe /VERYSILENT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/DIR="C:\work\myproject"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자동화 스크립트용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CLAUDE.md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프로젝트의 헌법. AI 가 항상 읽고 따름.</a:t>
            </a:r>
          </a:p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자신의 규칙·금지 사항·경로를 명시.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3. Step 2 — CLAUDE.md 커스터마이즈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기본 제공된 CLAUDE.md 가 이미 좋은 출발점.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추가/수정할 만한 항목: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·  Tech Stack       내 프로젝트의 언어·프레임워크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·  Commands         build / test / deploy 명령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·  Style            내 코딩 컨벤션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·  금지 사항         optional chaining 금지 등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·  Loading Order    스킬 로드 순서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원칙: 500 줄 이하 · WHAT/WHY/HOW · 참조 중심 (중복 금지)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관련: /init  /help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Claude Code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터미널에서 'claude' 입력 → 첫 대화 시작.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4. Step 3 — Claude Code 실행 + 첫 작업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[프로젝트 폴더에서]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$ claude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[자동 발생하는 것]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·  Session Start hook 실행 (.claude/hooks/hook-00-init)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·  Orca Auto 활성화 (워커 spawn 준비)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·  CLAUDE.md 로드 (프로젝트 컨텍스트)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·  플러그인 18 개 자동 로드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[첫 메시지 예시]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"한 페이지 랜딩 만들어줘. Next.js 14 + Tailwind, 다크모드 지원"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→ Claude 가 task-instruction.md 작성 → Codex 워커 위임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작업 의뢰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자연어로 말하면 적절한 AI 에 자동 라우팅 —</a:t>
            </a:r>
          </a:p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사용자는 "누가 할까" 신경 쓸 필요 없음.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600" b="1">
                <a:solidFill>
                  <a:srgbClr val="2D2D2D"/>
                </a:solidFill>
                <a:latin typeface="맑은 고딕"/>
              </a:rPr>
              <a:t>5. Step 4 — 자연어로 말하기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E89B7A"/>
                </a:solidFill>
                <a:latin typeface="맑은 고딕"/>
              </a:rPr>
              <a:t>Claude 가 직접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21208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설계·아키텍처 결정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PPT·디자인 (Gamma·Canva)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500 줄 미만 코드 보완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복잡 추론·트레이드오프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예: "이 구조 비교해줘"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6366F1"/>
                </a:solidFill>
                <a:latin typeface="맑은 고딕"/>
              </a:rPr>
              <a:t>Codex/Gemini 워커로 위임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521208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500 줄 이상 신규 구현 → Codex (×4 병렬)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코드 리뷰·검증 → Gemini Flash (저단가)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•  대량 문서 요약 → Gemini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예: "전체 모듈 구현해줘"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→ task-instruction.md → codex-auto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모니터링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워커가 백그라운드에서 일하는 동안 진행 상황 확인.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400" b="1">
                <a:solidFill>
                  <a:srgbClr val="2D2D2D"/>
                </a:solidFill>
                <a:latin typeface="맑은 고딕"/>
              </a:rPr>
              <a:t>6. Step 5 — 워커 모니터링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4460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18059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/exec_status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2631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통합 대시보드.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워커·큐·heartbeat 한 번에.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1371600"/>
            <a:ext cx="24460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890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90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1940" y="1508760"/>
            <a:ext cx="18059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/check-agents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4740" y="2011680"/>
            <a:ext cx="22631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워커 가용 여부.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실행 중 작업 현황.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371600"/>
            <a:ext cx="24460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508760"/>
            <a:ext cx="18059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ls .claude/tasks/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011680"/>
            <a:ext cx="22631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현재 큐 (대기·진행·완료).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done/ 폴더 = 완료.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09660" y="1371600"/>
            <a:ext cx="24460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46820" y="1508760"/>
            <a:ext cx="411480" cy="41148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46820" y="1508760"/>
            <a:ext cx="4114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9740" y="1508760"/>
            <a:ext cx="18059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2D2D2D"/>
                </a:solidFill>
                <a:latin typeface="맑은 고딕"/>
              </a:rPr>
              <a:t>ls .claude/state/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2540" y="2011680"/>
            <a:ext cx="22631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heartbeat·quota·token-log.</a:t>
            </a:r>
          </a:p>
          <a:p>
            <a:pPr algn="l"/>
            <a:r>
              <a:rPr sz="1100" b="0">
                <a:solidFill>
                  <a:srgbClr val="2D2D2D"/>
                </a:solidFill>
                <a:latin typeface="맑은 고딕"/>
              </a:rPr>
              <a:t>워커 살아있나?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결과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워커 작업 결과는 자동으로 정해진 위치에 저장.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7. Step 6 — 결과물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[코드 결과]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src/ 또는 지정 폴더에 직접 생성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[문서·디자인 결과]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outputs/ppt/&lt;name&gt;-&lt;date&gt;.pptx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outputs/pdf/&lt;name&gt;-&lt;date&gt;.pdf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outputs/arch/&lt;pattern&gt;-&lt;slug&gt;-&lt;date&gt;.png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outputs/artifacts/&lt;type&gt;-&lt;slug&gt;-&lt;date&gt;.html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[태스크 로그]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.claude/tasks/done/task-*.md  (완료된 작업 기록)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.claude/state/token-log.jsonl  (토큰 소비 이력)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[Gemini 검증 보고서]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docs/&lt;date&gt;/review-*.md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커밋·푸시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확인된 결과를 git 에 반영.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2D2D2D"/>
                </a:solidFill>
                <a:latin typeface="맑은 고딕"/>
              </a:rPr>
              <a:t>8. Step 7 — git 커밋·푸시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36576"/>
          </a:xfrm>
          <a:prstGeom prst="rect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[수동]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git add &lt;files&gt;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git commit -m "feat: ..."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git push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[Claude 에게 맡기기 — 자연어]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"방금 작업 커밋해줘"  →  /commit  자동 호출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"PR 만들어줘"          →  /commit-push-pr  자동 호출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/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[보안]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·  .env / 시크릿 자동 제외 (gitignore)</a:t>
            </a:r>
          </a:p>
          <a:p>
            <a:pPr algn="l"/>
            <a:r>
              <a:rPr sz="1600" b="0">
                <a:solidFill>
                  <a:srgbClr val="2D2D2D"/>
                </a:solidFill>
                <a:latin typeface="맑은 고딕"/>
              </a:rPr>
              <a:t>  ·  hook-08 가 위장 완료 차단 (빈 task done 이동 금지)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743200" cy="2286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0" b="1">
                <a:solidFill>
                  <a:srgbClr val="E89B7A"/>
                </a:solidFill>
                <a:latin typeface="맑은 고딕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2D2D2D"/>
                </a:solidFill>
                <a:latin typeface="맑은 고딕"/>
              </a:rPr>
              <a:t>트러블슈팅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777240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2D2D2D"/>
                </a:solidFill>
                <a:latin typeface="맑은 고딕"/>
              </a:rPr>
              <a:t>자주 발생하는 상황 + 자주 쓰는 커맨드.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600" b="1">
                <a:solidFill>
                  <a:srgbClr val="2D2D2D"/>
                </a:solidFill>
                <a:latin typeface="맑은 고딕"/>
              </a:rPr>
              <a:t>9. 자주 쓰는 / 트러블슈팅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212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9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E89B7A"/>
                </a:solidFill>
                <a:latin typeface="맑은 고딕"/>
              </a:rPr>
              <a:t>자주 쓰는 슬래시 커맨드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21208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/help              플러그인 도움말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/exec_status       통합 상태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/check-agents      워커 가용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/orcauto-start     자동 시작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/orcauto-stop      자동 종료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/loop-stop         루프 중단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/godmode           최대 출력 모드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/commit            커밋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/arch-auto &lt;주제&gt;  다이어그램 자동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/claude-status     Claude 가용성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212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6366F1"/>
                </a:solidFill>
                <a:latin typeface="맑은 고딕"/>
              </a:rPr>
              <a:t>트러블슈팅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521208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·  워커 안 돔 → /check-agents 후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                  /orcauto-start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·  토큰 한도 → claude-quota-check.sh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                자동 fallback 활성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·  sync 안 됨 → bash sync-plugins.sh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·  세션 끊김 → context-cache 자동 복구</a:t>
            </a:r>
          </a:p>
          <a:p>
            <a:pPr algn="l"/>
            <a:r>
              <a:rPr sz="1300" b="0">
                <a:solidFill>
                  <a:srgbClr val="2D2D2D"/>
                </a:solidFill>
                <a:latin typeface="맑은 고딕"/>
              </a:rPr>
              <a:t>·  태스크 무한루프 → /loop-stop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12080" y="914400"/>
            <a:ext cx="1828800" cy="1828800"/>
          </a:xfrm>
          <a:prstGeom prst="ellipse">
            <a:avLst/>
          </a:prstGeom>
          <a:solidFill>
            <a:srgbClr val="E8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1828800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맑은 고딕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4400" b="1">
                <a:solidFill>
                  <a:srgbClr val="2D2D2D"/>
                </a:solidFill>
                <a:latin typeface="맑은 고딕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>
                <a:solidFill>
                  <a:srgbClr val="E89B7A"/>
                </a:solidFill>
                <a:latin typeface="맑은 고딕"/>
              </a:rPr>
              <a:t>다음: 플러그인 사용법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999999"/>
                </a:solidFill>
                <a:latin typeface="맑은 고딕"/>
              </a:rPr>
              <a:t>문의: github.com/bernakilljos/orchestration · 2026-04-23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