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CF9F2"/>
              </a:gs>
              <a:gs pos="100000">
                <a:srgbClr val="E8D8B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0" b="1">
                <a:solidFill>
                  <a:srgbClr val="0C0F15"/>
                </a:solidFill>
                <a:latin typeface="Malgun Gothic"/>
              </a:defRPr>
            </a:pPr>
            <a:r>
              <a:t>Orchestration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E685C"/>
                </a:solidFill>
                <a:latin typeface="Malgun Gothic"/>
              </a:defRPr>
            </a:pPr>
            <a:r>
              <a:t>Multi-AI Orchestration Framework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88B4A"/>
                </a:solidFill>
                <a:latin typeface="Consolas"/>
              </a:defRPr>
            </a:pPr>
            <a:r>
              <a:t>Claude 4.7 * Codex * Gemini  -  2026-04-23  -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01 - GENESIS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2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The Journey Begins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C0F15"/>
                </a:solidFill>
                <a:latin typeface="Malgun Gothic"/>
              </a:defRPr>
            </a:pPr>
            <a:r>
              <a:t>Started April 2026 as a response to single-AI limits.</a:t>
            </a:r>
          </a:p>
          <a:p>
            <a:r>
              <a:t>Claude designs, Codex implements, Gemini validates.</a:t>
            </a:r>
          </a:p>
          <a:p>
            <a:r>
              <a:t>Inspired by orchestration complexity in real teams.</a:t>
            </a:r>
          </a:p>
          <a:p/>
          <a:p>
            <a:r>
              <a:t>14 plugins in v1.0 - 25+ planned for v2/v3.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01 -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3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0972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B88B4A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STABLE PLUGINS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828800" cy="640080"/>
          </a:xfrm>
          <a:prstGeom prst="rect">
            <a:avLst/>
          </a:prstGeom>
          <a:solidFill>
            <a:srgbClr val="E5DDCA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4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828800" cy="640080"/>
          </a:xfrm>
          <a:prstGeom prst="rect">
            <a:avLst/>
          </a:prstGeom>
          <a:solidFill>
            <a:srgbClr val="E5DDCA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6 Connectors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828800" cy="640080"/>
          </a:xfrm>
          <a:prstGeom prst="rect">
            <a:avLst/>
          </a:prstGeom>
          <a:solidFill>
            <a:srgbClr val="E5DDCA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3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828800" cy="640080"/>
          </a:xfrm>
          <a:prstGeom prst="rect">
            <a:avLst/>
          </a:prstGeom>
          <a:solidFill>
            <a:srgbClr val="E5DDCA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1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600" i="1">
                <a:solidFill>
                  <a:srgbClr val="6E685C"/>
                </a:solidFill>
                <a:latin typeface="Malgun Gothic"/>
              </a:defRPr>
            </a:pPr>
            <a:r>
              <a:t>14 stable plugins</a:t>
            </a:r>
            <a:br/>
            <a:r>
              <a:t>create the substrate</a:t>
            </a:r>
            <a:br/>
            <a:r>
              <a:t>for 40-plugin 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02 -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4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exec_orch: Multi-AI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300" b="1">
                <a:solidFill>
                  <a:srgbClr val="0C0F15"/>
                </a:solidFill>
                <a:latin typeface="Malgun Gothic"/>
              </a:defRPr>
            </a:pPr>
            <a:r>
              <a:t>Claude</a:t>
            </a:r>
            <a:br/>
            <a:br/>
            <a:r>
              <a:t>Design</a:t>
            </a:r>
            <a:br/>
            <a:r>
              <a:t>Complex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01168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300" b="1">
                <a:solidFill>
                  <a:srgbClr val="0C0F15"/>
                </a:solidFill>
                <a:latin typeface="Malgun Gothic"/>
              </a:defRPr>
            </a:pPr>
            <a:r>
              <a:t>Codex</a:t>
            </a:r>
            <a:br/>
            <a:br/>
            <a:r>
              <a:t>Code</a:t>
            </a:r>
            <a:br/>
            <a:r>
              <a:t>Impl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201168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300" b="1">
                <a:solidFill>
                  <a:srgbClr val="0C0F15"/>
                </a:solidFill>
                <a:latin typeface="Malgun Gothic"/>
              </a:defRPr>
            </a:pPr>
            <a:r>
              <a:t>Gemini</a:t>
            </a:r>
            <a:br/>
            <a:br/>
            <a:r>
              <a:t>Verify</a:t>
            </a:r>
            <a:br/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C0F15"/>
                </a:solidFill>
                <a:latin typeface="Malgun Gothic"/>
              </a:defRPr>
            </a:pPr>
            <a:r>
              <a:t>Router decides AI per task: design - Opus 4.7 | code &lt;200L - Sonnet 4.6 | code 500L+ - Codex | verify - Haiku +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02 -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5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B88B4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C0F15"/>
                </a:solidFill>
                <a:latin typeface="Malgun Gothic"/>
              </a:defRPr>
            </a:pPr>
            <a:r>
              <a:t>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C0F15"/>
                </a:solidFill>
                <a:latin typeface="Malgun Gothic"/>
              </a:defRPr>
            </a:pPr>
            <a:r>
              <a:t>plugins/ is canonical. .claude/ syncs automatically.</a:t>
            </a:r>
          </a:p>
          <a:p>
            <a:r>
              <a:t>No manual edits to generated files. Prevents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03 -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6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Roadmap: 3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3200400"/>
          </a:xfrm>
          <a:prstGeom prst="roundRect">
            <a:avLst/>
          </a:prstGeom>
          <a:solidFill>
            <a:srgbClr val="B88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600" b="1">
                <a:solidFill>
                  <a:srgbClr val="0C0F15"/>
                </a:solidFill>
              </a:defRPr>
            </a:pPr>
            <a:r>
              <a:t>Phase 1</a:t>
            </a:r>
          </a:p>
          <a:p>
            <a:br/>
            <a:pPr algn="ctr">
              <a:defRPr sz="1100">
                <a:solidFill>
                  <a:srgbClr val="0C0F15"/>
                </a:solidFill>
              </a:defRPr>
            </a:pPr>
            <a:r>
              <a:t>4 plugins</a:t>
            </a:r>
            <a:br/>
            <a:r>
              <a:t>1-2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3200400"/>
          </a:xfrm>
          <a:prstGeom prst="roundRect">
            <a:avLst/>
          </a:prstGeom>
          <a:solidFill>
            <a:srgbClr val="6E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600" b="1">
                <a:solidFill>
                  <a:srgbClr val="0C0F15"/>
                </a:solidFill>
              </a:defRPr>
            </a:pPr>
            <a:r>
              <a:t>Phase 2</a:t>
            </a:r>
          </a:p>
          <a:p>
            <a:br/>
            <a:pPr algn="ctr">
              <a:defRPr sz="1100">
                <a:solidFill>
                  <a:srgbClr val="0C0F15"/>
                </a:solidFill>
              </a:defRPr>
            </a:pPr>
            <a:r>
              <a:t>13 plugins</a:t>
            </a:r>
            <a:br/>
            <a:r>
              <a:t>3-6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560320" cy="3200400"/>
          </a:xfrm>
          <a:prstGeom prst="roundRect">
            <a:avLst/>
          </a:prstGeom>
          <a:solidFill>
            <a:srgbClr val="C7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wrap="square"/>
          <a:lstStyle/>
          <a:p>
            <a:pPr algn="ctr">
              <a:defRPr sz="1600" b="1">
                <a:solidFill>
                  <a:srgbClr val="6E685C"/>
                </a:solidFill>
              </a:defRPr>
            </a:pPr>
            <a:r>
              <a:t>Phase 3</a:t>
            </a:r>
          </a:p>
          <a:p>
            <a:br/>
            <a:pPr algn="ctr">
              <a:defRPr sz="1100">
                <a:solidFill>
                  <a:srgbClr val="6E685C"/>
                </a:solidFill>
              </a:defRPr>
            </a:pPr>
            <a:r>
              <a:t>9 plugins</a:t>
            </a:r>
            <a:br/>
            <a:r>
              <a:t>6+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8F4EC"/>
              </a:gs>
              <a:gs pos="100000">
                <a:srgbClr val="E5DDC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B88B4A"/>
                </a:solidFill>
                <a:latin typeface="Consolas"/>
              </a:defRPr>
            </a:pPr>
            <a:r>
              <a:t>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C0F15"/>
                </a:solidFill>
                <a:latin typeface="Malgun Gothic"/>
              </a:defRPr>
            </a:pPr>
            <a:r>
              <a:t>The Premise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C0F15"/>
                </a:solidFill>
                <a:latin typeface="Malgun Gothic"/>
              </a:defRPr>
            </a:pPr>
            <a:r>
              <a:t>1M context  *  Extended thinking  *  Prompt caching  *  90% cost savings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03 -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8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Single Model - Multi-Model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3474720"/>
          </a:xfrm>
          <a:prstGeom prst="rect">
            <a:avLst/>
          </a:prstGeom>
          <a:solidFill>
            <a:srgbClr val="E5DDCA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Limited context</a:t>
            </a:r>
            <a:br/>
            <a:r>
              <a:t>No caching</a:t>
            </a:r>
            <a:br/>
            <a:r>
              <a:t>Task isolation</a:t>
            </a:r>
            <a:br/>
            <a:r>
              <a:t>Manual routing</a:t>
            </a:r>
            <a:br/>
            <a:r>
              <a:t>High latency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3200400"/>
            <a:ext cx="914400" cy="365760"/>
          </a:xfrm>
          <a:prstGeom prst="rightArrow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1828800"/>
            <a:ext cx="3200400" cy="3474720"/>
          </a:xfrm>
          <a:prstGeom prst="rect">
            <a:avLst/>
          </a:prstGeom>
          <a:solidFill>
            <a:srgbClr val="E8D8B0"/>
          </a:solidFill>
          <a:ln w="6350"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 wrap="square"/>
          <a:lstStyle/>
          <a:p>
            <a:pPr algn="ctr">
              <a:defRPr sz="1300">
                <a:solidFill>
                  <a:srgbClr val="0C0F15"/>
                </a:solidFill>
                <a:latin typeface="Malgun Gothic"/>
              </a:defRPr>
            </a:pPr>
            <a:r>
              <a:t>1M context window</a:t>
            </a:r>
            <a:br/>
            <a:r>
              <a:t>90% cost via caching</a:t>
            </a:r>
            <a:br/>
            <a:r>
              <a:t>Intelligent routing</a:t>
            </a:r>
            <a:br/>
            <a:r>
              <a:t>Parallel workers</a:t>
            </a:r>
            <a:br/>
            <a:r>
              <a:t>Sub-second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03 -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9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10 New Observability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Cache Hit %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85-90%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8288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Quota Status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8288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Worker Health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8 gauges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Task Latency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p50/p95/p99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Cost/Session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USD tracked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Token Spend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Per AI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6576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Error Rate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By component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6576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Route Accuracy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Decision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6576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Budget Burndown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Daily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57600"/>
            <a:ext cx="1463040" cy="146304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000" b="1">
                <a:solidFill>
                  <a:srgbClr val="0C0F15"/>
                </a:solidFill>
              </a:defRPr>
            </a:pPr>
            <a:r>
              <a:t>Orca Uptime</a:t>
            </a:r>
          </a:p>
          <a:p>
            <a:br/>
            <a:pPr algn="ctr">
              <a:defRPr sz="900">
                <a:solidFill>
                  <a:srgbClr val="B88B4A"/>
                </a:solidFill>
              </a:defRPr>
            </a:pPr>
            <a:r>
              <a:t>24/7 monitor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04 -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10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orca.db: Unified State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C0F15"/>
                </a:solidFill>
                <a:latin typeface="Malgun Gothic"/>
              </a:defRPr>
            </a:pPr>
            <a:r>
              <a:t>8 tables: workers | tasks | metrics | quota | budget | session | routes | heartbeat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C0F15"/>
                </a:solidFill>
                <a:latin typeface="Malgun Gothic"/>
              </a:defRPr>
            </a:pPr>
            <a:r>
              <a:t>workers: id, status, pid, task_id, started_at, last_heartbeat</a:t>
            </a:r>
          </a:p>
          <a:p>
            <a:r>
              <a:t>tasks: id, instruction, status, priority, ai_model, created_at</a:t>
            </a:r>
          </a:p>
          <a:p>
            <a:r>
              <a:t>metrics: timestamp, metric_name, value, worker_id</a:t>
            </a:r>
          </a:p>
          <a:p>
            <a:r>
              <a:t>quota: ai_model, quota_limit, used_today, reset_at</a:t>
            </a:r>
          </a:p>
          <a:p>
            <a:r>
              <a:t>budget: daily_limit_usd, spent_today, project_id</a:t>
            </a:r>
          </a:p>
          <a:p>
            <a:r>
              <a:t>session: session_id, created_at, snapshot_path</a:t>
            </a:r>
          </a:p>
          <a:p>
            <a:r>
              <a:t>routes: task_id, ai_selected, latency_ms, token_count</a:t>
            </a:r>
          </a:p>
          <a:p>
            <a:r>
              <a:t>heartbeat: worker_id, timestamp, cpu%, memory%, task_count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04 -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11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B88B4A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MIN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C0F15"/>
                </a:solidFill>
                <a:latin typeface="Malgun Gothic"/>
              </a:defRPr>
            </a:pPr>
            <a:r>
              <a:t>Watchdog checks every 2 minutes:</a:t>
            </a:r>
          </a:p>
          <a:p>
            <a:r>
              <a:t>  * Worker process alive?</a:t>
            </a:r>
          </a:p>
          <a:p>
            <a:r>
              <a:t>  * Heartbeat fresh? (within 3 min)</a:t>
            </a:r>
          </a:p>
          <a:p>
            <a:r>
              <a:t>  * No zombie tasks?</a:t>
            </a:r>
          </a:p>
          <a:p/>
          <a:p>
            <a:r>
              <a:t>Backoff: 10m - 20m - 40m - 2h</a:t>
            </a:r>
          </a:p>
          <a:p>
            <a:r>
              <a:t>Fallback to Claude if Codex/Gemini quota exceeded.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04 -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12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Intelligent Task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C0F15"/>
                </a:solidFill>
                <a:latin typeface="Malgun Gothic"/>
              </a:defRPr>
            </a:pPr>
            <a:r>
              <a:t>Task arrives</a:t>
            </a:r>
          </a:p>
          <a:p>
            <a:r>
              <a:t>  Design/architecture? - Claude Opus 4.7</a:t>
            </a:r>
          </a:p>
          <a:p>
            <a:r>
              <a:t>  Code &lt;200L? - Claude Sonnet 4.6</a:t>
            </a:r>
          </a:p>
          <a:p>
            <a:r>
              <a:t>  Code 500L+? - Codex (4 parallel) + Polish</a:t>
            </a:r>
          </a:p>
          <a:p>
            <a:r>
              <a:t>  Verification? - Haiku (90% cache) + Gemini (&gt;500k)</a:t>
            </a:r>
          </a:p>
          <a:p>
            <a:r>
              <a:t>  All: Check quota. If exceeded - backoff/fallback</a:t>
            </a:r>
          </a:p>
          <a:p/>
          <a:p>
            <a:r>
              <a:t>Budget tier: Daily limit (USD) - pause if exceeded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04 -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13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Claude 4.7 + Cohort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0F15"/>
                </a:solidFill>
              </a:defRPr>
            </a:pPr>
            <a:r>
              <a:t>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$15/$75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85C"/>
                </a:solidFill>
              </a:defRPr>
            </a:pPr>
            <a:r>
              <a:t>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0F15"/>
                </a:solidFill>
              </a:defRPr>
            </a:pPr>
            <a:r>
              <a:t>Sonnet 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517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$3/$15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85C"/>
                </a:solidFill>
              </a:defRPr>
            </a:pPr>
            <a:r>
              <a:t>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0F15"/>
                </a:solidFill>
              </a:defRPr>
            </a:pPr>
            <a:r>
              <a:t>Haiku 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747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$0.8/$4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85C"/>
                </a:solidFill>
              </a:defRPr>
            </a:pPr>
            <a:r>
              <a:t>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47472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0F15"/>
                </a:solidFill>
              </a:defRPr>
            </a:pPr>
            <a:r>
              <a:t>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$2.5/$10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85C"/>
                </a:solidFill>
              </a:defRPr>
            </a:pPr>
            <a:r>
              <a:t>128k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2976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0F15"/>
                </a:solidFill>
              </a:defRPr>
            </a:pPr>
            <a:r>
              <a:t>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12064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$0.08/$0.32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1206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85C"/>
                </a:solidFill>
              </a:defRPr>
            </a:pPr>
            <a:r>
              <a:t>1M+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120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8B4A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05 -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14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137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0" b="1">
                <a:solidFill>
                  <a:srgbClr val="B88B4A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CACHE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C0F15"/>
                </a:solidFill>
                <a:latin typeface="Malgun Gothic"/>
              </a:defRPr>
            </a:pPr>
            <a:r>
              <a:t>Prompt caching TTL: 5 minutes</a:t>
            </a:r>
          </a:p>
          <a:p>
            <a:r>
              <a:t>* System prompt cached: shared across workers</a:t>
            </a:r>
          </a:p>
          <a:p>
            <a:r>
              <a:t>* Request history cached: 3-message lookback</a:t>
            </a:r>
          </a:p>
          <a:p>
            <a:r>
              <a:t>* Plugin specs cached: 24-hour TTL</a:t>
            </a:r>
          </a:p>
          <a:p/>
          <a:p>
            <a:r>
              <a:t>Result: 85-90% cost reduction on cached tasks</a:t>
            </a:r>
          </a:p>
          <a:p>
            <a:r>
              <a:t>Session strategy: cluster similar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05 -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15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24/7 Automation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C0F15"/>
                </a:solidFill>
                <a:latin typeface="Malgun Gothic"/>
              </a:defRPr>
            </a:pPr>
            <a:r>
              <a:t>1. Task arrives - queued to .claude/tasks/</a:t>
            </a:r>
          </a:p>
          <a:p>
            <a:r>
              <a:t>2. Router decides AI (Opus/Sonnet/Codex/Gemini)</a:t>
            </a:r>
          </a:p>
          <a:p>
            <a:r>
              <a:t>3. AI executes - result - .claude/tasks/done/</a:t>
            </a:r>
          </a:p>
          <a:p>
            <a:r>
              <a:t>4. Metrics recorded - orca.db</a:t>
            </a:r>
          </a:p>
          <a:p>
            <a:r>
              <a:t>5. Watchdog checks every 2 min - restart if needed</a:t>
            </a:r>
          </a:p>
          <a:p>
            <a:r>
              <a:t>6. Nightly: snapshot - .claude/context-cache/</a:t>
            </a:r>
          </a:p>
          <a:p>
            <a:r>
              <a:t>7. Budget check: daily limit enforced</a:t>
            </a:r>
          </a:p>
          <a:p>
            <a:r>
              <a:t>8. Loop: next task - repeat</a:t>
            </a:r>
          </a:p>
          <a:p/>
          <a:p>
            <a:r>
              <a:t>All 100% stateless * No manual intervention * Full audit trail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06 - 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16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CLI Tools &amp;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56032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200" b="1">
                <a:solidFill>
                  <a:srgbClr val="B88B4A"/>
                </a:solidFill>
              </a:defRPr>
            </a:pPr>
            <a:r>
              <a:t>SYNC</a:t>
            </a:r>
          </a:p>
          <a:p>
            <a:br/>
            <a:pPr algn="ctr">
              <a:defRPr sz="900">
                <a:solidFill>
                  <a:srgbClr val="0C0F15"/>
                </a:solidFill>
              </a:defRPr>
            </a:pPr>
            <a:r>
              <a:t>sync-plugins.sh</a:t>
            </a:r>
            <a:br/>
            <a:r>
              <a:t>validate-plugin-schema.py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56032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200" b="1">
                <a:solidFill>
                  <a:srgbClr val="B88B4A"/>
                </a:solidFill>
              </a:defRPr>
            </a:pPr>
            <a:r>
              <a:t>OBSERVE</a:t>
            </a:r>
          </a:p>
          <a:p>
            <a:br/>
            <a:pPr algn="ctr">
              <a:defRPr sz="900">
                <a:solidFill>
                  <a:srgbClr val="0C0F15"/>
                </a:solidFill>
              </a:defRPr>
            </a:pPr>
            <a:r>
              <a:t>check-agents</a:t>
            </a:r>
            <a:br/>
            <a:r>
              <a:t>metrics-query.py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256032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200" b="1">
                <a:solidFill>
                  <a:srgbClr val="B88B4A"/>
                </a:solidFill>
              </a:defRPr>
            </a:pPr>
            <a:r>
              <a:t>RUN</a:t>
            </a:r>
          </a:p>
          <a:p>
            <a:br/>
            <a:pPr algn="ctr">
              <a:defRPr sz="900">
                <a:solidFill>
                  <a:srgbClr val="0C0F15"/>
                </a:solidFill>
              </a:defRPr>
            </a:pPr>
            <a:r>
              <a:t>codex-auto [N]</a:t>
            </a:r>
            <a:br/>
            <a:r>
              <a:t>haiku-auto [N]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2560320" cy="1828800"/>
          </a:xfrm>
          <a:prstGeom prst="roundRect">
            <a:avLst/>
          </a:prstGeom>
          <a:solidFill>
            <a:srgbClr val="E5DDCA"/>
          </a:solidFill>
          <a:ln>
            <a:solidFill>
              <a:srgbClr val="C7C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wrap="square"/>
          <a:lstStyle/>
          <a:p>
            <a:pPr algn="ctr">
              <a:defRPr sz="1200" b="1">
                <a:solidFill>
                  <a:srgbClr val="B88B4A"/>
                </a:solidFill>
              </a:defRPr>
            </a:pPr>
            <a:r>
              <a:t>DEBUG</a:t>
            </a:r>
          </a:p>
          <a:p>
            <a:br/>
            <a:pPr algn="ctr">
              <a:defRPr sz="900">
                <a:solidFill>
                  <a:srgbClr val="0C0F15"/>
                </a:solidFill>
              </a:defRPr>
            </a:pPr>
            <a:r>
              <a:t>orca-status</a:t>
            </a:r>
            <a:br/>
            <a:r>
              <a:t>worker-health.sh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06 -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17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Metrics: Every Question Answerable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C0F15"/>
                </a:solidFill>
                <a:latin typeface="Malgun Gothic"/>
              </a:defRPr>
            </a:pPr>
            <a:r>
              <a:t>SELECT * FROM routes WHERE ai_selected='Codex' AND token_count &gt; 50000;</a:t>
            </a:r>
          </a:p>
          <a:p/>
          <a:p>
            <a:r>
              <a:t>SELECT ai_model, SUM(token_count) FROM routes WHERE DATE(created_at) = TODAY GROUP BY ai_model;</a:t>
            </a:r>
          </a:p>
          <a:p/>
          <a:p>
            <a:r>
              <a:t>SELECT COUNT(*) FROM tasks WHERE status='retry_backoff' AND DATE(created_at) = TODAY;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8F4EC"/>
              </a:gs>
              <a:gs pos="100000">
                <a:srgbClr val="E5DDC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8000" b="1">
                <a:solidFill>
                  <a:srgbClr val="0C0F15"/>
                </a:solidFill>
                <a:latin typeface="Malgun Gothic"/>
              </a:defRPr>
            </a:pPr>
            <a:r>
              <a:t>Not rebuilt.</a:t>
            </a:r>
            <a:br/>
            <a:r>
              <a:t>Absorbed.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E685C"/>
                </a:solidFill>
                <a:latin typeface="Malgun Gothic"/>
              </a:defRPr>
            </a:pPr>
            <a:r>
              <a:t>- v1.0 Philosophy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88B4A"/>
                </a:solidFill>
                <a:latin typeface="Malgun Gothic"/>
              </a:defRPr>
            </a:pPr>
            <a:r>
              <a:t>PART 07 -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200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685C"/>
                </a:solidFill>
                <a:latin typeface="Consolas"/>
              </a:defRPr>
            </a:pPr>
            <a:r>
              <a:t>  19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7680960" cy="9144"/>
          </a:xfrm>
          <a:prstGeom prst="rect">
            <a:avLst/>
          </a:prstGeom>
          <a:solidFill>
            <a:srgbClr val="B88B4A"/>
          </a:solidFill>
          <a:ln>
            <a:solidFill>
              <a:srgbClr val="B88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5200" b="1">
                <a:solidFill>
                  <a:srgbClr val="0C0F15"/>
                </a:solidFill>
                <a:latin typeface="Malgun Gothic"/>
              </a:defRPr>
            </a:pPr>
            <a:r>
              <a:t>Phase 3: 9 Additional 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C0F15"/>
                </a:solidFill>
                <a:latin typeface="Malgun Gothic"/>
              </a:defRPr>
            </a:pPr>
            <a:r>
              <a:t>cost_instagram - multi-channel monetization</a:t>
            </a:r>
          </a:p>
          <a:p>
            <a:r>
              <a:t>cost_blog - AdSense automation</a:t>
            </a:r>
          </a:p>
          <a:p>
            <a:r>
              <a:t>perf_monitor - Prometheus + Grafana</a:t>
            </a:r>
          </a:p>
          <a:p>
            <a:r>
              <a:t>design_pdf - generation &amp; signing</a:t>
            </a:r>
          </a:p>
          <a:p>
            <a:r>
              <a:t>design_video - Shorts &amp; thumbnails</a:t>
            </a:r>
          </a:p>
          <a:p>
            <a:r>
              <a:t>mcp_payment - Toss, Stripe, KakaoPay</a:t>
            </a:r>
          </a:p>
          <a:p>
            <a:r>
              <a:t>mcp_analytics - GA4, Mixpanel</a:t>
            </a:r>
          </a:p>
          <a:p>
            <a:r>
              <a:t>exec_scheduler - cron &amp; workflows</a:t>
            </a:r>
          </a:p>
          <a:p>
            <a:r>
              <a:t>growth_seo - long-form rank tracking</a:t>
            </a:r>
          </a:p>
          <a:p/>
          <a:p>
            <a:r>
              <a:t>Target: 26 total plugins by end of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CF9F2"/>
              </a:gs>
              <a:gs pos="100000">
                <a:srgbClr val="E8D8B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defRPr sz="4400" b="1">
                <a:solidFill>
                  <a:srgbClr val="0C0F15"/>
                </a:solidFill>
                <a:latin typeface="Malgun Gothic"/>
              </a:defRPr>
            </a:pPr>
            <a:r>
              <a:t>One Prompt,</a:t>
            </a:r>
            <a:br/>
            <a:r>
              <a:t>Multiple Minds,</a:t>
            </a:r>
            <a:br/>
            <a:r>
              <a:t>Infinite Possibilities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88B4A"/>
                </a:solidFill>
                <a:latin typeface="Consolas"/>
              </a:defRPr>
            </a:pPr>
            <a:r>
              <a:t>orchestration-v1-premium-2026-04-23  **  Claude Code  **  github.com/bernakilljos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