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351276" y="685800"/>
            <a:ext cx="5486400" cy="5486400"/>
          </a:xfrm>
          <a:prstGeom prst="ellipse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037076" y="1371600"/>
            <a:ext cx="4114800" cy="4114800"/>
          </a:xfrm>
          <a:prstGeom prst="ellipse">
            <a:avLst/>
          </a:prstGeom>
          <a:solidFill>
            <a:srgbClr val="122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722876" y="2057400"/>
            <a:ext cx="2743200" cy="2743200"/>
          </a:xfrm>
          <a:prstGeom prst="ellipse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AI 시스템 진화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4A9FFF"/>
                </a:solidFill>
              </a:rPr>
              <a:t>6단계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0BED1"/>
                </a:solidFill>
              </a:rPr>
              <a:t>Prompt에서 Platform까지  —  차원이 바뀌는 순간들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4572000"/>
            <a:ext cx="6702552" cy="27432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BED1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전체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D1"/>
                </a:solidFill>
              </a:rPr>
              <a:t>1단계에서 6단계로 — 각 단계는 이전을 포함하며 확장된다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920240" cy="3200400"/>
          </a:xfrm>
          <a:prstGeom prst="rect">
            <a:avLst/>
          </a:prstGeom>
          <a:solidFill>
            <a:srgbClr val="131A3A"/>
          </a:solidFill>
          <a:ln w="19050">
            <a:solidFill>
              <a:srgbClr val="4A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1️⃣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9FFF"/>
                </a:solidFill>
              </a:rPr>
              <a:t>질문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463040"/>
            <a:ext cx="1920240" cy="3200400"/>
          </a:xfrm>
          <a:prstGeom prst="rect">
            <a:avLst/>
          </a:prstGeom>
          <a:solidFill>
            <a:srgbClr val="131A3A"/>
          </a:solidFill>
          <a:ln w="19050">
            <a:solidFill>
              <a:srgbClr val="4A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5544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2️⃣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1488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6974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9FFF"/>
                </a:solidFill>
              </a:rPr>
              <a:t>역할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463040"/>
            <a:ext cx="1920240" cy="3200400"/>
          </a:xfrm>
          <a:prstGeom prst="rect">
            <a:avLst/>
          </a:prstGeom>
          <a:solidFill>
            <a:srgbClr val="131A3A"/>
          </a:solidFill>
          <a:ln w="19050">
            <a:solidFill>
              <a:srgbClr val="4A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5544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3️⃣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1488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Orchestration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6974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9FFF"/>
                </a:solidFill>
              </a:rPr>
              <a:t>연결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463040"/>
            <a:ext cx="1920240" cy="3200400"/>
          </a:xfrm>
          <a:prstGeom prst="rect">
            <a:avLst/>
          </a:prstGeom>
          <a:solidFill>
            <a:srgbClr val="131A3A"/>
          </a:solidFill>
          <a:ln w="19050">
            <a:solidFill>
              <a:srgbClr val="4A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5544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4️⃣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1488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Automation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6974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9FFF"/>
                </a:solidFill>
              </a:rPr>
              <a:t>자동화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463040"/>
            <a:ext cx="1920240" cy="3200400"/>
          </a:xfrm>
          <a:prstGeom prst="rect">
            <a:avLst/>
          </a:prstGeom>
          <a:solidFill>
            <a:srgbClr val="131A3A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5544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1488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Autonomous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6974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6B35"/>
                </a:solidFill>
              </a:rPr>
              <a:t>자율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0" y="1463040"/>
            <a:ext cx="1920240" cy="3200400"/>
          </a:xfrm>
          <a:prstGeom prst="rect">
            <a:avLst/>
          </a:prstGeom>
          <a:solidFill>
            <a:srgbClr val="131A3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9840" y="15544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21488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26974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E5FF"/>
                </a:solidFill>
              </a:rPr>
              <a:t>생태계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26974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0BED1"/>
                </a:solidFill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26974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0BED1"/>
                </a:solidFill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26974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0BED1"/>
                </a:solidFill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26974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0BED1"/>
                </a:solidFill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26974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0BED1"/>
                </a:solidFill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0292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D700"/>
                </a:solidFill>
              </a:rPr>
              <a:t>★ 현재: 5단계 완성 단계  |  목표: 6단계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1단계 — Prompt (프롬프트)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D1"/>
                </a:solidFill>
              </a:rPr>
              <a:t>그냥 질문하는 단계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"/>
            <a:ext cx="630936" cy="292608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1단계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029200" cy="914400"/>
          </a:xfrm>
          <a:prstGeom prst="rect">
            <a:avLst/>
          </a:prstGeom>
          <a:solidFill>
            <a:srgbClr val="131A3A"/>
          </a:solidFill>
          <a:ln w="19050">
            <a:solidFill>
              <a:srgbClr val="4A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F0FF"/>
                </a:solidFill>
              </a:rPr>
              <a:t>✗  단일 입력  →  단일 출력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68880"/>
            <a:ext cx="5029200" cy="914400"/>
          </a:xfrm>
          <a:prstGeom prst="rect">
            <a:avLst/>
          </a:prstGeom>
          <a:solidFill>
            <a:srgbClr val="131A3A"/>
          </a:solidFill>
          <a:ln w="19050">
            <a:solidFill>
              <a:srgbClr val="4A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F0FF"/>
                </a:solidFill>
              </a:rPr>
              <a:t>✗  기억 없음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5029200" cy="914400"/>
          </a:xfrm>
          <a:prstGeom prst="rect">
            <a:avLst/>
          </a:prstGeom>
          <a:solidFill>
            <a:srgbClr val="131A3A"/>
          </a:solidFill>
          <a:ln w="19050">
            <a:solidFill>
              <a:srgbClr val="4A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118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F0FF"/>
                </a:solidFill>
              </a:rPr>
              <a:t>✗  역할 없음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663440"/>
            <a:ext cx="5029200" cy="914400"/>
          </a:xfrm>
          <a:prstGeom prst="rect">
            <a:avLst/>
          </a:prstGeom>
          <a:solidFill>
            <a:srgbClr val="131A3A"/>
          </a:solidFill>
          <a:ln w="19050">
            <a:solidFill>
              <a:srgbClr val="4A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709159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F0FF"/>
                </a:solidFill>
              </a:rPr>
              <a:t>✗  자동화 없음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0BED1"/>
                </a:solidFill>
              </a:rPr>
              <a:t>예시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737360"/>
            <a:ext cx="4389120" cy="731520"/>
          </a:xfrm>
          <a:prstGeom prst="rect">
            <a:avLst/>
          </a:prstGeom>
          <a:solidFill>
            <a:srgbClr val="1A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1783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"코드 짜줘"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2651760"/>
            <a:ext cx="4389120" cy="731520"/>
          </a:xfrm>
          <a:prstGeom prst="rect">
            <a:avLst/>
          </a:prstGeom>
          <a:solidFill>
            <a:srgbClr val="1A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5160" y="2697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"PPT 만들어줘"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3566160"/>
            <a:ext cx="4389120" cy="731520"/>
          </a:xfrm>
          <a:prstGeom prst="rect">
            <a:avLst/>
          </a:prstGeom>
          <a:solidFill>
            <a:srgbClr val="1A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60" y="3611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"이거 번역해줘"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4480560"/>
            <a:ext cx="4389120" cy="731520"/>
          </a:xfrm>
          <a:prstGeom prst="rect">
            <a:avLst/>
          </a:prstGeom>
          <a:solidFill>
            <a:srgbClr val="1A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4526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"오류 찾아줘"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2단계 — Agent (에이전트)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D1"/>
                </a:solidFill>
              </a:rPr>
              <a:t>역할을 부여하는 단계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"/>
            <a:ext cx="630936" cy="292608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2단계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029200" cy="914400"/>
          </a:xfrm>
          <a:prstGeom prst="rect">
            <a:avLst/>
          </a:prstGeom>
          <a:solidFill>
            <a:srgbClr val="131A3A"/>
          </a:solidFill>
          <a:ln w="19050">
            <a:solidFill>
              <a:srgbClr val="4A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A9FFF"/>
                </a:solidFill>
              </a:rPr>
              <a:t>✓  역할 기반 동작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68880"/>
            <a:ext cx="5029200" cy="914400"/>
          </a:xfrm>
          <a:prstGeom prst="rect">
            <a:avLst/>
          </a:prstGeom>
          <a:solidFill>
            <a:srgbClr val="131A3A"/>
          </a:solidFill>
          <a:ln w="19050">
            <a:solidFill>
              <a:srgbClr val="4A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A9FFF"/>
                </a:solidFill>
              </a:rPr>
              <a:t>✓  Context 유지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5029200" cy="914400"/>
          </a:xfrm>
          <a:prstGeom prst="rect">
            <a:avLst/>
          </a:prstGeom>
          <a:solidFill>
            <a:srgbClr val="131A3A"/>
          </a:solidFill>
          <a:ln w="19050">
            <a:solidFill>
              <a:srgbClr val="4A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118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A9FFF"/>
                </a:solidFill>
              </a:rPr>
              <a:t>✓  특정 목적 수행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663440"/>
            <a:ext cx="5029200" cy="914400"/>
          </a:xfrm>
          <a:prstGeom prst="rect">
            <a:avLst/>
          </a:prstGeom>
          <a:solidFill>
            <a:srgbClr val="131A3A"/>
          </a:solidFill>
          <a:ln w="19050">
            <a:solidFill>
              <a:srgbClr val="4A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709159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A9FFF"/>
                </a:solidFill>
              </a:rPr>
              <a:t>✓  일관된 페르소나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0BED1"/>
                </a:solidFill>
              </a:rPr>
              <a:t>예시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737360"/>
            <a:ext cx="4389120" cy="914400"/>
          </a:xfrm>
          <a:prstGeom prst="rect">
            <a:avLst/>
          </a:prstGeom>
          <a:solidFill>
            <a:srgbClr val="1A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1810512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"너는 백엔드 개발자야"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2834639"/>
            <a:ext cx="4389120" cy="914400"/>
          </a:xfrm>
          <a:prstGeom prst="rect">
            <a:avLst/>
          </a:prstGeom>
          <a:solidFill>
            <a:srgbClr val="1A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5160" y="2907791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"너는 PPT 전문가야"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3931920"/>
            <a:ext cx="4389120" cy="914400"/>
          </a:xfrm>
          <a:prstGeom prst="rect">
            <a:avLst/>
          </a:prstGeom>
          <a:solidFill>
            <a:srgbClr val="1A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60" y="4005072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"너는 데이터 분석가야"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3단계 — Orchestration (오케스트레이션)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D1"/>
                </a:solidFill>
              </a:rPr>
              <a:t>여러 AI를 연결하는 단계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"/>
            <a:ext cx="630936" cy="292608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3단계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3200400" cy="2011680"/>
          </a:xfrm>
          <a:prstGeom prst="rect">
            <a:avLst/>
          </a:prstGeom>
          <a:solidFill>
            <a:srgbClr val="131A3A"/>
          </a:solidFill>
          <a:ln w="19050">
            <a:solidFill>
              <a:srgbClr val="4A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A9FFF"/>
                </a:solidFill>
              </a:rPr>
              <a:t>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BED1"/>
                </a:solidFill>
              </a:rPr>
              <a:t>설계·판단·승인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3200400" cy="2011680"/>
          </a:xfrm>
          <a:prstGeom prst="rect">
            <a:avLst/>
          </a:prstGeom>
          <a:solidFill>
            <a:srgbClr val="131A3A"/>
          </a:solidFill>
          <a:ln w="19050">
            <a:solidFill>
              <a:srgbClr val="00C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14630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C480"/>
                </a:solidFill>
              </a:rPr>
              <a:t>Codex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1031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BED1"/>
                </a:solidFill>
              </a:rPr>
              <a:t>코드 구현 (병렬)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1371600"/>
            <a:ext cx="3200400" cy="2011680"/>
          </a:xfrm>
          <a:prstGeom prst="rect">
            <a:avLst/>
          </a:prstGeom>
          <a:solidFill>
            <a:srgbClr val="131A3A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14630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A500"/>
                </a:solidFill>
              </a:rPr>
              <a:t>Gemini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1031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BED1"/>
                </a:solidFill>
              </a:rPr>
              <a:t>검증·리뷰·문서화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0116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B0BED1"/>
                </a:solidFill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20116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B0BED1"/>
                </a:solidFill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49039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0BED1"/>
                </a:solidFill>
              </a:rPr>
              <a:t>A2A (Agent to Agent) 핸드오프 — 결과물을 다음 AI에게 전달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8912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0FF"/>
                </a:solidFill>
              </a:rPr>
              <a:t>Claude  →  task-instruction.md  →  Codex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0060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0FF"/>
                </a:solidFill>
              </a:rPr>
              <a:t>Codex   →  implementation-report.md  →  Claude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0FF"/>
                </a:solidFill>
              </a:rPr>
              <a:t>Claude  →  verify-request.md  →  Gemini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2356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0FF"/>
                </a:solidFill>
              </a:rPr>
              <a:t>Gemini  →  review-result.md  →  Claude (채택 결정)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3단계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D1"/>
                </a:solidFill>
              </a:rPr>
              <a:t>Hook → Planner → Executor → Validator → State → Retry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2377440" cy="3200400"/>
          </a:xfrm>
          <a:prstGeom prst="rect">
            <a:avLst/>
          </a:prstGeom>
          <a:solidFill>
            <a:srgbClr val="131A3A"/>
          </a:solidFill>
          <a:ln w="19050">
            <a:solidFill>
              <a:srgbClr val="4A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A9FFF"/>
                </a:solidFill>
              </a:rPr>
              <a:t>Hook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945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0FF"/>
                </a:solidFill>
              </a:rPr>
              <a:t>사전 확인
파일 잠금·충돌 체크</a:t>
            </a:r>
          </a:p>
        </p:txBody>
      </p:sp>
      <p:sp>
        <p:nvSpPr>
          <p:cNvPr id="8" name="Rectangle 7"/>
          <p:cNvSpPr/>
          <p:nvPr/>
        </p:nvSpPr>
        <p:spPr>
          <a:xfrm>
            <a:off x="2148840" y="1371600"/>
            <a:ext cx="2377440" cy="3200400"/>
          </a:xfrm>
          <a:prstGeom prst="rect">
            <a:avLst/>
          </a:prstGeom>
          <a:solidFill>
            <a:srgbClr val="131A3A"/>
          </a:solidFill>
          <a:ln w="19050">
            <a:solidFill>
              <a:srgbClr val="4A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14630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A9FFF"/>
                </a:solidFill>
              </a:rPr>
              <a:t>Planner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21945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0FF"/>
                </a:solidFill>
              </a:rPr>
              <a:t>Claude 설계
task-instruction.md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371600"/>
            <a:ext cx="2377440" cy="3200400"/>
          </a:xfrm>
          <a:prstGeom prst="rect">
            <a:avLst/>
          </a:prstGeom>
          <a:solidFill>
            <a:srgbClr val="131A3A"/>
          </a:solidFill>
          <a:ln w="19050">
            <a:solidFill>
              <a:srgbClr val="00C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9080" y="14630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C480"/>
                </a:solidFill>
              </a:rPr>
              <a:t>Executor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1945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0FF"/>
                </a:solidFill>
              </a:rPr>
              <a:t>Codex 4개
병렬 구현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97880" y="1371600"/>
            <a:ext cx="2377440" cy="3200400"/>
          </a:xfrm>
          <a:prstGeom prst="rect">
            <a:avLst/>
          </a:prstGeom>
          <a:solidFill>
            <a:srgbClr val="131A3A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14630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A500"/>
                </a:solidFill>
              </a:rPr>
              <a:t>Validator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1945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0FF"/>
                </a:solidFill>
              </a:rPr>
              <a:t>Gemini 2개
검증·보안·품질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1371600"/>
            <a:ext cx="2377440" cy="3200400"/>
          </a:xfrm>
          <a:prstGeom prst="rect">
            <a:avLst/>
          </a:prstGeom>
          <a:solidFill>
            <a:srgbClr val="131A3A"/>
          </a:solidFill>
          <a:ln w="19050">
            <a:solidFill>
              <a:srgbClr val="A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14630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078FF"/>
                </a:solidFill>
              </a:rPr>
              <a:t>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1945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0FF"/>
                </a:solidFill>
              </a:rPr>
              <a:t>스냅샷 저장
세션 복구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46920" y="1371600"/>
            <a:ext cx="2377440" cy="3200400"/>
          </a:xfrm>
          <a:prstGeom prst="rect">
            <a:avLst/>
          </a:prstGeom>
          <a:solidFill>
            <a:srgbClr val="131A3A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14630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6B35"/>
                </a:solidFill>
              </a:rPr>
              <a:t>Retry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21945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0FF"/>
                </a:solidFill>
              </a:rPr>
              <a:t>3회 재시도
→ 에스컬레이션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0BED1"/>
                </a:solidFill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79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0BED1"/>
                </a:solidFill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0BED1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19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0BED1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0BED1"/>
                </a:solidFill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0292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6B35"/>
                </a:solidFill>
              </a:rPr>
              <a:t>실패 시: Retry → 3회 초과 → Claude 에스컬레이션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4단계 — Automation (자동화)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D1"/>
                </a:solidFill>
              </a:rPr>
              <a:t>사람이 없어도 돌아가는 단계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"/>
            <a:ext cx="630936" cy="292608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4단계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4114800"/>
          </a:xfrm>
          <a:prstGeom prst="rect">
            <a:avLst/>
          </a:prstGeom>
          <a:solidFill>
            <a:srgbClr val="131A3A"/>
          </a:solidFill>
          <a:ln w="19050">
            <a:solidFill>
              <a:srgbClr val="4A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A9FFF"/>
                </a:solidFill>
              </a:rPr>
              <a:t>Plugin
13개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0FF"/>
                </a:solidFill>
              </a:rPr>
              <a:t>exec_orch / exec_voice
exec_learning
design_* / review_qa
mcp_* × 7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4114800"/>
          </a:xfrm>
          <a:prstGeom prst="rect">
            <a:avLst/>
          </a:prstGeom>
          <a:solidFill>
            <a:srgbClr val="131A3A"/>
          </a:solidFill>
          <a:ln w="19050">
            <a:solidFill>
              <a:srgbClr val="4A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3716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A9FFF"/>
                </a:solidFill>
              </a:rPr>
              <a:t>Command
21개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28600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0FF"/>
                </a:solidFill>
              </a:rPr>
              <a:t>vibe-loop / loop-stop
plug_* × 8
check-agents
godmode / 10x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4114800"/>
          </a:xfrm>
          <a:prstGeom prst="rect">
            <a:avLst/>
          </a:prstGeom>
          <a:solidFill>
            <a:srgbClr val="131A3A"/>
          </a:solidFill>
          <a:ln w="19050">
            <a:solidFill>
              <a:srgbClr val="4A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3716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A9FFF"/>
                </a:solidFill>
              </a:rPr>
              <a:t>Hook
9개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8600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0FF"/>
                </a:solidFill>
              </a:rPr>
              <a:t>pre-task
post-impl
post-review
notify / ai-handoff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4114800"/>
          </a:xfrm>
          <a:prstGeom prst="rect">
            <a:avLst/>
          </a:prstGeom>
          <a:solidFill>
            <a:srgbClr val="131A3A"/>
          </a:solidFill>
          <a:ln w="19050">
            <a:solidFill>
              <a:srgbClr val="4A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3716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A9FFF"/>
                </a:solidFill>
              </a:rPr>
              <a:t>MCP
연동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28600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0FF"/>
                </a:solidFill>
              </a:rPr>
              <a:t>context7 / playwright
figma / canva
github / postgres
mongodb 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607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BED1"/>
                </a:solidFill>
              </a:rPr>
              <a:t>트리거 기반 자동 실행 — 이벤트가 발생하면 스스로 동작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0" y="1371600"/>
            <a:ext cx="4873752" cy="4114800"/>
          </a:xfrm>
          <a:prstGeom prst="ellipse">
            <a:avLst/>
          </a:prstGeom>
          <a:solidFill>
            <a:srgbClr val="FF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🔥 5단계 — Autonomous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D1"/>
                </a:solidFill>
              </a:rPr>
              <a:t>여기서 차원이 바뀐다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6B35"/>
                </a:solidFill>
              </a:rPr>
              <a:t>스스로 판단  ·  스스로 선택  ·  스스로 복구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2560320" cy="2560320"/>
          </a:xfrm>
          <a:prstGeom prst="rect">
            <a:avLst/>
          </a:prstGeom>
          <a:solidFill>
            <a:srgbClr val="2A100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6B35"/>
                </a:solidFill>
              </a:rPr>
              <a:t>라우팅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0FF"/>
                </a:solidFill>
              </a:rPr>
              <a:t>누가 할지 AI가 결정
route_dispatch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645920"/>
            <a:ext cx="2560320" cy="2560320"/>
          </a:xfrm>
          <a:prstGeom prst="rect">
            <a:avLst/>
          </a:prstGeom>
          <a:solidFill>
            <a:srgbClr val="2A100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737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6B35"/>
                </a:solidFill>
              </a:rPr>
              <a:t>실패 판단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46888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0FF"/>
                </a:solidFill>
              </a:rPr>
              <a:t>성공/실패 스스로 인식
retry-count.json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645920"/>
            <a:ext cx="2560320" cy="2560320"/>
          </a:xfrm>
          <a:prstGeom prst="rect">
            <a:avLst/>
          </a:prstGeom>
          <a:solidFill>
            <a:srgbClr val="2A100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737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6B35"/>
                </a:solidFill>
              </a:rPr>
              <a:t>재시도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46888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0FF"/>
                </a:solidFill>
              </a:rPr>
              <a:t>자동 3회
→ 에스컬레이션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645920"/>
            <a:ext cx="2560320" cy="2560320"/>
          </a:xfrm>
          <a:prstGeom prst="rect">
            <a:avLst/>
          </a:prstGeom>
          <a:solidFill>
            <a:srgbClr val="2A100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1737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6B35"/>
                </a:solidFill>
              </a:rPr>
              <a:t>상태 저장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46888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0FF"/>
                </a:solidFill>
              </a:rPr>
              <a:t>기억하고 학습
exec_learning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805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D700"/>
                </a:solidFill>
              </a:rPr>
              <a:t>✅ route_dispatch  ✅ retry-count.json  ✅ state_session  ✅ exec_learning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292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D700"/>
                </a:solidFill>
              </a:rPr>
              <a:t>→  5단계 핵심 요소 구현 완료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🔥 6단계 — Platform (플랫폼)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D1"/>
                </a:solidFill>
              </a:rPr>
              <a:t>시스템이 아니라 생태계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E5FF"/>
                </a:solidFill>
              </a:rPr>
              <a:t>여러 Workflow  ·  여러 사용자  ·  API · UI  ·  서비스화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5486400" cy="1097280"/>
          </a:xfrm>
          <a:prstGeom prst="rect">
            <a:avLst/>
          </a:prstGeom>
          <a:solidFill>
            <a:srgbClr val="031A2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</a:rPr>
              <a:t>다중 워크플로우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0FF"/>
                </a:solidFill>
              </a:rPr>
              <a:t>여러 프로젝트 동시 운영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828800"/>
            <a:ext cx="5486400" cy="1097280"/>
          </a:xfrm>
          <a:prstGeom prst="rect">
            <a:avLst/>
          </a:prstGeom>
          <a:solidFill>
            <a:srgbClr val="031A2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920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</a:rPr>
              <a:t>다중 사용자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3774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0FF"/>
                </a:solidFill>
              </a:rPr>
              <a:t>사용자별 권한 관리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5486400" cy="1097280"/>
          </a:xfrm>
          <a:prstGeom prst="rect">
            <a:avLst/>
          </a:prstGeom>
          <a:solidFill>
            <a:srgbClr val="031A2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91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</a:rPr>
              <a:t>비용·로그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49039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0FF"/>
                </a:solidFill>
              </a:rPr>
              <a:t>토큰 추적 + 사용량 분석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200400"/>
            <a:ext cx="5486400" cy="1097280"/>
          </a:xfrm>
          <a:prstGeom prst="rect">
            <a:avLst/>
          </a:prstGeom>
          <a:solidFill>
            <a:srgbClr val="031A2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291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</a:rPr>
              <a:t>REST API 제공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749039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0FF"/>
                </a:solidFill>
              </a:rPr>
              <a:t>외부 서비스 연동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72000"/>
            <a:ext cx="5486400" cy="1097280"/>
          </a:xfrm>
          <a:prstGeom prst="rect">
            <a:avLst/>
          </a:prstGeom>
          <a:solidFill>
            <a:srgbClr val="031A2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663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</a:rPr>
              <a:t>대시보드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1206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0FF"/>
                </a:solidFill>
              </a:rPr>
              <a:t>dashboard.py 확장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572000"/>
            <a:ext cx="5486400" cy="1097280"/>
          </a:xfrm>
          <a:prstGeom prst="rect">
            <a:avLst/>
          </a:prstGeom>
          <a:solidFill>
            <a:srgbClr val="031A2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663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</a:rPr>
              <a:t>서비스화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51206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0FF"/>
                </a:solidFill>
              </a:rPr>
              <a:t>SaaS / 내부 AI 플랫폼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1→6단계 전체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D1"/>
                </a:solidFill>
              </a:rPr>
              <a:t>단계별 능력 매트릭스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2926080" cy="502920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1615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188720"/>
            <a:ext cx="2286000" cy="502920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39" y="121615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핵심 키워드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1188720"/>
            <a:ext cx="1371600" cy="502920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23559" y="121615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자동화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1188720"/>
            <a:ext cx="1371600" cy="502920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21615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자율성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1188720"/>
            <a:ext cx="1371600" cy="502920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21615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확장성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783080"/>
            <a:ext cx="2926080" cy="640080"/>
          </a:xfrm>
          <a:prstGeom prst="rect">
            <a:avLst/>
          </a:prstGeom>
          <a:solidFill>
            <a:srgbClr val="13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874519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0FF"/>
                </a:solidFill>
              </a:rPr>
              <a:t>1️⃣ Prompt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1783080"/>
            <a:ext cx="2286000" cy="640080"/>
          </a:xfrm>
          <a:prstGeom prst="rect">
            <a:avLst/>
          </a:prstGeom>
          <a:solidFill>
            <a:srgbClr val="13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39" y="1874519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0FF"/>
                </a:solidFill>
              </a:rPr>
              <a:t>질문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0" y="1783080"/>
            <a:ext cx="1371600" cy="640080"/>
          </a:xfrm>
          <a:prstGeom prst="rect">
            <a:avLst/>
          </a:prstGeom>
          <a:solidFill>
            <a:srgbClr val="13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23559" y="1874519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0FF"/>
                </a:solidFill>
              </a:rPr>
              <a:t>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1783080"/>
            <a:ext cx="1371600" cy="640080"/>
          </a:xfrm>
          <a:prstGeom prst="rect">
            <a:avLst/>
          </a:prstGeom>
          <a:solidFill>
            <a:srgbClr val="13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1874519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0FF"/>
                </a:solidFill>
              </a:rPr>
              <a:t>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1783080"/>
            <a:ext cx="1371600" cy="640080"/>
          </a:xfrm>
          <a:prstGeom prst="rect">
            <a:avLst/>
          </a:prstGeom>
          <a:solidFill>
            <a:srgbClr val="13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1874519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0FF"/>
                </a:solidFill>
              </a:rPr>
              <a:t>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468880"/>
            <a:ext cx="2926080" cy="640080"/>
          </a:xfrm>
          <a:prstGeom prst="rect">
            <a:avLst/>
          </a:prstGeom>
          <a:solidFill>
            <a:srgbClr val="13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56032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0FF"/>
                </a:solidFill>
              </a:rPr>
              <a:t>2️⃣ Agent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6120" y="2468880"/>
            <a:ext cx="2286000" cy="640080"/>
          </a:xfrm>
          <a:prstGeom prst="rect">
            <a:avLst/>
          </a:prstGeom>
          <a:solidFill>
            <a:srgbClr val="13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39" y="25603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0FF"/>
                </a:solidFill>
              </a:rPr>
              <a:t>역할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2468880"/>
            <a:ext cx="1371600" cy="640080"/>
          </a:xfrm>
          <a:prstGeom prst="rect">
            <a:avLst/>
          </a:prstGeom>
          <a:solidFill>
            <a:srgbClr val="13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23559" y="25603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0FF"/>
                </a:solidFill>
              </a:rPr>
              <a:t>△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95160" y="2468880"/>
            <a:ext cx="1371600" cy="640080"/>
          </a:xfrm>
          <a:prstGeom prst="rect">
            <a:avLst/>
          </a:prstGeom>
          <a:solidFill>
            <a:srgbClr val="13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0" y="25603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0FF"/>
                </a:solidFill>
              </a:rPr>
              <a:t>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0" y="2468880"/>
            <a:ext cx="1371600" cy="640080"/>
          </a:xfrm>
          <a:prstGeom prst="rect">
            <a:avLst/>
          </a:prstGeom>
          <a:solidFill>
            <a:srgbClr val="13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8200" y="25603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0FF"/>
                </a:solidFill>
              </a:rPr>
              <a:t>△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154680"/>
            <a:ext cx="2926080" cy="640080"/>
          </a:xfrm>
          <a:prstGeom prst="rect">
            <a:avLst/>
          </a:prstGeom>
          <a:solidFill>
            <a:srgbClr val="13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324612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0FF"/>
                </a:solidFill>
              </a:rPr>
              <a:t>3️⃣ Orchestration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46120" y="3154680"/>
            <a:ext cx="2286000" cy="640080"/>
          </a:xfrm>
          <a:prstGeom prst="rect">
            <a:avLst/>
          </a:prstGeom>
          <a:solidFill>
            <a:srgbClr val="13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91839" y="32461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0FF"/>
                </a:solidFill>
              </a:rPr>
              <a:t>AI 연결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77840" y="3154680"/>
            <a:ext cx="1371600" cy="640080"/>
          </a:xfrm>
          <a:prstGeom prst="rect">
            <a:avLst/>
          </a:prstGeom>
          <a:solidFill>
            <a:srgbClr val="13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23559" y="32461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0FF"/>
                </a:solidFill>
              </a:rPr>
              <a:t>△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95160" y="3154680"/>
            <a:ext cx="1371600" cy="640080"/>
          </a:xfrm>
          <a:prstGeom prst="rect">
            <a:avLst/>
          </a:prstGeom>
          <a:solidFill>
            <a:srgbClr val="13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0" y="32461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0FF"/>
                </a:solidFill>
              </a:rPr>
              <a:t>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12480" y="3154680"/>
            <a:ext cx="1371600" cy="640080"/>
          </a:xfrm>
          <a:prstGeom prst="rect">
            <a:avLst/>
          </a:prstGeom>
          <a:solidFill>
            <a:srgbClr val="13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58200" y="32461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0FF"/>
                </a:solidFill>
              </a:rPr>
              <a:t>○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840480"/>
            <a:ext cx="2926080" cy="640080"/>
          </a:xfrm>
          <a:prstGeom prst="rect">
            <a:avLst/>
          </a:prstGeom>
          <a:solidFill>
            <a:srgbClr val="13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393192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0FF"/>
                </a:solidFill>
              </a:rPr>
              <a:t>4️⃣ Automation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46120" y="3840480"/>
            <a:ext cx="2286000" cy="640080"/>
          </a:xfrm>
          <a:prstGeom prst="rect">
            <a:avLst/>
          </a:prstGeom>
          <a:solidFill>
            <a:srgbClr val="13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91839" y="39319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0FF"/>
                </a:solidFill>
              </a:rPr>
              <a:t>자동 실행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77840" y="3840480"/>
            <a:ext cx="1371600" cy="640080"/>
          </a:xfrm>
          <a:prstGeom prst="rect">
            <a:avLst/>
          </a:prstGeom>
          <a:solidFill>
            <a:srgbClr val="13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23559" y="39319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0FF"/>
                </a:solidFill>
              </a:rPr>
              <a:t>✅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95160" y="3840480"/>
            <a:ext cx="1371600" cy="640080"/>
          </a:xfrm>
          <a:prstGeom prst="rect">
            <a:avLst/>
          </a:prstGeom>
          <a:solidFill>
            <a:srgbClr val="13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40880" y="39319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0FF"/>
                </a:solidFill>
              </a:rPr>
              <a:t>△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12480" y="3840480"/>
            <a:ext cx="1371600" cy="640080"/>
          </a:xfrm>
          <a:prstGeom prst="rect">
            <a:avLst/>
          </a:prstGeom>
          <a:solidFill>
            <a:srgbClr val="13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58200" y="39319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0FF"/>
                </a:solidFill>
              </a:rPr>
              <a:t>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526280"/>
            <a:ext cx="2926080" cy="640080"/>
          </a:xfrm>
          <a:prstGeom prst="rect">
            <a:avLst/>
          </a:prstGeom>
          <a:solidFill>
            <a:srgbClr val="2A100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461772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D700"/>
                </a:solidFill>
              </a:rPr>
              <a:t>🔥 5 Autonomous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46120" y="4526280"/>
            <a:ext cx="2286000" cy="640080"/>
          </a:xfrm>
          <a:prstGeom prst="rect">
            <a:avLst/>
          </a:prstGeom>
          <a:solidFill>
            <a:srgbClr val="2A100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91839" y="46177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D700"/>
                </a:solidFill>
              </a:rPr>
              <a:t>자율 판단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77840" y="4526280"/>
            <a:ext cx="1371600" cy="640080"/>
          </a:xfrm>
          <a:prstGeom prst="rect">
            <a:avLst/>
          </a:prstGeom>
          <a:solidFill>
            <a:srgbClr val="2A100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23559" y="46177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D700"/>
                </a:solidFill>
              </a:rPr>
              <a:t>✅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95160" y="4526280"/>
            <a:ext cx="1371600" cy="640080"/>
          </a:xfrm>
          <a:prstGeom prst="rect">
            <a:avLst/>
          </a:prstGeom>
          <a:solidFill>
            <a:srgbClr val="2A100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40880" y="46177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D700"/>
                </a:solidFill>
              </a:rPr>
              <a:t>✅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412480" y="4526280"/>
            <a:ext cx="1371600" cy="640080"/>
          </a:xfrm>
          <a:prstGeom prst="rect">
            <a:avLst/>
          </a:prstGeom>
          <a:solidFill>
            <a:srgbClr val="2A100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58200" y="46177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D700"/>
                </a:solidFill>
              </a:rPr>
              <a:t>○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5212080"/>
            <a:ext cx="2926080" cy="640080"/>
          </a:xfrm>
          <a:prstGeom prst="rect">
            <a:avLst/>
          </a:prstGeom>
          <a:solidFill>
            <a:srgbClr val="2A100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530352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D700"/>
                </a:solidFill>
              </a:rPr>
              <a:t>🔥 6 Platform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46120" y="5212080"/>
            <a:ext cx="2286000" cy="640080"/>
          </a:xfrm>
          <a:prstGeom prst="rect">
            <a:avLst/>
          </a:prstGeom>
          <a:solidFill>
            <a:srgbClr val="2A100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91839" y="53035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D700"/>
                </a:solidFill>
              </a:rPr>
              <a:t>생태계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577840" y="5212080"/>
            <a:ext cx="1371600" cy="640080"/>
          </a:xfrm>
          <a:prstGeom prst="rect">
            <a:avLst/>
          </a:prstGeom>
          <a:solidFill>
            <a:srgbClr val="2A100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23559" y="53035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D700"/>
                </a:solidFill>
              </a:rPr>
              <a:t>✅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995160" y="5212080"/>
            <a:ext cx="1371600" cy="640080"/>
          </a:xfrm>
          <a:prstGeom prst="rect">
            <a:avLst/>
          </a:prstGeom>
          <a:solidFill>
            <a:srgbClr val="2A100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40880" y="53035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D700"/>
                </a:solidFill>
              </a:rPr>
              <a:t>✅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412480" y="5212080"/>
            <a:ext cx="1371600" cy="640080"/>
          </a:xfrm>
          <a:prstGeom prst="rect">
            <a:avLst/>
          </a:prstGeom>
          <a:solidFill>
            <a:srgbClr val="2A100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458200" y="53035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D700"/>
                </a:solidFill>
              </a:rPr>
              <a:t>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현재 위치와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D1"/>
                </a:solidFill>
              </a:rPr>
              <a:t>우리는 어디에 있고, 어디로 가는가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828800" cy="1097280"/>
          </a:xfrm>
          <a:prstGeom prst="rect">
            <a:avLst/>
          </a:prstGeom>
          <a:solidFill>
            <a:srgbClr val="4A9FFF"/>
          </a:solidFill>
          <a:ln w="19050">
            <a:solidFill>
              <a:srgbClr val="4A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1280160"/>
            <a:ext cx="1828800" cy="1097280"/>
          </a:xfrm>
          <a:prstGeom prst="rect">
            <a:avLst/>
          </a:prstGeom>
          <a:solidFill>
            <a:srgbClr val="4A9FFF"/>
          </a:solidFill>
          <a:ln w="19050">
            <a:solidFill>
              <a:srgbClr val="4A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13716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874519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1828800" cy="1097280"/>
          </a:xfrm>
          <a:prstGeom prst="rect">
            <a:avLst/>
          </a:prstGeom>
          <a:solidFill>
            <a:srgbClr val="4A9FFF"/>
          </a:solidFill>
          <a:ln w="19050">
            <a:solidFill>
              <a:srgbClr val="4A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3716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Orch.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874519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1828800" cy="1097280"/>
          </a:xfrm>
          <a:prstGeom prst="rect">
            <a:avLst/>
          </a:prstGeom>
          <a:solidFill>
            <a:srgbClr val="4A9FFF"/>
          </a:solidFill>
          <a:ln w="19050">
            <a:solidFill>
              <a:srgbClr val="4A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3716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Automation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874519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280160"/>
            <a:ext cx="1828800" cy="1097280"/>
          </a:xfrm>
          <a:prstGeom prst="rect">
            <a:avLst/>
          </a:prstGeom>
          <a:solidFill>
            <a:srgbClr val="FFD70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13716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Autonomous★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1874519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0" y="1280160"/>
            <a:ext cx="1828800" cy="1097280"/>
          </a:xfrm>
          <a:prstGeom prst="rect">
            <a:avLst/>
          </a:prstGeom>
          <a:solidFill>
            <a:srgbClr val="131A3A"/>
          </a:solidFill>
          <a:ln w="19050">
            <a:solidFill>
              <a:srgbClr val="B0B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04120" y="13716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BED1"/>
                </a:solidFill>
              </a:rPr>
              <a:t>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5603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D700"/>
                </a:solidFill>
              </a:rPr>
              <a:t>← 완성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B0BED1"/>
                </a:solidFill>
              </a:rPr>
              <a:t>목표 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246120"/>
            <a:ext cx="512064" cy="292608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완료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32004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9FFF"/>
                </a:solidFill>
              </a:rPr>
              <a:t>1~4단계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32004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0FF"/>
                </a:solidFill>
              </a:rPr>
              <a:t>기반 구축 완료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023359"/>
            <a:ext cx="512064" cy="2926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완료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3977639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</a:rPr>
              <a:t>5단계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3977639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0FF"/>
                </a:solidFill>
              </a:rPr>
              <a:t>자율 시스템 핵심 요소 구현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800600"/>
            <a:ext cx="512064" cy="2926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진행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7548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</a:rPr>
              <a:t>5단계 고도화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47548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0FF"/>
                </a:solidFill>
              </a:rPr>
              <a:t>자율성 강화·학습 루프 실전 적용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577840"/>
            <a:ext cx="512064" cy="29260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55321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</a:rPr>
              <a:t>6단계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55321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0FF"/>
                </a:solidFill>
              </a:rPr>
              <a:t>Platform — 대시보드·다중 사용자·API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6B35"/>
                </a:solidFill>
              </a:rPr>
              <a:t>"AI는 도구가 아니라 팀이다"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B0BED1"/>
                </a:solidFill>
              </a:rPr>
              <a:t>1단계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1645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A9FFF"/>
                </a:solidFill>
              </a:rPr>
              <a:t>  →  질문한다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317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B0BED1"/>
                </a:solidFill>
              </a:rPr>
              <a:t>2단계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331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A9FFF"/>
                </a:solidFill>
              </a:rPr>
              <a:t>  →  역할을 준다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0175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B0BED1"/>
                </a:solidFill>
              </a:rPr>
              <a:t>3단계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3017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A9FFF"/>
                </a:solidFill>
              </a:rPr>
              <a:t>  →  연결한다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703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B0BED1"/>
                </a:solidFill>
              </a:rPr>
              <a:t>4단계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703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A9FFF"/>
                </a:solidFill>
              </a:rPr>
              <a:t>  →  자동화한다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3891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B0BED1"/>
                </a:solidFill>
              </a:rPr>
              <a:t>5단계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4389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700"/>
                </a:solidFill>
              </a:rPr>
              <a:t>  →  스스로 판단한다  ←  지금 여기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0749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B0BED1"/>
                </a:solidFill>
              </a:rPr>
              <a:t>6단계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5074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E5FF"/>
                </a:solidFill>
              </a:rPr>
              <a:t>  →  생태계가 된다  ←  다음 목표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6217920"/>
            <a:ext cx="10360152" cy="27432"/>
          </a:xfrm>
          <a:prstGeom prst="rect">
            <a:avLst/>
          </a:prstGeom>
          <a:solidFill>
            <a:srgbClr val="4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3093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ED1"/>
                </a:solidFill>
              </a:rPr>
              <a:t>Orchestration Kit v1.0  |  github.com/bernakilljos/orchestration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