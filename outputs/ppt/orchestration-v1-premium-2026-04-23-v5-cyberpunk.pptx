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00E5FF"/>
                </a:solidFill>
                <a:latin typeface="Consolas"/>
              </a:defRPr>
            </a:pPr>
            <a:r>
              <a:t>ORCHESTRATION.KIT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E5FF"/>
                </a:solidFill>
                <a:latin typeface="Consolas"/>
              </a:defRPr>
            </a:pPr>
            <a:r>
              <a:t>━━━━━━━━━━━━━━━━━━━━━━━━━━━━━━━━━━━━━━━━━━━━━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A8B0C0"/>
                </a:solidFill>
                <a:latin typeface="Consolas"/>
              </a:defRPr>
            </a:pPr>
            <a:r>
              <a:t>v1.0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687A"/>
                </a:solidFill>
                <a:latin typeface="Consolas"/>
              </a:defRPr>
            </a:pPr>
            <a:r>
              <a:t>CLAUDE.OPUS.4_7 × CODEX × HAIKU.4_5 × GEMINI.FLASH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PART.01 &gt;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[ID:002/20]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DAYS ELAPSED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640080"/>
            <a:ext cx="1371600" cy="109728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7772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097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3,500+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640080"/>
            <a:ext cx="1371600" cy="109728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79" y="7772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UPGRADE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1097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2E7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8229600" cy="73152"/>
          </a:xfrm>
          <a:prstGeom prst="rect">
            <a:avLst/>
          </a:prstGeom>
          <a:solidFill>
            <a:srgbClr val="3A465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874520"/>
            <a:ext cx="274320" cy="2743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687A"/>
                </a:solidFill>
                <a:latin typeface="Consolas"/>
              </a:defRPr>
            </a:pPr>
            <a:r>
              <a:t>04-10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KIT.INITIATED</a:t>
            </a:r>
          </a:p>
        </p:txBody>
      </p:sp>
      <p:sp>
        <p:nvSpPr>
          <p:cNvPr id="18" name="Oval 17"/>
          <p:cNvSpPr/>
          <p:nvPr/>
        </p:nvSpPr>
        <p:spPr>
          <a:xfrm>
            <a:off x="2103120" y="1874520"/>
            <a:ext cx="274320" cy="2743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22402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687A"/>
                </a:solidFill>
                <a:latin typeface="Consolas"/>
              </a:defRPr>
            </a:pPr>
            <a:r>
              <a:t>04-19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14.PLUGINS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1874520"/>
            <a:ext cx="274320" cy="274320"/>
          </a:xfrm>
          <a:prstGeom prst="ellipse">
            <a:avLst/>
          </a:prstGeom>
          <a:solidFill>
            <a:srgbClr val="A8B0C0"/>
          </a:solidFill>
          <a:ln w="12700">
            <a:solidFill>
              <a:srgbClr val="A8B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2402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687A"/>
                </a:solidFill>
                <a:latin typeface="Consolas"/>
              </a:defRPr>
            </a:pPr>
            <a:r>
              <a:t>04-20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A8B0C0"/>
                </a:solidFill>
                <a:latin typeface="Consolas"/>
              </a:defRPr>
            </a:pPr>
            <a:r>
              <a:t>SNAPSHOT</a:t>
            </a:r>
          </a:p>
        </p:txBody>
      </p:sp>
      <p:sp>
        <p:nvSpPr>
          <p:cNvPr id="24" name="Oval 23"/>
          <p:cNvSpPr/>
          <p:nvPr/>
        </p:nvSpPr>
        <p:spPr>
          <a:xfrm>
            <a:off x="5212080" y="1874520"/>
            <a:ext cx="274320" cy="274320"/>
          </a:xfrm>
          <a:prstGeom prst="ellipse">
            <a:avLst/>
          </a:prstGeom>
          <a:solidFill>
            <a:srgbClr val="FF2E7A"/>
          </a:solidFill>
          <a:ln w="1270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2402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687A"/>
                </a:solidFill>
                <a:latin typeface="Consolas"/>
              </a:defRPr>
            </a:pPr>
            <a:r>
              <a:t>04-22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FF2E7A"/>
                </a:solidFill>
                <a:latin typeface="Consolas"/>
              </a:defRPr>
            </a:pPr>
            <a:r>
              <a:t>OPUS.4.7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1874520"/>
            <a:ext cx="274320" cy="274320"/>
          </a:xfrm>
          <a:prstGeom prst="ellipse">
            <a:avLst/>
          </a:prstGeom>
          <a:solidFill>
            <a:srgbClr val="39FF6C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2402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687A"/>
                </a:solidFill>
                <a:latin typeface="Consolas"/>
              </a:defRPr>
            </a:pPr>
            <a:r>
              <a:t>04-23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39FF6C"/>
                </a:solidFill>
                <a:latin typeface="Consolas"/>
              </a:defRPr>
            </a:pPr>
            <a:r>
              <a:t>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8229600" cy="1645920"/>
          </a:xfrm>
          <a:prstGeom prst="rect">
            <a:avLst/>
          </a:prstGeom>
          <a:solidFill>
            <a:srgbClr val="0A0F1A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3192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[2026-04-10 08:30] system.initialize completed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[2026-04-19 14:32] plugins.stable = 14 ✓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[2026-04-20 12:00] snapshot.created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[2026-04-22 19:15] opus.4.7.released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09:00] phase1+2.absorption.complete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PART.01 &gt;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[ID:003/20]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640080"/>
            <a:ext cx="1371600" cy="109728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7772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SPEC-ONLY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097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2E7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640080"/>
            <a:ext cx="1371600" cy="109728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79" y="7772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1097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14F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exec_orch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182880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ai_rag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82880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bundles_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182880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mcp_dev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9748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ai_coding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269748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bundles_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69748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mcp_github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269748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ai_pptx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6616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bundles_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356616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ai_excel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56616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mcp_figma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56616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ai_video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3484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ai_audio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17320" y="4434840"/>
            <a:ext cx="73152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00E5FF"/>
                </a:solidFill>
                <a:latin typeface="Consolas"/>
              </a:defRPr>
            </a:pPr>
            <a:r>
              <a:t>exec_watch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PART.01 &gt;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[ID:004/20]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463040"/>
            <a:ext cx="731520" cy="731520"/>
          </a:xfrm>
          <a:prstGeom prst="ellipse">
            <a:avLst/>
          </a:prstGeom>
          <a:solidFill>
            <a:srgbClr val="1C233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5FF"/>
                </a:solidFill>
                <a:latin typeface="Consolas"/>
              </a:defRPr>
            </a:pPr>
            <a:r>
              <a:t>CLAUDE</a:t>
            </a:r>
          </a:p>
          <a:p>
            <a:r>
              <a:t>OPUS</a:t>
            </a:r>
          </a:p>
        </p:txBody>
      </p:sp>
      <p:sp>
        <p:nvSpPr>
          <p:cNvPr id="7" name="Oval 6"/>
          <p:cNvSpPr/>
          <p:nvPr/>
        </p:nvSpPr>
        <p:spPr>
          <a:xfrm>
            <a:off x="3749040" y="1463040"/>
            <a:ext cx="731520" cy="731520"/>
          </a:xfrm>
          <a:prstGeom prst="ellipse">
            <a:avLst/>
          </a:prstGeom>
          <a:solidFill>
            <a:srgbClr val="1C2332"/>
          </a:solidFill>
          <a:ln w="2540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2E7A"/>
                </a:solidFill>
                <a:latin typeface="Consolas"/>
              </a:defRPr>
            </a:pPr>
            <a:r>
              <a:t>CODEX</a:t>
            </a:r>
          </a:p>
          <a:p>
            <a:r>
              <a:t>×4</a:t>
            </a:r>
          </a:p>
        </p:txBody>
      </p:sp>
      <p:sp>
        <p:nvSpPr>
          <p:cNvPr id="9" name="Oval 8"/>
          <p:cNvSpPr/>
          <p:nvPr/>
        </p:nvSpPr>
        <p:spPr>
          <a:xfrm>
            <a:off x="6492240" y="1463040"/>
            <a:ext cx="731520" cy="731520"/>
          </a:xfrm>
          <a:prstGeom prst="ellipse">
            <a:avLst/>
          </a:prstGeom>
          <a:solidFill>
            <a:srgbClr val="1C2332"/>
          </a:solidFill>
          <a:ln w="254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9FF6C"/>
                </a:solidFill>
                <a:latin typeface="Consolas"/>
              </a:defRPr>
            </a:pPr>
            <a:r>
              <a:t>GEMINI</a:t>
            </a:r>
          </a:p>
          <a:p>
            <a:r>
              <a:t>×2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1828800"/>
            <a:ext cx="2011679" cy="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80560" y="1828800"/>
            <a:ext cx="2011680" cy="0"/>
          </a:xfrm>
          <a:prstGeom prst="line">
            <a:avLst/>
          </a:prstGeom>
          <a:ln w="25400">
            <a:solidFill>
              <a:srgbClr val="FF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solidFill>
            <a:srgbClr val="0A0F1A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10:15] orca-dispatch started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10:15] codex-auto spawned 4 workers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10:15] gemini-auto spawned 2 workers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10:17] task-001.md picked by codex-1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10:18] task-001.md completed ✓ 2.3s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PART.01 &gt;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[ID:005/20]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E5FF"/>
                </a:solidFill>
                <a:latin typeface="Consolas"/>
              </a:defRPr>
            </a:pPr>
            <a:r>
              <a:t>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F0F2F8"/>
                </a:solidFill>
                <a:latin typeface="Consolas"/>
              </a:defRPr>
            </a:pPr>
            <a:r>
              <a:t>plugins/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F0F2F8"/>
                </a:solidFill>
                <a:latin typeface="Consolas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F0F2F8"/>
                </a:solidFill>
                <a:latin typeface="Consolas"/>
              </a:defRPr>
            </a:pPr>
            <a:r>
              <a:t>14 stable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F0F2F8"/>
                </a:solidFill>
                <a:latin typeface="Consolas"/>
              </a:defRPr>
            </a:pPr>
            <a:r>
              <a:t>10 spec-only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F0F2F8"/>
                </a:solidFill>
                <a:latin typeface="Consolas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F0F2F8"/>
                </a:solidFill>
                <a:latin typeface="Consolas"/>
              </a:defRPr>
            </a:pPr>
            <a:r>
              <a:t>All plugins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F0F2F8"/>
                </a:solidFill>
                <a:latin typeface="Consolas"/>
              </a:defRPr>
            </a:pPr>
            <a:r>
              <a:t>encapsulated here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971800"/>
            <a:ext cx="914400" cy="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ght Arrow 8"/>
          <p:cNvSpPr/>
          <p:nvPr/>
        </p:nvSpPr>
        <p:spPr>
          <a:xfrm>
            <a:off x="4846320" y="2834640"/>
            <a:ext cx="365760" cy="274320"/>
          </a:xfrm>
          <a:prstGeom prst="rightArrow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4688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8B0C0"/>
                </a:solidFill>
                <a:latin typeface="Consolas"/>
              </a:defRPr>
            </a:pPr>
            <a:r>
              <a:t>sync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828800"/>
            <a:ext cx="3200400" cy="2286000"/>
          </a:xfrm>
          <a:prstGeom prst="rect">
            <a:avLst/>
          </a:prstGeom>
          <a:solidFill>
            <a:srgbClr val="1C2332"/>
          </a:solidFill>
          <a:ln w="19050">
            <a:solidFill>
              <a:srgbClr val="3A465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B0C0"/>
                </a:solidFill>
                <a:latin typeface="Consolas"/>
              </a:defRPr>
            </a:pPr>
            <a:r>
              <a:t>DERIVED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560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A8B0C0"/>
                </a:solidFill>
                <a:latin typeface="Consolas"/>
              </a:defRPr>
            </a:pPr>
            <a:r>
              <a:t>.claude/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A8B0C0"/>
                </a:solidFill>
                <a:latin typeface="Consolas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A8B0C0"/>
                </a:solidFill>
                <a:latin typeface="Consolas"/>
              </a:defRPr>
            </a:pPr>
            <a:r>
              <a:t>commands/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A8B0C0"/>
                </a:solidFill>
                <a:latin typeface="Consolas"/>
              </a:defRPr>
            </a:pPr>
            <a:r>
              <a:t>skills/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A8B0C0"/>
                </a:solidFill>
                <a:latin typeface="Consolas"/>
              </a:defRPr>
            </a:pPr>
            <a:r>
              <a:t>scripts/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A8B0C0"/>
                </a:solidFill>
                <a:latin typeface="Consolas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A8B0C0"/>
                </a:solidFill>
                <a:latin typeface="Consolas"/>
              </a:defRPr>
            </a:pPr>
            <a:r>
              <a:t>Auto-generated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lgun Gothic"/>
              </a:defRPr>
            </a:pPr>
            <a:r>
              <a:t>✓ Edit in plugins/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2F8"/>
                </a:solidFill>
                <a:latin typeface="Malgun Gothic"/>
              </a:defRPr>
            </a:pPr>
            <a:r>
              <a:t>✓ .claude/ auto-regenerated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lgun Gothic"/>
              </a:defRPr>
            </a:pPr>
            <a:r>
              <a:t>✓ No drift (validate-plugin-schema)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2F8"/>
                </a:solidFill>
                <a:latin typeface="Malgun Gothic"/>
              </a:defRPr>
            </a:pPr>
            <a:r>
              <a:t>✓ Monthly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PART.01 &gt;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[ID:006/20]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  <a:latin typeface="Malgun Gothic"/>
              </a:defRPr>
            </a:pPr>
            <a:r>
              <a:t>PHASE CONSTELLATION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103120" cy="36576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PHASE 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E5FF"/>
                </a:solidFill>
                <a:latin typeface="Consolas"/>
              </a:defRPr>
            </a:pPr>
            <a:r>
              <a:t>14 stable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E5FF"/>
                </a:solidFill>
                <a:latin typeface="Consolas"/>
              </a:defRPr>
            </a:pPr>
            <a:r>
              <a:t>2,061 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645920"/>
            <a:ext cx="2103120" cy="36576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2E7A"/>
                </a:solidFill>
                <a:latin typeface="Consolas"/>
              </a:defRPr>
            </a:pPr>
            <a:r>
              <a:t>PHASE 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2E7A"/>
                </a:solidFill>
                <a:latin typeface="Consolas"/>
              </a:defRPr>
            </a:pPr>
            <a:r>
              <a:t>7 agents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2E7A"/>
                </a:solidFill>
                <a:latin typeface="Consolas"/>
              </a:defRPr>
            </a:pPr>
            <a:r>
              <a:t>+24h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645920"/>
            <a:ext cx="2103120" cy="36576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D14F"/>
                </a:solidFill>
                <a:latin typeface="Consolas"/>
              </a:defRPr>
            </a:pPr>
            <a:r>
              <a:t>PHASE 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D14F"/>
                </a:solidFill>
                <a:latin typeface="Consolas"/>
              </a:defRPr>
            </a:pPr>
            <a:r>
              <a:t>10 spec-only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D14F"/>
                </a:solidFill>
                <a:latin typeface="Consolas"/>
              </a:defRPr>
            </a:pPr>
            <a:r>
              <a:t>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45720"/>
          </a:xfrm>
          <a:prstGeom prst="rect">
            <a:avLst/>
          </a:prstGeom>
          <a:solidFill>
            <a:srgbClr val="FF2E7A"/>
          </a:solidFill>
          <a:ln w="635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PART.02 &gt; INFLECTION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[ID:007/20]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 b="1">
                <a:solidFill>
                  <a:srgbClr val="00E5FF"/>
                </a:solidFill>
                <a:latin typeface="Consolas"/>
              </a:defRPr>
            </a:pPr>
            <a:r>
              <a:t>OPUS 4.7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8B0C0"/>
                </a:solidFill>
                <a:latin typeface="Consolas"/>
              </a:defRPr>
            </a:pPr>
            <a:r>
              <a:t>Released 2026-04-22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280160" cy="9144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1M CTX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3200400"/>
            <a:ext cx="1280160" cy="9144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8K 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657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2E7A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200400"/>
            <a:ext cx="1280160" cy="9144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90%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657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14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1280160" cy="914400"/>
          </a:xfrm>
          <a:prstGeom prst="rect">
            <a:avLst/>
          </a:prstGeom>
          <a:solidFill>
            <a:srgbClr val="1C2332"/>
          </a:solidFill>
          <a:ln w="19050">
            <a:solidFill>
              <a:srgbClr val="39FF6C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HAIKU.4.5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57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9FF6C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9FF6C"/>
                </a:solidFill>
                <a:latin typeface="Consolas"/>
              </a:defRPr>
            </a:pPr>
            <a:r>
              <a:t>`&gt; The cost math inverted overnight.`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PART.02 &gt; 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[ID:008/20]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2E7A"/>
                </a:solidFill>
                <a:latin typeface="Consolas"/>
              </a:defRPr>
            </a:pPr>
            <a:r>
              <a:t>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914400"/>
            <a:ext cx="3657600" cy="50292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097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8080"/>
                </a:solidFill>
                <a:latin typeface="Consolas"/>
              </a:defRPr>
            </a:pPr>
            <a:r>
              <a:t>- 7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645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9FF6C"/>
                </a:solidFill>
                <a:latin typeface="Consolas"/>
              </a:defRPr>
            </a:pPr>
            <a:r>
              <a:t>+ 7 agents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8080"/>
                </a:solidFill>
                <a:latin typeface="Consolas"/>
              </a:defRPr>
            </a:pPr>
            <a:r>
              <a:t>- manual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031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9FF6C"/>
                </a:solidFill>
                <a:latin typeface="Consolas"/>
              </a:defRPr>
            </a:pPr>
            <a:r>
              <a:t>+ exec_orca 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8080"/>
                </a:solidFill>
                <a:latin typeface="Consolas"/>
              </a:defRPr>
            </a:pPr>
            <a:r>
              <a:t>- no orch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603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9FF6C"/>
                </a:solidFill>
                <a:latin typeface="Consolas"/>
              </a:defRPr>
            </a:pPr>
            <a:r>
              <a:t>+ multi-AI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8080"/>
                </a:solidFill>
                <a:latin typeface="Consolas"/>
              </a:defRPr>
            </a:pPr>
            <a:r>
              <a:t>- codex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0175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9FF6C"/>
                </a:solidFill>
                <a:latin typeface="Consolas"/>
              </a:defRPr>
            </a:pPr>
            <a:r>
              <a:t>+ codex×4, gemini×2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8080"/>
                </a:solidFill>
                <a:latin typeface="Consolas"/>
              </a:defRPr>
            </a:pPr>
            <a:r>
              <a:t>- no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474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9FF6C"/>
                </a:solidFill>
                <a:latin typeface="Consolas"/>
              </a:defRPr>
            </a:pPr>
            <a:r>
              <a:t>+ 85% savings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[ID:009/20]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  <a:latin typeface="Malgun Gothic"/>
              </a:defRPr>
            </a:pPr>
            <a:r>
              <a:t>PHASE 1+2 DELTA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8 Tables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37160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0876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288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11 Modules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37160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50876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INSERT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8288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14F"/>
                </a:solidFill>
                <a:latin typeface="Consolas"/>
              </a:defRPr>
            </a:pPr>
            <a:r>
              <a:t>2,061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37160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19" y="150876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19" y="18288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2E7A"/>
                </a:solidFill>
                <a:latin typeface="Consolas"/>
              </a:defRPr>
            </a:pPr>
            <a:r>
              <a:t>7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137160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39FF6C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7999" y="150876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18288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9FF6C"/>
                </a:solidFill>
                <a:latin typeface="Consolas"/>
              </a:defRPr>
            </a:pPr>
            <a:r>
              <a:t>33/33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14F"/>
                </a:solidFill>
                <a:latin typeface="Consolas"/>
              </a:defRPr>
            </a:pPr>
            <a:r>
              <a:t>90% Cache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338328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5204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BACKOFF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8404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10m-2h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38328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35204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38404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25 Plugins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338328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19" y="35204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19" y="38404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5 Validators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59" y="3383280"/>
            <a:ext cx="137160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39FF6C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7999" y="35204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CHANGES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7999" y="38404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9FF6C"/>
                </a:solidFill>
                <a:latin typeface="Consolas"/>
              </a:defRPr>
            </a:pPr>
            <a:r>
              <a:t>0 Breaking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[ID:010/20]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ORCA.DB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name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cpu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6304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plugin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status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6304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task_id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level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msg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37160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key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value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ttl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PLUGINS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prefix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name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47472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566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HEARTBEATS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worker_id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alive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47472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566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QUOTA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ai_model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used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limit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474720"/>
            <a:ext cx="16459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566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hash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tokens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>
                <a:solidFill>
                  <a:srgbClr val="5A687A"/>
                </a:solidFill>
                <a:latin typeface="Consolas"/>
              </a:defRPr>
            </a:pPr>
            <a:r>
              <a:t>• hit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200400"/>
            <a:ext cx="3017520" cy="2103120"/>
          </a:xfrm>
          <a:prstGeom prst="rect">
            <a:avLst/>
          </a:prstGeom>
          <a:solidFill>
            <a:srgbClr val="0A0F1A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329184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-- worker heartbeat check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SELECT worker_id, last_heartbeat FROM workers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WHERE status='running' ORDER BY last_heartbeat DESC;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worker_id  | last_heartbeat |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codex-1    | 2026-04-23 10:18:42 | active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gemini-1   | 2026-04-23 10:17:30 | 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[ID:011/20]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40080"/>
            <a:ext cx="2286000" cy="320040"/>
          </a:xfrm>
          <a:prstGeom prst="roundRect">
            <a:avLst/>
          </a:prstGeom>
          <a:solidFill>
            <a:srgbClr val="1C2332"/>
          </a:solidFill>
          <a:ln w="1905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9FF6C"/>
                </a:solidFill>
                <a:latin typeface="Consolas"/>
              </a:defRPr>
            </a:pPr>
            <a:r>
              <a:t>✓ WATCHDOG.STATUS: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Consolas"/>
              </a:defRPr>
            </a:pPr>
            <a:r>
              <a:t>Exponential Backoff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371600" cy="13716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E5FF"/>
                </a:solidFill>
                <a:latin typeface="Consolas"/>
              </a:defRPr>
            </a:pPr>
            <a:r>
              <a:t>10m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011680"/>
            <a:ext cx="1371600" cy="13716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3566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E5FF"/>
                </a:solidFill>
                <a:latin typeface="Consolas"/>
              </a:defRPr>
            </a:pPr>
            <a:r>
              <a:t>20m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1371600" cy="13716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2E7A"/>
                </a:solidFill>
                <a:latin typeface="Consolas"/>
              </a:defRPr>
            </a:pPr>
            <a:r>
              <a:t>40m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1371600" cy="13716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D14F"/>
                </a:solidFill>
                <a:latin typeface="Consolas"/>
              </a:defRPr>
            </a:pPr>
            <a:r>
              <a:t>2h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0A0F1A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[WORKER STATUS] 2026-04-23 10:18:45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codex-1      | RUNNING | 1m ago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codex-2      | RUNNING | 2m ago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gemini-1     | QUOTA_WAIT | 30m remaining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haiku-2      | DEAD | reviving in 10m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[ID:012/20]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onsolas"/>
              </a:defRPr>
            </a:pPr>
            <a:r>
              <a:t>DISPATCH FLOWCHART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188720"/>
            <a:ext cx="1463040" cy="320040"/>
          </a:xfrm>
          <a:prstGeom prst="roundRect">
            <a:avLst/>
          </a:prstGeom>
          <a:solidFill>
            <a:srgbClr val="1C233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E5FF"/>
                </a:solidFill>
                <a:latin typeface="Consolas"/>
              </a:defRPr>
            </a:pPr>
            <a:r>
              <a:t>task.received</a:t>
            </a:r>
          </a:p>
        </p:txBody>
      </p:sp>
      <p:sp>
        <p:nvSpPr>
          <p:cNvPr id="8" name="Diamond 7"/>
          <p:cNvSpPr/>
          <p:nvPr/>
        </p:nvSpPr>
        <p:spPr>
          <a:xfrm>
            <a:off x="3474720" y="2011680"/>
            <a:ext cx="2194560" cy="640080"/>
          </a:xfrm>
          <a:prstGeom prst="diamond">
            <a:avLst/>
          </a:prstGeom>
          <a:solidFill>
            <a:srgbClr val="1C233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5A687A"/>
                </a:solidFill>
                <a:latin typeface="Consolas"/>
              </a:defRPr>
            </a:pPr>
            <a:r>
              <a:t>lines &gt; 500</a:t>
            </a:r>
          </a:p>
          <a:p>
            <a:pPr algn="ctr">
              <a:defRPr sz="700">
                <a:solidFill>
                  <a:srgbClr val="5A687A"/>
                </a:solidFill>
                <a:latin typeface="Consolas"/>
              </a:defRPr>
            </a:pPr>
            <a:r>
              <a:t>or complex?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286000" y="2468880"/>
            <a:ext cx="1188720" cy="914400"/>
          </a:xfrm>
          <a:prstGeom prst="line">
            <a:avLst/>
          </a:prstGeom>
          <a:ln w="19050">
            <a:solidFill>
              <a:srgbClr val="FF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0320" y="26517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2E7A"/>
                </a:solidFill>
                <a:latin typeface="Consolas"/>
              </a:defRPr>
            </a:pPr>
            <a: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383280"/>
            <a:ext cx="2377440" cy="457200"/>
          </a:xfrm>
          <a:prstGeom prst="round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2E7A"/>
                </a:solidFill>
                <a:latin typeface="Consolas"/>
              </a:defRPr>
            </a:pPr>
            <a:r>
              <a:t>CODEX (×4 parallel)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2468880"/>
            <a:ext cx="1188720" cy="91440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6517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E5FF"/>
                </a:solidFill>
                <a:latin typeface="Consolas"/>
              </a:defRPr>
            </a:pPr>
            <a: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383280"/>
            <a:ext cx="2377440" cy="457200"/>
          </a:xfrm>
          <a:prstGeom prst="round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34747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CLAUDE (direct)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AI.MATRIX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[ID:013/20]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onsolas"/>
              </a:defRPr>
            </a:pPr>
            <a:r>
              <a:t>MODEL COMPARISON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463040" cy="27432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onsolas"/>
              </a:defRPr>
            </a:pPr>
            <a:r>
              <a:t>OPUS 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Cost: $15/$75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Context: 1M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Cache: 4h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280160"/>
            <a:ext cx="1463040" cy="27432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2E7A"/>
                </a:solidFill>
                <a:latin typeface="Consolas"/>
              </a:defRPr>
            </a:pPr>
            <a:r>
              <a:t>SONNET 4.6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745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Cost: $3/$15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Context: 200K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Cache: 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280160"/>
            <a:ext cx="1463040" cy="2743200"/>
          </a:xfrm>
          <a:prstGeom prst="rect">
            <a:avLst/>
          </a:prstGeom>
          <a:solidFill>
            <a:srgbClr val="1C2332"/>
          </a:solidFill>
          <a:ln w="19050">
            <a:solidFill>
              <a:srgbClr val="39FF6C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9FF6C"/>
                </a:solidFill>
                <a:latin typeface="Consolas"/>
              </a:defRPr>
            </a:pPr>
            <a:r>
              <a:t>HAIKU 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8745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Cost: $0.8/$4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Context: 200K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Cache: 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280160"/>
            <a:ext cx="1463040" cy="274320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14F"/>
                </a:solidFill>
                <a:latin typeface="Consolas"/>
              </a:defRPr>
            </a:pPr>
            <a:r>
              <a:t>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8745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Cost: var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Context: 8K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Cache: none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280160"/>
            <a:ext cx="1463040" cy="2743200"/>
          </a:xfrm>
          <a:prstGeom prst="rect">
            <a:avLst/>
          </a:prstGeom>
          <a:solidFill>
            <a:srgbClr val="1C2332"/>
          </a:solidFill>
          <a:ln w="19050">
            <a:solidFill>
              <a:srgbClr val="B86B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86BFF"/>
                </a:solidFill>
                <a:latin typeface="Consolas"/>
              </a:defRPr>
            </a:pPr>
            <a: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8745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Cost: var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Context: 1M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700">
                <a:solidFill>
                  <a:srgbClr val="5A687A"/>
                </a:solidFill>
                <a:latin typeface="Consolas"/>
              </a:defRPr>
            </a:pPr>
            <a:r>
              <a:t>Cache: 10m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[ID:014/20]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0" b="1">
                <a:solidFill>
                  <a:srgbClr val="FFD14F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8B0C0"/>
                </a:solidFill>
                <a:latin typeface="Consolas"/>
              </a:defRPr>
            </a:pPr>
            <a:r>
              <a:t>24H × 100 TASKS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2286000" cy="548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87A"/>
                </a:solidFill>
                <a:latin typeface="Consolas"/>
              </a:defRPr>
            </a:pPr>
            <a:r>
              <a:t>NO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Consolas"/>
              </a:defRPr>
            </a:pPr>
            <a:r>
              <a:t>$1,250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200400"/>
            <a:ext cx="594360" cy="548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926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87A"/>
                </a:solidFill>
                <a:latin typeface="Consolas"/>
              </a:defRPr>
            </a:pPr>
            <a:r>
              <a:t>5MIN TTL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200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Consolas"/>
              </a:defRPr>
            </a:pPr>
            <a:r>
              <a:t>$325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200400"/>
            <a:ext cx="338328" cy="548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87A"/>
                </a:solidFill>
                <a:latin typeface="Consolas"/>
              </a:defRPr>
            </a:pPr>
            <a:r>
              <a:t>1H 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3200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Consolas"/>
              </a:defRPr>
            </a:pPr>
            <a:r>
              <a:t>$185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9FF6C"/>
                </a:solidFill>
                <a:latin typeface="Consolas"/>
              </a:defRPr>
            </a:pPr>
            <a:r>
              <a:t>cost = base × (1 + 0.25 × write) × (1 - 0.9 × hit_rate)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[ID:015/20]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onsolas"/>
              </a:defRPr>
            </a:pPr>
            <a:r>
              <a:t>24/7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E5FF"/>
                </a:solidFill>
                <a:latin typeface="Consolas"/>
              </a:defRPr>
            </a:pPr>
            <a:r>
              <a:t>1. ENQUEUE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325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task.md arrives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7373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E5FF"/>
                </a:solidFill>
                <a:latin typeface="Consolas"/>
              </a:defRPr>
            </a:pPr>
            <a:r>
              <a:t>2. 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parse 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1945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2E7A"/>
                </a:solidFill>
                <a:latin typeface="Consolas"/>
              </a:defRPr>
            </a:pPr>
            <a:r>
              <a:t>3.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402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choose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6974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D14F"/>
                </a:solidFill>
                <a:latin typeface="Consolas"/>
              </a:defRPr>
            </a:pPr>
            <a:r>
              <a:t>4.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974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run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154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E5FF"/>
                </a:solidFill>
                <a:latin typeface="Consolas"/>
              </a:defRPr>
            </a:pPr>
            <a:r>
              <a:t>5.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154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test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6118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E5FF"/>
                </a:solidFill>
                <a:latin typeface="Consolas"/>
              </a:defRPr>
            </a:pPr>
            <a:r>
              <a:t>6.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611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write orca.db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0233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069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E5FF"/>
                </a:solidFill>
                <a:latin typeface="Consolas"/>
              </a:defRPr>
            </a:pPr>
            <a:r>
              <a:t>7. CACHE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069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store prompt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480560"/>
            <a:ext cx="6400800" cy="320040"/>
          </a:xfrm>
          <a:prstGeom prst="rect">
            <a:avLst/>
          </a:prstGeom>
          <a:solidFill>
            <a:srgbClr val="1C2332"/>
          </a:solidFill>
          <a:ln w="19050">
            <a:solidFill>
              <a:srgbClr val="39FF6C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5262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FF6C"/>
                </a:solidFill>
                <a:latin typeface="Consolas"/>
              </a:defRPr>
            </a:pPr>
            <a:r>
              <a:t>8. NOTIFY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5262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→ webhook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371600"/>
            <a:ext cx="1097280" cy="9144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5087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REQUESTS/MIN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1828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14.2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560320"/>
            <a:ext cx="1097280" cy="91440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26974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AVG LATENCY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0175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2.3s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749039"/>
            <a:ext cx="1097280" cy="914400"/>
          </a:xfrm>
          <a:prstGeom prst="rect">
            <a:avLst/>
          </a:prstGeom>
          <a:solidFill>
            <a:srgbClr val="1C2332"/>
          </a:solidFill>
          <a:ln w="19050">
            <a:solidFill>
              <a:srgbClr val="39FF6C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886199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SUCCESS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20623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9FF6C"/>
                </a:solidFill>
                <a:latin typeface="Consolas"/>
              </a:defRPr>
            </a:pPr>
            <a:r>
              <a:t>99.7%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[ID:016/20]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onsolas"/>
              </a:defRPr>
            </a:pPr>
            <a:r>
              <a:t>COMMAND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E5FF"/>
                </a:solidFill>
                <a:latin typeface="Consolas"/>
              </a:defRPr>
            </a:pPr>
            <a:r>
              <a:t>&gt;&gt;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bash .claude/scripts/install.sh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python validate-plugin-schema.py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6304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2E7A"/>
                </a:solidFill>
                <a:latin typeface="Consolas"/>
              </a:defRPr>
            </a:pPr>
            <a:r>
              <a:t>&gt;&gt;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orca-dispatch task.md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codex-auto --parallel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34747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D14F"/>
                </a:solidFill>
                <a:latin typeface="Consolas"/>
              </a:defRPr>
            </a:pPr>
            <a:r>
              <a:t>&gt;&gt;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orca-status --watch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worker-health-check.sh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474720"/>
            <a:ext cx="3474720" cy="16459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56616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2E7A"/>
                </a:solidFill>
                <a:latin typeface="Consolas"/>
              </a:defRPr>
            </a:pPr>
            <a:r>
              <a:t>&gt;&gt; EMERGENCY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touch ~/.claude/orca/stop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39FF6C"/>
                </a:solidFill>
                <a:latin typeface="Consolas"/>
              </a:defRPr>
            </a:pPr>
            <a:r>
              <a:t>$ kill-workers --force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[ID:017/20]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4389120" cy="4114800"/>
          </a:xfrm>
          <a:prstGeom prst="rect">
            <a:avLst/>
          </a:prstGeom>
          <a:solidFill>
            <a:srgbClr val="0A0F1A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-- cost analysis by model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SELECT model, COUNT(*) as calls,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     SUM(tokens) as total_tokens,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     SUM(cost) as total_cost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FROM task_log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WHERE date &gt;= date('now', '-1 day')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GROUP BY model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ORDER BY total_cost DESC;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914400"/>
            <a:ext cx="3657600" cy="4114800"/>
          </a:xfrm>
          <a:prstGeom prst="rect">
            <a:avLst/>
          </a:prstGeom>
          <a:solidFill>
            <a:srgbClr val="0A0F1A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00584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model   | calls | tokens  | cost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opus    | 142   | 856K    | $18.50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codex   | 234   | 2.3M    | $24.10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gemini  | 89    | 450K    | $2.25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haiku   | 412   | 1.8M    | $0.85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137160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00E5F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COST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nsolas"/>
              </a:defRPr>
            </a:pPr>
            <a:r>
              <a:t>Opus 38%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5303520"/>
            <a:ext cx="137160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D14F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5440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TOTAL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7607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14F"/>
                </a:solidFill>
                <a:latin typeface="Consolas"/>
              </a:defRPr>
            </a:pPr>
            <a:r>
              <a:t>5.4M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303520"/>
            <a:ext cx="1371600" cy="731520"/>
          </a:xfrm>
          <a:prstGeom prst="rect">
            <a:avLst/>
          </a:prstGeom>
          <a:solidFill>
            <a:srgbClr val="1C2332"/>
          </a:solidFill>
          <a:ln w="19050">
            <a:solidFill>
              <a:srgbClr val="FF2E7A"/>
            </a:solidFill>
          </a:ln>
          <a:effectLst>
            <a:outerShdw blurRad="200000" dist="0" dir="2700000" algn="ctr" rotWithShape="0">
              <a:srgbClr val="FFFFFF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79" y="5440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A687A"/>
                </a:solidFill>
                <a:latin typeface="Consolas"/>
              </a:defRPr>
            </a:pPr>
            <a:r>
              <a:t>DAILY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79" y="57607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2E7A"/>
                </a:solidFill>
                <a:latin typeface="Consolas"/>
              </a:defRPr>
            </a:pPr>
            <a:r>
              <a:t>$45.70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COMPATIBILITY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[ID:018/20]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onsolas"/>
              </a:defRPr>
            </a:pPr>
            <a:r>
              <a:t>BACKWARD COMPATIBILITY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FF6C"/>
                </a:solidFill>
                <a:latin typeface="Consolas"/>
              </a:defRPr>
            </a:pPr>
            <a:r>
              <a:t>api.yaml             ✓ preserved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Consolas"/>
              </a:defRPr>
            </a:pPr>
            <a:r>
              <a:t>task schema          ✓ extended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Consolas"/>
              </a:defRPr>
            </a:pPr>
            <a:r>
              <a:t>db.sql               ✓ migrated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FF6C"/>
                </a:solidFill>
                <a:latin typeface="Consolas"/>
              </a:defRPr>
            </a:pPr>
            <a:r>
              <a:t>cli flags            ✓ backward compat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Consolas"/>
              </a:defRPr>
            </a:pPr>
            <a:r>
              <a:t>worker protocol      ✓ v2→v3 wrapper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2E7A"/>
                </a:solidFill>
                <a:latin typeface="Consolas"/>
              </a:defRPr>
            </a:pPr>
            <a:r>
              <a:t>cache format         ◆ mutated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14F"/>
                </a:solidFill>
                <a:latin typeface="Consolas"/>
              </a:defRPr>
            </a:pPr>
            <a:r>
              <a:t>auth system          ✓ upgraded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2E7A"/>
                </a:solidFill>
                <a:latin typeface="Consolas"/>
              </a:defRPr>
            </a:pPr>
            <a:r>
              <a:t>log schema           ◆ expanded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9FF6C"/>
                </a:solidFill>
                <a:latin typeface="Consolas"/>
              </a:defRPr>
            </a:pPr>
            <a:r>
              <a:t>`&gt; Skeleton preserved. Muscles regenerated.`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687A"/>
                </a:solidFill>
                <a:latin typeface="Consolas"/>
              </a:defRPr>
            </a:pPr>
            <a:r>
              <a:t>ORCHESTRATION.KIT &gt; PART.03 &gt;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87A"/>
                </a:solidFill>
                <a:latin typeface="Consolas"/>
              </a:defRPr>
            </a:pPr>
            <a:r>
              <a:t>[ID:019/20]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2E7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SPEC-ONLY PLUGINS (PHASE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ai_music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ai_voice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ai_social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ai_crm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ai_mlops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09728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ai_web3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bundles_team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bundles_enterprise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574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mcp_slack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2E7A"/>
                </a:solidFill>
                <a:latin typeface="Consolas"/>
              </a:defRPr>
            </a:pPr>
            <a:r>
              <a:t>▪ mcp_linear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0972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14F"/>
                </a:solidFill>
                <a:latin typeface="Consolas"/>
              </a:defRPr>
            </a:pPr>
            <a:r>
              <a:t>Untapped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5544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◇ Agent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874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◇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19456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◇ Files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51460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◇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8346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◇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PHASE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4206240"/>
            <a:ext cx="1920240" cy="182880"/>
          </a:xfrm>
          <a:prstGeom prst="rect">
            <a:avLst/>
          </a:prstGeom>
          <a:solidFill>
            <a:srgbClr val="00E5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206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E5FF"/>
                </a:solidFill>
                <a:latin typeface="Consolas"/>
              </a:defRPr>
            </a:pPr>
            <a:r>
              <a:t>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4663440"/>
            <a:ext cx="640080" cy="182880"/>
          </a:xfrm>
          <a:prstGeom prst="rect">
            <a:avLst/>
          </a:prstGeom>
          <a:solidFill>
            <a:srgbClr val="FF2E7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6634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2E7A"/>
                </a:solidFill>
                <a:latin typeface="Consolas"/>
              </a:defRPr>
            </a:pPr>
            <a: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A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5120640"/>
            <a:ext cx="0" cy="182880"/>
          </a:xfrm>
          <a:prstGeom prst="rect">
            <a:avLst/>
          </a:prstGeom>
          <a:solidFill>
            <a:srgbClr val="FFD14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120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D14F"/>
                </a:solidFill>
                <a:latin typeface="Consolas"/>
              </a:defRPr>
            </a:pPr>
            <a:r>
              <a:t>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45720"/>
          </a:xfrm>
          <a:prstGeom prst="rect">
            <a:avLst/>
          </a:prstGeom>
          <a:solidFill>
            <a:srgbClr val="00E5F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00E5FF"/>
                </a:solidFill>
                <a:latin typeface="Consolas"/>
              </a:defRPr>
            </a:pPr>
            <a:r>
              <a:t>[ EOF.reached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9FF6C"/>
                </a:solidFill>
                <a:latin typeface="Consolas"/>
              </a:defRPr>
            </a:pPr>
            <a:r>
              <a:t>`v1 was built 14 days before Opus 4.7.`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9FF6C"/>
                </a:solidFill>
                <a:latin typeface="Consolas"/>
              </a:defRPr>
            </a:pPr>
            <a:r>
              <a:t>`v1 evolved 24 hours after Opus 4.7.`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E5FF"/>
                </a:solidFill>
                <a:latin typeface="Consolas"/>
              </a:defRPr>
            </a:pPr>
            <a:r>
              <a:t>PROJECT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8B0C0"/>
                </a:solidFill>
                <a:latin typeface="Consolas"/>
              </a:defRPr>
            </a:pPr>
            <a:r>
              <a:t>commit       :: e973a0f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006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8B0C0"/>
                </a:solidFill>
                <a:latin typeface="Consolas"/>
              </a:defRPr>
            </a:pPr>
            <a:r>
              <a:t>date         :: 2026-04-23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8B0C0"/>
                </a:solidFill>
                <a:latin typeface="Consolas"/>
              </a:defRPr>
            </a:pPr>
            <a:r>
              <a:t>version      :: v1.0 + Phase 1+2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8B0C0"/>
                </a:solidFill>
                <a:latin typeface="Consolas"/>
              </a:defRPr>
            </a:pPr>
            <a:r>
              <a:t>repo         :: github.com/bernakilljos/orchestration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2356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8B0C0"/>
                </a:solidFill>
                <a:latin typeface="Consolas"/>
              </a:defRPr>
            </a:pPr>
            <a:r>
              <a:t>status       :: production 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943600"/>
            <a:ext cx="6400800" cy="1097280"/>
          </a:xfrm>
          <a:prstGeom prst="rect">
            <a:avLst/>
          </a:prstGeom>
          <a:solidFill>
            <a:srgbClr val="0A0F1A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60350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17:42:15] system.summary.complete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17:42:20] cache.flush.ok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17:42:25] system.shutdown.initiated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[2026-04-23 17:42:30] goodbye.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